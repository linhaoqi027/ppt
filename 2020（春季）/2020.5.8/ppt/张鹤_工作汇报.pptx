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61" r:id="rId2"/>
    <p:sldId id="517" r:id="rId3"/>
    <p:sldId id="501" r:id="rId4"/>
    <p:sldId id="520" r:id="rId5"/>
    <p:sldId id="502" r:id="rId6"/>
    <p:sldId id="521" r:id="rId7"/>
    <p:sldId id="526" r:id="rId8"/>
    <p:sldId id="515" r:id="rId9"/>
    <p:sldId id="527" r:id="rId10"/>
    <p:sldId id="509" r:id="rId11"/>
    <p:sldId id="510" r:id="rId12"/>
    <p:sldId id="511" r:id="rId13"/>
    <p:sldId id="522" r:id="rId14"/>
    <p:sldId id="523" r:id="rId15"/>
    <p:sldId id="524" r:id="rId16"/>
    <p:sldId id="518" r:id="rId17"/>
    <p:sldId id="525" r:id="rId18"/>
    <p:sldId id="519" r:id="rId19"/>
    <p:sldId id="512" r:id="rId20"/>
    <p:sldId id="513" r:id="rId21"/>
    <p:sldId id="514" r:id="rId22"/>
    <p:sldId id="353" r:id="rId23"/>
  </p:sldIdLst>
  <p:sldSz cx="12192000" cy="6858000"/>
  <p:notesSz cx="6858000" cy="9144000"/>
  <p:embeddedFontLs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微软雅黑" panose="020B0503020204020204" pitchFamily="34" charset="-122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等线" panose="02010600030101010101" pitchFamily="2" charset="-122"/>
      <p:regular r:id="rId36"/>
      <p:bold r:id="rId37"/>
    </p:embeddedFont>
    <p:embeddedFont>
      <p:font typeface="微软雅黑" panose="020B0503020204020204" pitchFamily="34" charset="-122"/>
      <p:regular r:id="rId30"/>
      <p:bold r:id="rId31"/>
    </p:embeddedFont>
    <p:embeddedFont>
      <p:font typeface="Rockwell" panose="02060603020205020403" pitchFamily="18" charset="0"/>
      <p:regular r:id="rId38"/>
      <p:bold r:id="rId39"/>
      <p:italic r:id="rId40"/>
      <p:boldItalic r:id="rId4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  <p:cmAuthor id="2" name="zh" initials="z" lastIdx="1" clrIdx="1">
    <p:extLst>
      <p:ext uri="{19B8F6BF-5375-455C-9EA6-DF929625EA0E}">
        <p15:presenceInfo xmlns:p15="http://schemas.microsoft.com/office/powerpoint/2012/main" userId="z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CC00FF"/>
    <a:srgbClr val="3333FF"/>
    <a:srgbClr val="FF6600"/>
    <a:srgbClr val="0000FF"/>
    <a:srgbClr val="660066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76355" autoAdjust="0"/>
  </p:normalViewPr>
  <p:slideViewPr>
    <p:cSldViewPr snapToGrid="0" snapToObjects="1">
      <p:cViewPr varScale="1">
        <p:scale>
          <a:sx n="67" d="100"/>
          <a:sy n="67" d="100"/>
        </p:scale>
        <p:origin x="1157" y="48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8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640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822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006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25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194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312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921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254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163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99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93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ya012/deep_learning_object_detection#201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77391" y="1930151"/>
            <a:ext cx="8115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00B050"/>
                </a:solidFill>
                <a:latin typeface="Rockwell" panose="02060603020205020403" pitchFamily="18" charset="0"/>
              </a:rPr>
              <a:t>工作汇报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17710" y="4754245"/>
            <a:ext cx="2258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    </a:t>
            </a:r>
            <a:r>
              <a:rPr lang="en-US" altLang="zh-CN" sz="3200" b="1" dirty="0"/>
              <a:t> </a:t>
            </a:r>
            <a:r>
              <a:rPr lang="zh-CN" altLang="en-US" sz="3200" b="1" dirty="0" smtClean="0">
                <a:latin typeface="+mn-ea"/>
              </a:rPr>
              <a:t>张鹤</a:t>
            </a:r>
            <a:endParaRPr lang="en-US" altLang="zh-CN" sz="3200" b="1" dirty="0" smtClean="0">
              <a:latin typeface="+mn-ea"/>
            </a:endParaRPr>
          </a:p>
          <a:p>
            <a:r>
              <a:rPr lang="en-US" altLang="zh-CN" sz="3200" b="1" dirty="0" smtClean="0">
                <a:latin typeface="+mn-ea"/>
              </a:rPr>
              <a:t>2020.5.8</a:t>
            </a:r>
            <a:endParaRPr lang="zh-CN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39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3855279" y="1303020"/>
            <a:ext cx="160020" cy="571500"/>
          </a:xfrm>
          <a:custGeom>
            <a:avLst/>
            <a:gdLst>
              <a:gd name="connsiteX0" fmla="*/ 160020 w 160020"/>
              <a:gd name="connsiteY0" fmla="*/ 0 h 571500"/>
              <a:gd name="connsiteX1" fmla="*/ 148590 w 160020"/>
              <a:gd name="connsiteY1" fmla="*/ 205740 h 571500"/>
              <a:gd name="connsiteX2" fmla="*/ 114300 w 160020"/>
              <a:gd name="connsiteY2" fmla="*/ 285750 h 571500"/>
              <a:gd name="connsiteX3" fmla="*/ 91440 w 160020"/>
              <a:gd name="connsiteY3" fmla="*/ 342900 h 571500"/>
              <a:gd name="connsiteX4" fmla="*/ 57150 w 160020"/>
              <a:gd name="connsiteY4" fmla="*/ 457200 h 571500"/>
              <a:gd name="connsiteX5" fmla="*/ 45720 w 160020"/>
              <a:gd name="connsiteY5" fmla="*/ 491490 h 571500"/>
              <a:gd name="connsiteX6" fmla="*/ 11430 w 160020"/>
              <a:gd name="connsiteY6" fmla="*/ 548640 h 571500"/>
              <a:gd name="connsiteX7" fmla="*/ 0 w 16002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0020" h="571500">
                <a:moveTo>
                  <a:pt x="160020" y="0"/>
                </a:moveTo>
                <a:cubicBezTo>
                  <a:pt x="156210" y="68580"/>
                  <a:pt x="154809" y="137336"/>
                  <a:pt x="148590" y="205740"/>
                </a:cubicBezTo>
                <a:cubicBezTo>
                  <a:pt x="143304" y="263889"/>
                  <a:pt x="137588" y="239175"/>
                  <a:pt x="114300" y="285750"/>
                </a:cubicBezTo>
                <a:cubicBezTo>
                  <a:pt x="105124" y="304101"/>
                  <a:pt x="97928" y="323435"/>
                  <a:pt x="91440" y="342900"/>
                </a:cubicBezTo>
                <a:cubicBezTo>
                  <a:pt x="78861" y="380636"/>
                  <a:pt x="68848" y="419181"/>
                  <a:pt x="57150" y="457200"/>
                </a:cubicBezTo>
                <a:cubicBezTo>
                  <a:pt x="53607" y="468715"/>
                  <a:pt x="51108" y="480714"/>
                  <a:pt x="45720" y="491490"/>
                </a:cubicBezTo>
                <a:cubicBezTo>
                  <a:pt x="35785" y="511361"/>
                  <a:pt x="22452" y="529351"/>
                  <a:pt x="11430" y="548640"/>
                </a:cubicBezTo>
                <a:cubicBezTo>
                  <a:pt x="7203" y="556037"/>
                  <a:pt x="3810" y="563880"/>
                  <a:pt x="0" y="57150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023110" y="2429857"/>
            <a:ext cx="782955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/>
              <a:t>1.</a:t>
            </a:r>
            <a:r>
              <a:rPr lang="zh-CN" altLang="en-US" sz="2800" dirty="0" smtClean="0"/>
              <a:t>阅读文献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2.</a:t>
            </a:r>
            <a:r>
              <a:rPr lang="zh-CN" altLang="en-US" sz="2800" dirty="0" smtClean="0"/>
              <a:t>模式识别实验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3.</a:t>
            </a:r>
            <a:r>
              <a:rPr lang="zh-CN" altLang="en-US" sz="2800" dirty="0" smtClean="0"/>
              <a:t>模式识别扩展实验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3168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3855279" y="1303020"/>
            <a:ext cx="160020" cy="571500"/>
          </a:xfrm>
          <a:custGeom>
            <a:avLst/>
            <a:gdLst>
              <a:gd name="connsiteX0" fmla="*/ 160020 w 160020"/>
              <a:gd name="connsiteY0" fmla="*/ 0 h 571500"/>
              <a:gd name="connsiteX1" fmla="*/ 148590 w 160020"/>
              <a:gd name="connsiteY1" fmla="*/ 205740 h 571500"/>
              <a:gd name="connsiteX2" fmla="*/ 114300 w 160020"/>
              <a:gd name="connsiteY2" fmla="*/ 285750 h 571500"/>
              <a:gd name="connsiteX3" fmla="*/ 91440 w 160020"/>
              <a:gd name="connsiteY3" fmla="*/ 342900 h 571500"/>
              <a:gd name="connsiteX4" fmla="*/ 57150 w 160020"/>
              <a:gd name="connsiteY4" fmla="*/ 457200 h 571500"/>
              <a:gd name="connsiteX5" fmla="*/ 45720 w 160020"/>
              <a:gd name="connsiteY5" fmla="*/ 491490 h 571500"/>
              <a:gd name="connsiteX6" fmla="*/ 11430 w 160020"/>
              <a:gd name="connsiteY6" fmla="*/ 548640 h 571500"/>
              <a:gd name="connsiteX7" fmla="*/ 0 w 16002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0020" h="571500">
                <a:moveTo>
                  <a:pt x="160020" y="0"/>
                </a:moveTo>
                <a:cubicBezTo>
                  <a:pt x="156210" y="68580"/>
                  <a:pt x="154809" y="137336"/>
                  <a:pt x="148590" y="205740"/>
                </a:cubicBezTo>
                <a:cubicBezTo>
                  <a:pt x="143304" y="263889"/>
                  <a:pt x="137588" y="239175"/>
                  <a:pt x="114300" y="285750"/>
                </a:cubicBezTo>
                <a:cubicBezTo>
                  <a:pt x="105124" y="304101"/>
                  <a:pt x="97928" y="323435"/>
                  <a:pt x="91440" y="342900"/>
                </a:cubicBezTo>
                <a:cubicBezTo>
                  <a:pt x="78861" y="380636"/>
                  <a:pt x="68848" y="419181"/>
                  <a:pt x="57150" y="457200"/>
                </a:cubicBezTo>
                <a:cubicBezTo>
                  <a:pt x="53607" y="468715"/>
                  <a:pt x="51108" y="480714"/>
                  <a:pt x="45720" y="491490"/>
                </a:cubicBezTo>
                <a:cubicBezTo>
                  <a:pt x="35785" y="511361"/>
                  <a:pt x="22452" y="529351"/>
                  <a:pt x="11430" y="548640"/>
                </a:cubicBezTo>
                <a:cubicBezTo>
                  <a:pt x="7203" y="556037"/>
                  <a:pt x="3810" y="563880"/>
                  <a:pt x="0" y="57150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89791" y="2014686"/>
            <a:ext cx="9903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Deep Learning for Generic Object Detection: A Survey</a:t>
            </a:r>
            <a:endParaRPr lang="zh-CN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3293787" y="31625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Li Liu1,2·Wanli Ouyang3·Xiaogang Wang4·Paul Fieguth5·Jie Chen2·Xinwang Liu1·Matti </a:t>
            </a:r>
            <a:r>
              <a:rPr lang="en-US" altLang="zh-CN" dirty="0" err="1"/>
              <a:t>Pietikäinen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22262" y="4635669"/>
            <a:ext cx="7639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https://github.com/hoya012/deep_learning_object_detection#2014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667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1394"/>
            <a:ext cx="12287250" cy="409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5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788" y="1428750"/>
            <a:ext cx="126015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0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7" y="1140142"/>
            <a:ext cx="6791325" cy="50577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525702" y="2604254"/>
            <a:ext cx="4640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R-CNN</a:t>
            </a:r>
            <a:r>
              <a:rPr lang="zh-CN" altLang="en-US" dirty="0" smtClean="0"/>
              <a:t>（</a:t>
            </a:r>
            <a:r>
              <a:rPr lang="en-US" altLang="zh-CN" dirty="0" smtClean="0"/>
              <a:t>Selective </a:t>
            </a:r>
            <a:r>
              <a:rPr lang="en-US" altLang="zh-CN" dirty="0"/>
              <a:t>Search </a:t>
            </a:r>
            <a:r>
              <a:rPr lang="en-US" altLang="zh-CN" dirty="0" smtClean="0"/>
              <a:t>+ </a:t>
            </a:r>
            <a:r>
              <a:rPr lang="en-US" altLang="zh-CN" dirty="0"/>
              <a:t>CNN + SVM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525702" y="5097779"/>
            <a:ext cx="4882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Fast R-CNN</a:t>
            </a:r>
            <a:r>
              <a:rPr lang="zh-CN" altLang="en-US" dirty="0"/>
              <a:t>（</a:t>
            </a:r>
            <a:r>
              <a:rPr lang="en-US" altLang="zh-CN" dirty="0"/>
              <a:t>Selective Search + CNN + ROI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两阶段：基于区域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69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02" y="1664017"/>
            <a:ext cx="6581775" cy="29813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592377" y="3059668"/>
            <a:ext cx="3892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Faster R-CNN</a:t>
            </a:r>
            <a:r>
              <a:rPr lang="zh-CN" altLang="en-US" dirty="0"/>
              <a:t>（</a:t>
            </a:r>
            <a:r>
              <a:rPr lang="en-US" altLang="zh-CN" dirty="0"/>
              <a:t>RPN + CNN + ROI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两阶段：基于区域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46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一阶段：基于单次目标</a:t>
            </a:r>
          </a:p>
        </p:txBody>
      </p:sp>
      <p:sp>
        <p:nvSpPr>
          <p:cNvPr id="2" name="矩形 1"/>
          <p:cNvSpPr/>
          <p:nvPr/>
        </p:nvSpPr>
        <p:spPr>
          <a:xfrm>
            <a:off x="1684898" y="1944708"/>
            <a:ext cx="6647571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</a:t>
            </a:r>
            <a:r>
              <a:rPr lang="zh-CN" altLang="en-US" dirty="0" smtClean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的网络，整个生成备选框的过程一体化的实现。代表有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YOLO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系列和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single shot detector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DetectorNet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 err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OverFeat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YOLO</a:t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YOLOv2 and YOLO9000</a:t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SSD(Single Shot Detector)</a:t>
            </a:r>
            <a:endParaRPr lang="en-US" altLang="zh-CN" b="0" i="0" dirty="0">
              <a:solidFill>
                <a:srgbClr val="4D4D4D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362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1" b="21776"/>
          <a:stretch/>
        </p:blipFill>
        <p:spPr>
          <a:xfrm>
            <a:off x="718184" y="1426845"/>
            <a:ext cx="10587617" cy="468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9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37410" y="4420999"/>
            <a:ext cx="7955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架构</a:t>
            </a:r>
            <a:r>
              <a:rPr lang="zh-CN" altLang="en-US" dirty="0"/>
              <a:t>演变的趋势是</a:t>
            </a:r>
            <a:r>
              <a:rPr lang="en-US" altLang="zh-CN" dirty="0"/>
              <a:t>,</a:t>
            </a:r>
            <a:r>
              <a:rPr lang="zh-CN" altLang="en-US" dirty="0"/>
              <a:t>网络越来越深入</a:t>
            </a:r>
            <a:r>
              <a:rPr lang="en-US" altLang="zh-CN" dirty="0"/>
              <a:t>:</a:t>
            </a:r>
            <a:r>
              <a:rPr lang="en-US" altLang="zh-CN" dirty="0" err="1"/>
              <a:t>AlexNet</a:t>
            </a:r>
            <a:r>
              <a:rPr lang="zh-CN" altLang="en-US" dirty="0"/>
              <a:t>由</a:t>
            </a:r>
            <a:r>
              <a:rPr lang="en-US" altLang="zh-CN" dirty="0"/>
              <a:t>8</a:t>
            </a:r>
            <a:r>
              <a:rPr lang="zh-CN" altLang="en-US" dirty="0"/>
              <a:t>层</a:t>
            </a:r>
            <a:r>
              <a:rPr lang="en-US" altLang="zh-CN" dirty="0"/>
              <a:t>,</a:t>
            </a:r>
            <a:r>
              <a:rPr lang="en-US" altLang="zh-CN" dirty="0" err="1"/>
              <a:t>VGGNet</a:t>
            </a:r>
            <a:r>
              <a:rPr lang="en-US" altLang="zh-CN" dirty="0"/>
              <a:t> 16</a:t>
            </a:r>
            <a:r>
              <a:rPr lang="zh-CN" altLang="en-US" dirty="0"/>
              <a:t>层</a:t>
            </a:r>
            <a:r>
              <a:rPr lang="en-US" altLang="zh-CN" dirty="0"/>
              <a:t>,</a:t>
            </a:r>
            <a:r>
              <a:rPr lang="zh-CN" altLang="en-US" dirty="0"/>
              <a:t>以及最近</a:t>
            </a:r>
            <a:r>
              <a:rPr lang="en-US" altLang="zh-CN" dirty="0" err="1"/>
              <a:t>ResNet</a:t>
            </a:r>
            <a:r>
              <a:rPr lang="zh-CN" altLang="en-US" dirty="0"/>
              <a:t>和</a:t>
            </a:r>
            <a:r>
              <a:rPr lang="en-US" altLang="zh-CN" dirty="0" err="1"/>
              <a:t>DenseNet</a:t>
            </a:r>
            <a:r>
              <a:rPr lang="zh-CN" altLang="en-US" dirty="0"/>
              <a:t>都超过了</a:t>
            </a:r>
            <a:r>
              <a:rPr lang="en-US" altLang="zh-CN" dirty="0"/>
              <a:t>100</a:t>
            </a:r>
            <a:r>
              <a:rPr lang="zh-CN" altLang="en-US" dirty="0"/>
              <a:t>层</a:t>
            </a:r>
            <a:r>
              <a:rPr lang="en-US" altLang="zh-CN" dirty="0"/>
              <a:t>, </a:t>
            </a:r>
            <a:r>
              <a:rPr lang="zh-CN" altLang="en-US" dirty="0" smtClean="0"/>
              <a:t>特别是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VGGNet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GoogLeNet</a:t>
            </a:r>
            <a:r>
              <a:rPr lang="zh-CN" altLang="en-US" dirty="0" smtClean="0"/>
              <a:t>，这</a:t>
            </a:r>
            <a:r>
              <a:rPr lang="zh-CN" altLang="en-US" dirty="0"/>
              <a:t>表明</a:t>
            </a:r>
            <a:r>
              <a:rPr lang="en-US" altLang="zh-CN" dirty="0"/>
              <a:t>,</a:t>
            </a:r>
            <a:r>
              <a:rPr lang="zh-CN" altLang="en-US" dirty="0"/>
              <a:t>增加深度可以提高深层网络的表征能力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有趣</a:t>
            </a:r>
            <a:r>
              <a:rPr lang="zh-CN" altLang="en-US" dirty="0"/>
              <a:t>的是，从表</a:t>
            </a:r>
            <a:r>
              <a:rPr lang="en-US" altLang="zh-CN" dirty="0"/>
              <a:t>2</a:t>
            </a:r>
            <a:r>
              <a:rPr lang="zh-CN" altLang="en-US" dirty="0"/>
              <a:t>中可以观察到，</a:t>
            </a:r>
            <a:r>
              <a:rPr lang="en-US" altLang="zh-CN" dirty="0" err="1"/>
              <a:t>AlexNet</a:t>
            </a:r>
            <a:r>
              <a:rPr lang="zh-CN" altLang="en-US" dirty="0"/>
              <a:t>、</a:t>
            </a:r>
            <a:r>
              <a:rPr lang="en-US" altLang="zh-CN" dirty="0" err="1"/>
              <a:t>OverFeat</a:t>
            </a:r>
            <a:r>
              <a:rPr lang="zh-CN" altLang="en-US" dirty="0"/>
              <a:t>、</a:t>
            </a:r>
            <a:r>
              <a:rPr lang="en-US" altLang="zh-CN" dirty="0" err="1"/>
              <a:t>ZFNet</a:t>
            </a:r>
            <a:r>
              <a:rPr lang="zh-CN" altLang="en-US" dirty="0"/>
              <a:t>和</a:t>
            </a:r>
            <a:r>
              <a:rPr lang="en-US" altLang="zh-CN" dirty="0" err="1"/>
              <a:t>VGGNet</a:t>
            </a:r>
            <a:r>
              <a:rPr lang="zh-CN" altLang="en-US" dirty="0"/>
              <a:t>等网络的参数数量非常庞大，尽管只有几层，因为大部分的参数来自</a:t>
            </a:r>
            <a:r>
              <a:rPr lang="en-US" altLang="zh-CN" dirty="0"/>
              <a:t>FC</a:t>
            </a:r>
            <a:r>
              <a:rPr lang="zh-CN" altLang="en-US" dirty="0"/>
              <a:t>层。因此，像</a:t>
            </a:r>
            <a:r>
              <a:rPr lang="en-US" altLang="zh-CN" dirty="0"/>
              <a:t>Inception</a:t>
            </a:r>
            <a:r>
              <a:rPr lang="zh-CN" altLang="en-US" dirty="0"/>
              <a:t>、</a:t>
            </a:r>
            <a:r>
              <a:rPr lang="en-US" altLang="zh-CN" dirty="0" err="1"/>
              <a:t>ResNet</a:t>
            </a:r>
            <a:r>
              <a:rPr lang="zh-CN" altLang="en-US" dirty="0"/>
              <a:t>和</a:t>
            </a:r>
            <a:r>
              <a:rPr lang="en-US" altLang="zh-CN" dirty="0" err="1"/>
              <a:t>DenseNet</a:t>
            </a:r>
            <a:r>
              <a:rPr lang="zh-CN" altLang="en-US" dirty="0"/>
              <a:t>这样的新网络虽然具有非常大的网络深度，但是由于避免使用</a:t>
            </a:r>
            <a:r>
              <a:rPr lang="en-US" altLang="zh-CN" dirty="0"/>
              <a:t>FC</a:t>
            </a:r>
            <a:r>
              <a:rPr lang="zh-CN" altLang="en-US" dirty="0"/>
              <a:t>层，它们的参数要少得多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90" y="1076325"/>
            <a:ext cx="9765030" cy="318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4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MNIST</a:t>
            </a:r>
            <a:r>
              <a:rPr lang="zh-CN" altLang="en-US" sz="2800" dirty="0">
                <a:solidFill>
                  <a:srgbClr val="4B11BF"/>
                </a:solidFill>
              </a:rPr>
              <a:t>数据集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247" y="2164953"/>
            <a:ext cx="4170045" cy="28378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052310" y="3399195"/>
            <a:ext cx="35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60000</a:t>
            </a:r>
            <a:r>
              <a:rPr lang="zh-CN" altLang="en-US" dirty="0" smtClean="0"/>
              <a:t>训练</a:t>
            </a:r>
            <a:r>
              <a:rPr lang="en-US" altLang="zh-CN" dirty="0" smtClean="0"/>
              <a:t>+10000</a:t>
            </a:r>
            <a:r>
              <a:rPr lang="zh-CN" altLang="en-US" dirty="0" smtClean="0"/>
              <a:t>测试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6867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算法思路</a:t>
            </a:r>
            <a:endParaRPr lang="en-US" altLang="zh-CN" sz="2800" dirty="0" smtClean="0">
              <a:solidFill>
                <a:srgbClr val="4B11B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60439" y="1448921"/>
            <a:ext cx="75819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下载并读入数据集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将要识别的图片转为灰度图，并且转化为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28*28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矩阵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28*28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的矩阵转换成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维矩阵（也就是把第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2,3,4,5....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行矩阵接入到第一行的后面）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将标签用独热编码（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one-hot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）表示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数字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对应的矩阵就是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[0,1,0,0,0,0,0,0,0,0]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en-US" altLang="zh-CN" sz="2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softmax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回归预测图片是哪个数字的概率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用交叉熵和梯度下降法训练参数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计算准确率，进行交叉验证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rabicPeriod"/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改变学习率、训练轮数、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batch size</a:t>
            </a: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大小观察对结果影响</a:t>
            </a:r>
            <a:endParaRPr lang="zh-CN" altLang="en-US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21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363" y="1240470"/>
            <a:ext cx="5075396" cy="53439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456298" y="275515"/>
            <a:ext cx="7893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学习率</a:t>
            </a:r>
            <a:r>
              <a:rPr lang="en-US" altLang="zh-CN" sz="2800" dirty="0" smtClean="0">
                <a:solidFill>
                  <a:srgbClr val="4B11BF"/>
                </a:solidFill>
              </a:rPr>
              <a:t>=0.01</a:t>
            </a:r>
            <a:r>
              <a:rPr lang="zh-CN" altLang="en-US" sz="2800" dirty="0" smtClean="0">
                <a:solidFill>
                  <a:srgbClr val="4B11BF"/>
                </a:solidFill>
              </a:rPr>
              <a:t>，</a:t>
            </a:r>
            <a:r>
              <a:rPr lang="en-US" altLang="zh-CN" sz="2800" dirty="0" smtClean="0">
                <a:solidFill>
                  <a:srgbClr val="4B11BF"/>
                </a:solidFill>
              </a:rPr>
              <a:t>batch size=128</a:t>
            </a:r>
            <a:r>
              <a:rPr lang="zh-CN" altLang="en-US" sz="2800" dirty="0" smtClean="0">
                <a:solidFill>
                  <a:srgbClr val="4B11BF"/>
                </a:solidFill>
              </a:rPr>
              <a:t>，</a:t>
            </a:r>
            <a:r>
              <a:rPr lang="en-US" altLang="zh-CN" sz="2800" dirty="0" smtClean="0">
                <a:solidFill>
                  <a:srgbClr val="4B11BF"/>
                </a:solidFill>
              </a:rPr>
              <a:t>epoch=100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197" y="3323804"/>
            <a:ext cx="3615723" cy="588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666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56298" y="275515"/>
            <a:ext cx="6944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学习率</a:t>
            </a:r>
            <a:r>
              <a:rPr lang="en-US" altLang="zh-CN" sz="2800" dirty="0" smtClean="0">
                <a:solidFill>
                  <a:srgbClr val="4B11BF"/>
                </a:solidFill>
              </a:rPr>
              <a:t>=0.1</a:t>
            </a:r>
            <a:r>
              <a:rPr lang="zh-CN" altLang="en-US" sz="2800" dirty="0" smtClean="0">
                <a:solidFill>
                  <a:srgbClr val="4B11BF"/>
                </a:solidFill>
              </a:rPr>
              <a:t>，</a:t>
            </a:r>
            <a:r>
              <a:rPr lang="en-US" altLang="zh-CN" sz="2800" dirty="0" smtClean="0">
                <a:solidFill>
                  <a:srgbClr val="4B11BF"/>
                </a:solidFill>
              </a:rPr>
              <a:t>batch size=128</a:t>
            </a:r>
            <a:r>
              <a:rPr lang="zh-CN" altLang="en-US" sz="2800" dirty="0" smtClean="0">
                <a:solidFill>
                  <a:srgbClr val="4B11BF"/>
                </a:solidFill>
              </a:rPr>
              <a:t>，</a:t>
            </a:r>
            <a:r>
              <a:rPr lang="en-US" altLang="zh-CN" sz="2800" dirty="0" smtClean="0">
                <a:solidFill>
                  <a:srgbClr val="4B11BF"/>
                </a:solidFill>
              </a:rPr>
              <a:t>epoch=100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1038224"/>
            <a:ext cx="5344478" cy="556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237230"/>
            <a:ext cx="3721302" cy="4601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292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" y="1886268"/>
            <a:ext cx="5441114" cy="1668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037" y="1886268"/>
            <a:ext cx="5585404" cy="1668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423" y="4004310"/>
            <a:ext cx="5621228" cy="15963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456298" y="275515"/>
            <a:ext cx="6944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batch size=10,128,256</a:t>
            </a:r>
          </a:p>
        </p:txBody>
      </p:sp>
    </p:spTree>
    <p:extLst>
      <p:ext uri="{BB962C8B-B14F-4D97-AF65-F5344CB8AC3E}">
        <p14:creationId xmlns:p14="http://schemas.microsoft.com/office/powerpoint/2010/main" val="317745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Batch</a:t>
            </a:r>
            <a:r>
              <a:rPr lang="zh-CN" altLang="en-US" sz="2800" dirty="0" smtClean="0">
                <a:solidFill>
                  <a:srgbClr val="4B11BF"/>
                </a:solidFill>
              </a:rPr>
              <a:t>数不同的影响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14450" y="1278464"/>
            <a:ext cx="93954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batch</a:t>
            </a:r>
            <a:r>
              <a:rPr lang="zh-CN" altLang="en-US" sz="2400" dirty="0"/>
              <a:t>数太小，而类别又比较多的时候，真的可能会导致</a:t>
            </a:r>
            <a:r>
              <a:rPr lang="en-US" altLang="zh-CN" sz="2400" dirty="0"/>
              <a:t>loss</a:t>
            </a:r>
            <a:r>
              <a:rPr lang="zh-CN" altLang="en-US" sz="2400" dirty="0"/>
              <a:t>函数震荡而不收敛，尤其是</a:t>
            </a:r>
            <a:r>
              <a:rPr lang="zh-CN" altLang="en-US" sz="2400" dirty="0" smtClean="0"/>
              <a:t>在网络</a:t>
            </a:r>
            <a:r>
              <a:rPr lang="zh-CN" altLang="en-US" sz="2400" dirty="0"/>
              <a:t>比较复杂的时候。    </a:t>
            </a:r>
            <a:endParaRPr lang="en-US" altLang="zh-CN" sz="2400" dirty="0" smtClean="0"/>
          </a:p>
          <a:p>
            <a:r>
              <a:rPr lang="en-US" altLang="zh-CN" sz="2400" dirty="0" smtClean="0"/>
              <a:t>2</a:t>
            </a:r>
            <a:r>
              <a:rPr lang="zh-CN" altLang="en-US" sz="2400" dirty="0"/>
              <a:t>）随着</a:t>
            </a:r>
            <a:r>
              <a:rPr lang="en-US" altLang="zh-CN" sz="2400" dirty="0" err="1"/>
              <a:t>batchsize</a:t>
            </a:r>
            <a:r>
              <a:rPr lang="zh-CN" altLang="en-US" sz="2400" dirty="0"/>
              <a:t>增大，处理相同的数据量的速度越快。    </a:t>
            </a:r>
            <a:endParaRPr lang="en-US" altLang="zh-CN" sz="2400" dirty="0" smtClean="0"/>
          </a:p>
          <a:p>
            <a:r>
              <a:rPr lang="en-US" altLang="zh-CN" sz="2400" dirty="0" smtClean="0"/>
              <a:t>3</a:t>
            </a:r>
            <a:r>
              <a:rPr lang="zh-CN" altLang="en-US" sz="2400" dirty="0"/>
              <a:t>）随着</a:t>
            </a:r>
            <a:r>
              <a:rPr lang="en-US" altLang="zh-CN" sz="2400" dirty="0" err="1"/>
              <a:t>batchsize</a:t>
            </a:r>
            <a:r>
              <a:rPr lang="zh-CN" altLang="en-US" sz="2400" dirty="0"/>
              <a:t>增大，达到相同精度所需要的</a:t>
            </a:r>
            <a:r>
              <a:rPr lang="en-US" altLang="zh-CN" sz="2400" dirty="0"/>
              <a:t>epoch</a:t>
            </a:r>
            <a:r>
              <a:rPr lang="zh-CN" altLang="en-US" sz="2400" dirty="0"/>
              <a:t>数量越来越多。    </a:t>
            </a:r>
            <a:endParaRPr lang="en-US" altLang="zh-CN" sz="2400" dirty="0" smtClean="0"/>
          </a:p>
          <a:p>
            <a:r>
              <a:rPr lang="en-US" altLang="zh-CN" sz="2400" dirty="0" smtClean="0"/>
              <a:t>4</a:t>
            </a:r>
            <a:r>
              <a:rPr lang="zh-CN" altLang="en-US" sz="2400" dirty="0"/>
              <a:t>）由于上述两种因素的矛盾， </a:t>
            </a:r>
            <a:r>
              <a:rPr lang="en-US" altLang="zh-CN" sz="2400" dirty="0" err="1"/>
              <a:t>Batch_Size</a:t>
            </a:r>
            <a:r>
              <a:rPr lang="en-US" altLang="zh-CN" sz="2400" dirty="0"/>
              <a:t> </a:t>
            </a:r>
            <a:r>
              <a:rPr lang="zh-CN" altLang="en-US" sz="2400" dirty="0"/>
              <a:t>增大到某个时候，达到时间上的最优。    </a:t>
            </a:r>
            <a:endParaRPr lang="en-US" altLang="zh-CN" sz="2400" dirty="0" smtClean="0"/>
          </a:p>
          <a:p>
            <a:r>
              <a:rPr lang="en-US" altLang="zh-CN" sz="2400" dirty="0" smtClean="0"/>
              <a:t>5</a:t>
            </a:r>
            <a:r>
              <a:rPr lang="zh-CN" altLang="en-US" sz="2400" dirty="0"/>
              <a:t>）由于最终收敛精度会陷入不同的局部极值，因此 </a:t>
            </a:r>
            <a:r>
              <a:rPr lang="en-US" altLang="zh-CN" sz="2400" dirty="0" err="1"/>
              <a:t>Batch_Size</a:t>
            </a:r>
            <a:r>
              <a:rPr lang="en-US" altLang="zh-CN" sz="2400" dirty="0"/>
              <a:t> </a:t>
            </a:r>
            <a:r>
              <a:rPr lang="zh-CN" altLang="en-US" sz="2400" dirty="0"/>
              <a:t>增大到某些时候，达到最终收敛精度上的最优。   </a:t>
            </a:r>
            <a:endParaRPr lang="en-US" altLang="zh-CN" sz="2400" dirty="0" smtClean="0"/>
          </a:p>
          <a:p>
            <a:r>
              <a:rPr lang="en-US" altLang="zh-CN" sz="2400" dirty="0" smtClean="0"/>
              <a:t>6</a:t>
            </a:r>
            <a:r>
              <a:rPr lang="zh-CN" altLang="en-US" sz="2400" dirty="0"/>
              <a:t>）过大的</a:t>
            </a:r>
            <a:r>
              <a:rPr lang="en-US" altLang="zh-CN" sz="2400" dirty="0" err="1"/>
              <a:t>batchsize</a:t>
            </a:r>
            <a:r>
              <a:rPr lang="zh-CN" altLang="en-US" sz="2400" dirty="0"/>
              <a:t>的结果是网络很容易收敛到一些不好的局部最优点。同样太小的</a:t>
            </a:r>
            <a:r>
              <a:rPr lang="en-US" altLang="zh-CN" sz="2400" dirty="0"/>
              <a:t>batch</a:t>
            </a:r>
            <a:r>
              <a:rPr lang="zh-CN" altLang="en-US" sz="2400" dirty="0"/>
              <a:t>也存在一些问题，比如训练速度很慢，训练不容易收敛等。 </a:t>
            </a:r>
            <a:r>
              <a:rPr lang="zh-CN" altLang="en-US" sz="2400" dirty="0" smtClean="0"/>
              <a:t>     </a:t>
            </a:r>
            <a:endParaRPr lang="en-US" altLang="zh-CN" sz="2400" dirty="0" smtClean="0"/>
          </a:p>
          <a:p>
            <a:r>
              <a:rPr lang="en-US" altLang="zh-CN" sz="2400" dirty="0" smtClean="0"/>
              <a:t>7</a:t>
            </a:r>
            <a:r>
              <a:rPr lang="zh-CN" altLang="en-US" sz="2400" dirty="0"/>
              <a:t>）具体的</a:t>
            </a:r>
            <a:r>
              <a:rPr lang="en-US" altLang="zh-CN" sz="2400" dirty="0"/>
              <a:t>batch size</a:t>
            </a:r>
            <a:r>
              <a:rPr lang="zh-CN" altLang="en-US" sz="2400" dirty="0"/>
              <a:t>的选取和训练集的样本数目相关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88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60" y="2701290"/>
            <a:ext cx="5288897" cy="16992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56298" y="275515"/>
            <a:ext cx="6944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K</a:t>
            </a:r>
            <a:r>
              <a:rPr lang="zh-CN" altLang="en-US" sz="2800" dirty="0" smtClean="0">
                <a:solidFill>
                  <a:srgbClr val="4B11BF"/>
                </a:solidFill>
              </a:rPr>
              <a:t>折交叉验证</a:t>
            </a:r>
            <a:endParaRPr lang="en-US" altLang="zh-CN" sz="2800" dirty="0" smtClean="0">
              <a:solidFill>
                <a:srgbClr val="4B11B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059930" y="1657886"/>
            <a:ext cx="3707130" cy="4192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进行</a:t>
            </a:r>
            <a:r>
              <a:rPr lang="en-US" altLang="zh-CN" sz="2000" dirty="0"/>
              <a:t>4</a:t>
            </a:r>
            <a:r>
              <a:rPr lang="zh-CN" altLang="en-US" sz="2000" dirty="0"/>
              <a:t>折交叉验证。每次选取四分之三的数据作为训练集，剩下的作为验证集，求出每轮交叉验证的准确率、偏差、方差等数据，学习率设置为</a:t>
            </a:r>
            <a:r>
              <a:rPr lang="en-US" altLang="zh-CN" sz="2000" dirty="0"/>
              <a:t>0.1</a:t>
            </a:r>
            <a:r>
              <a:rPr lang="zh-CN" altLang="en-US" sz="2000" dirty="0"/>
              <a:t>，设置轮数</a:t>
            </a:r>
            <a:r>
              <a:rPr lang="en-US" altLang="zh-CN" sz="2000" dirty="0"/>
              <a:t>20</a:t>
            </a:r>
            <a:r>
              <a:rPr lang="zh-CN" altLang="en-US" sz="2000" dirty="0"/>
              <a:t>轮，</a:t>
            </a:r>
            <a:r>
              <a:rPr lang="en-US" altLang="zh-CN" sz="2000" dirty="0"/>
              <a:t>batch size</a:t>
            </a:r>
            <a:r>
              <a:rPr lang="zh-CN" altLang="en-US" sz="2000" dirty="0"/>
              <a:t>大小为</a:t>
            </a:r>
            <a:r>
              <a:rPr lang="en-US" altLang="zh-CN" sz="2000" dirty="0"/>
              <a:t>128</a:t>
            </a:r>
            <a:r>
              <a:rPr lang="zh-CN" altLang="en-US" sz="2000" dirty="0"/>
              <a:t>。对于测试集用每轮交叉验证的模型预测一遍，最后归为最大值所属类别。</a:t>
            </a:r>
          </a:p>
        </p:txBody>
      </p:sp>
    </p:spTree>
    <p:extLst>
      <p:ext uri="{BB962C8B-B14F-4D97-AF65-F5344CB8AC3E}">
        <p14:creationId xmlns:p14="http://schemas.microsoft.com/office/powerpoint/2010/main" val="175218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56298" y="275515"/>
            <a:ext cx="6944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神经网络算法</a:t>
            </a:r>
            <a:endParaRPr lang="en-US" altLang="zh-CN" sz="2800" dirty="0" smtClean="0">
              <a:solidFill>
                <a:srgbClr val="4B11B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0558" y="2594610"/>
            <a:ext cx="41033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输入层：</a:t>
            </a:r>
            <a:r>
              <a:rPr lang="en-US" altLang="zh-CN" dirty="0" smtClean="0"/>
              <a:t>784</a:t>
            </a:r>
          </a:p>
          <a:p>
            <a:r>
              <a:rPr lang="zh-CN" altLang="en-US" dirty="0" smtClean="0"/>
              <a:t>隐含层：</a:t>
            </a:r>
            <a:r>
              <a:rPr lang="en-US" altLang="zh-CN" dirty="0" smtClean="0"/>
              <a:t>256</a:t>
            </a:r>
            <a:r>
              <a:rPr lang="zh-CN" altLang="en-US" dirty="0" smtClean="0"/>
              <a:t>（</a:t>
            </a:r>
            <a:r>
              <a:rPr lang="en-US" altLang="zh-CN" dirty="0"/>
              <a:t>[b, 784] =&gt; [b, 256]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128</a:t>
            </a:r>
            <a:r>
              <a:rPr lang="zh-CN" altLang="en-US" dirty="0" smtClean="0"/>
              <a:t>（</a:t>
            </a:r>
            <a:r>
              <a:rPr lang="en-US" altLang="zh-CN" dirty="0"/>
              <a:t>[b, 256] =&gt; [b, 128]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64</a:t>
            </a:r>
            <a:r>
              <a:rPr lang="zh-CN" altLang="en-US" dirty="0" smtClean="0"/>
              <a:t>（</a:t>
            </a:r>
            <a:r>
              <a:rPr lang="en-US" altLang="zh-CN" dirty="0"/>
              <a:t>[b, 128] =&gt; [b, 64]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32</a:t>
            </a:r>
            <a:r>
              <a:rPr lang="zh-CN" altLang="en-US" dirty="0" smtClean="0"/>
              <a:t>（</a:t>
            </a:r>
            <a:r>
              <a:rPr lang="en-US" altLang="zh-CN" dirty="0"/>
              <a:t>[b, 64] =&gt; [b, 32]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输出层：</a:t>
            </a:r>
            <a:r>
              <a:rPr lang="en-US" altLang="zh-CN" dirty="0" smtClean="0"/>
              <a:t>10</a:t>
            </a:r>
          </a:p>
          <a:p>
            <a:endParaRPr lang="en-US" altLang="zh-CN" dirty="0"/>
          </a:p>
          <a:p>
            <a:r>
              <a:rPr lang="zh-CN" altLang="en-US" dirty="0" smtClean="0"/>
              <a:t>隐含层使用</a:t>
            </a:r>
            <a:r>
              <a:rPr lang="en-US" altLang="zh-CN" dirty="0" err="1" smtClean="0"/>
              <a:t>relu</a:t>
            </a:r>
            <a:r>
              <a:rPr lang="zh-CN" altLang="en-US" dirty="0" smtClean="0"/>
              <a:t>激活函数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928" y="1503997"/>
            <a:ext cx="599122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771986"/>
              </p:ext>
            </p:extLst>
          </p:nvPr>
        </p:nvGraphicFramePr>
        <p:xfrm>
          <a:off x="293688" y="2030255"/>
          <a:ext cx="11619907" cy="17021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9311">
                  <a:extLst>
                    <a:ext uri="{9D8B030D-6E8A-4147-A177-3AD203B41FA5}">
                      <a16:colId xmlns:a16="http://schemas.microsoft.com/office/drawing/2014/main" val="4178977122"/>
                    </a:ext>
                  </a:extLst>
                </a:gridCol>
                <a:gridCol w="2506022">
                  <a:extLst>
                    <a:ext uri="{9D8B030D-6E8A-4147-A177-3AD203B41FA5}">
                      <a16:colId xmlns:a16="http://schemas.microsoft.com/office/drawing/2014/main" val="1778661544"/>
                    </a:ext>
                  </a:extLst>
                </a:gridCol>
                <a:gridCol w="1099340">
                  <a:extLst>
                    <a:ext uri="{9D8B030D-6E8A-4147-A177-3AD203B41FA5}">
                      <a16:colId xmlns:a16="http://schemas.microsoft.com/office/drawing/2014/main" val="2521292182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1268395989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788733053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3101210634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3171270199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3663890916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2396390347"/>
                    </a:ext>
                  </a:extLst>
                </a:gridCol>
                <a:gridCol w="1371220">
                  <a:extLst>
                    <a:ext uri="{9D8B030D-6E8A-4147-A177-3AD203B41FA5}">
                      <a16:colId xmlns:a16="http://schemas.microsoft.com/office/drawing/2014/main" val="3406331132"/>
                    </a:ext>
                  </a:extLst>
                </a:gridCol>
              </a:tblGrid>
              <a:tr h="283686">
                <a:tc>
                  <a:txBody>
                    <a:bodyPr/>
                    <a:lstStyle/>
                    <a:p>
                      <a:pPr algn="r" fontAlgn="ctr"/>
                      <a:endParaRPr lang="zh-CN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train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validation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test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extLst>
                  <a:ext uri="{0D108BD9-81ED-4DB2-BD59-A6C34878D82A}">
                    <a16:rowId xmlns:a16="http://schemas.microsoft.com/office/drawing/2014/main" val="584746227"/>
                  </a:ext>
                </a:extLst>
              </a:tr>
              <a:tr h="283686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 err="1">
                          <a:effectLst/>
                        </a:rPr>
                        <a:t>batchsize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700" u="none" strike="noStrike" dirty="0">
                          <a:effectLst/>
                        </a:rPr>
                        <a:t>隐藏层</a:t>
                      </a:r>
                      <a:endParaRPr lang="zh-CN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epoch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loss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accuracy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loss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accuracy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loss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accuracy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time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extLst>
                  <a:ext uri="{0D108BD9-81ED-4DB2-BD59-A6C34878D82A}">
                    <a16:rowId xmlns:a16="http://schemas.microsoft.com/office/drawing/2014/main" val="1876537847"/>
                  </a:ext>
                </a:extLst>
              </a:tr>
              <a:tr h="28368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256+128+64+32（relu）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 dirty="0">
                          <a:effectLst/>
                        </a:rPr>
                        <a:t>10</a:t>
                      </a:r>
                      <a:endParaRPr lang="en-US" altLang="zh-CN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effectLst/>
                        </a:rPr>
                        <a:t>0.0316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effectLst/>
                        </a:rPr>
                        <a:t>0.991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0.1381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0.9735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0.1156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0.9755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136.8293934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extLst>
                  <a:ext uri="{0D108BD9-81ED-4DB2-BD59-A6C34878D82A}">
                    <a16:rowId xmlns:a16="http://schemas.microsoft.com/office/drawing/2014/main" val="624143274"/>
                  </a:ext>
                </a:extLst>
              </a:tr>
              <a:tr h="28368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128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256+128+64+32（relu）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0.0171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0.9938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0.0857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0.9795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0.0871</a:t>
                      </a:r>
                      <a:endParaRPr lang="en-US" altLang="zh-CN" sz="16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0.9777</a:t>
                      </a:r>
                      <a:endParaRPr lang="en-US" altLang="zh-CN" sz="16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effectLst/>
                        </a:rPr>
                        <a:t>21.48318934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extLst>
                  <a:ext uri="{0D108BD9-81ED-4DB2-BD59-A6C34878D82A}">
                    <a16:rowId xmlns:a16="http://schemas.microsoft.com/office/drawing/2014/main" val="2800938485"/>
                  </a:ext>
                </a:extLst>
              </a:tr>
              <a:tr h="28368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256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256+128+64+32（relu）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0.0171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0.9945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0.0834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0.9803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0.0687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0.9807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19.5258038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extLst>
                  <a:ext uri="{0D108BD9-81ED-4DB2-BD59-A6C34878D82A}">
                    <a16:rowId xmlns:a16="http://schemas.microsoft.com/office/drawing/2014/main" val="528565897"/>
                  </a:ext>
                </a:extLst>
              </a:tr>
              <a:tr h="28368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1000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256+128+64+32（relu）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0.0453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0.987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0.1042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0.9712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0.0921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0.9733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effectLst/>
                        </a:rPr>
                        <a:t>13.25937486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extLst>
                  <a:ext uri="{0D108BD9-81ED-4DB2-BD59-A6C34878D82A}">
                    <a16:rowId xmlns:a16="http://schemas.microsoft.com/office/drawing/2014/main" val="249764425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668128"/>
              </p:ext>
            </p:extLst>
          </p:nvPr>
        </p:nvGraphicFramePr>
        <p:xfrm>
          <a:off x="4377690" y="4201002"/>
          <a:ext cx="3695798" cy="1108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7899">
                  <a:extLst>
                    <a:ext uri="{9D8B030D-6E8A-4147-A177-3AD203B41FA5}">
                      <a16:colId xmlns:a16="http://schemas.microsoft.com/office/drawing/2014/main" val="3627963964"/>
                    </a:ext>
                  </a:extLst>
                </a:gridCol>
                <a:gridCol w="1847899">
                  <a:extLst>
                    <a:ext uri="{9D8B030D-6E8A-4147-A177-3AD203B41FA5}">
                      <a16:colId xmlns:a16="http://schemas.microsoft.com/office/drawing/2014/main" val="1672297304"/>
                    </a:ext>
                  </a:extLst>
                </a:gridCol>
              </a:tblGrid>
              <a:tr h="554196">
                <a:tc>
                  <a:txBody>
                    <a:bodyPr/>
                    <a:lstStyle/>
                    <a:p>
                      <a:pPr algn="r" fontAlgn="ctr"/>
                      <a:r>
                        <a:rPr lang="en-US" sz="3300" u="none" strike="noStrike">
                          <a:effectLst/>
                        </a:rPr>
                        <a:t>loss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3092" marR="23092" marT="230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3300" u="none" strike="noStrike" dirty="0">
                          <a:effectLst/>
                        </a:rPr>
                        <a:t>accuracy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3092" marR="23092" marT="23092" marB="0" anchor="ctr"/>
                </a:tc>
                <a:extLst>
                  <a:ext uri="{0D108BD9-81ED-4DB2-BD59-A6C34878D82A}">
                    <a16:rowId xmlns:a16="http://schemas.microsoft.com/office/drawing/2014/main" val="3906594932"/>
                  </a:ext>
                </a:extLst>
              </a:tr>
              <a:tr h="55419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>
                          <a:effectLst/>
                        </a:rPr>
                        <a:t>0.0748</a:t>
                      </a:r>
                      <a:endParaRPr lang="en-US" altLang="zh-CN" sz="32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3092" marR="23092" marT="230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3200" u="none" strike="noStrike" dirty="0">
                          <a:effectLst/>
                        </a:rPr>
                        <a:t>0.9802</a:t>
                      </a:r>
                      <a:endParaRPr lang="en-US" altLang="zh-CN" sz="32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3092" marR="23092" marT="23092" marB="0" anchor="ctr"/>
                </a:tc>
                <a:extLst>
                  <a:ext uri="{0D108BD9-81ED-4DB2-BD59-A6C34878D82A}">
                    <a16:rowId xmlns:a16="http://schemas.microsoft.com/office/drawing/2014/main" val="17705823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不同的</a:t>
            </a:r>
            <a:r>
              <a:rPr lang="en-US" altLang="zh-CN" sz="2800" dirty="0" smtClean="0">
                <a:solidFill>
                  <a:srgbClr val="4B11BF"/>
                </a:solidFill>
              </a:rPr>
              <a:t>batch size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84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不同的激活函数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110216"/>
              </p:ext>
            </p:extLst>
          </p:nvPr>
        </p:nvGraphicFramePr>
        <p:xfrm>
          <a:off x="0" y="1849753"/>
          <a:ext cx="12151809" cy="16830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3681">
                  <a:extLst>
                    <a:ext uri="{9D8B030D-6E8A-4147-A177-3AD203B41FA5}">
                      <a16:colId xmlns:a16="http://schemas.microsoft.com/office/drawing/2014/main" val="3760125339"/>
                    </a:ext>
                  </a:extLst>
                </a:gridCol>
                <a:gridCol w="2620736">
                  <a:extLst>
                    <a:ext uri="{9D8B030D-6E8A-4147-A177-3AD203B41FA5}">
                      <a16:colId xmlns:a16="http://schemas.microsoft.com/office/drawing/2014/main" val="3677389967"/>
                    </a:ext>
                  </a:extLst>
                </a:gridCol>
                <a:gridCol w="1149662">
                  <a:extLst>
                    <a:ext uri="{9D8B030D-6E8A-4147-A177-3AD203B41FA5}">
                      <a16:colId xmlns:a16="http://schemas.microsoft.com/office/drawing/2014/main" val="78201936"/>
                    </a:ext>
                  </a:extLst>
                </a:gridCol>
                <a:gridCol w="988957">
                  <a:extLst>
                    <a:ext uri="{9D8B030D-6E8A-4147-A177-3AD203B41FA5}">
                      <a16:colId xmlns:a16="http://schemas.microsoft.com/office/drawing/2014/main" val="1914804417"/>
                    </a:ext>
                  </a:extLst>
                </a:gridCol>
                <a:gridCol w="988957">
                  <a:extLst>
                    <a:ext uri="{9D8B030D-6E8A-4147-A177-3AD203B41FA5}">
                      <a16:colId xmlns:a16="http://schemas.microsoft.com/office/drawing/2014/main" val="3872265503"/>
                    </a:ext>
                  </a:extLst>
                </a:gridCol>
                <a:gridCol w="988957">
                  <a:extLst>
                    <a:ext uri="{9D8B030D-6E8A-4147-A177-3AD203B41FA5}">
                      <a16:colId xmlns:a16="http://schemas.microsoft.com/office/drawing/2014/main" val="209190357"/>
                    </a:ext>
                  </a:extLst>
                </a:gridCol>
                <a:gridCol w="988957">
                  <a:extLst>
                    <a:ext uri="{9D8B030D-6E8A-4147-A177-3AD203B41FA5}">
                      <a16:colId xmlns:a16="http://schemas.microsoft.com/office/drawing/2014/main" val="1473667692"/>
                    </a:ext>
                  </a:extLst>
                </a:gridCol>
                <a:gridCol w="988957">
                  <a:extLst>
                    <a:ext uri="{9D8B030D-6E8A-4147-A177-3AD203B41FA5}">
                      <a16:colId xmlns:a16="http://schemas.microsoft.com/office/drawing/2014/main" val="3891823404"/>
                    </a:ext>
                  </a:extLst>
                </a:gridCol>
                <a:gridCol w="988957">
                  <a:extLst>
                    <a:ext uri="{9D8B030D-6E8A-4147-A177-3AD203B41FA5}">
                      <a16:colId xmlns:a16="http://schemas.microsoft.com/office/drawing/2014/main" val="768166877"/>
                    </a:ext>
                  </a:extLst>
                </a:gridCol>
                <a:gridCol w="1433988">
                  <a:extLst>
                    <a:ext uri="{9D8B030D-6E8A-4147-A177-3AD203B41FA5}">
                      <a16:colId xmlns:a16="http://schemas.microsoft.com/office/drawing/2014/main" val="26171780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128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>
                          <a:effectLst/>
                        </a:rPr>
                        <a:t>256+128+64+32（sigmoid）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0.0449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0.9887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0.1035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0.9712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0.0941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0.9728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21.93003249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extLst>
                  <a:ext uri="{0D108BD9-81ED-4DB2-BD59-A6C34878D82A}">
                    <a16:rowId xmlns:a16="http://schemas.microsoft.com/office/drawing/2014/main" val="89677628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256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>
                          <a:effectLst/>
                        </a:rPr>
                        <a:t>256+128+64+32（sigmoid）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0.0701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0.9823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0.1346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0.9655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0.1066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0.9715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18.68892908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extLst>
                  <a:ext uri="{0D108BD9-81ED-4DB2-BD59-A6C34878D82A}">
                    <a16:rowId xmlns:a16="http://schemas.microsoft.com/office/drawing/2014/main" val="144188279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>
                          <a:effectLst/>
                        </a:rPr>
                        <a:t>256+128+64+32（sigmoid）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0.2245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0.9534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0.2352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0.949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0.2307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0.9487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 dirty="0">
                          <a:effectLst/>
                        </a:rPr>
                        <a:t>14.3109045</a:t>
                      </a:r>
                      <a:endParaRPr lang="en-US" altLang="zh-CN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361" marR="12361" marT="12361" marB="0" anchor="ctr"/>
                </a:tc>
                <a:extLst>
                  <a:ext uri="{0D108BD9-81ED-4DB2-BD59-A6C34878D82A}">
                    <a16:rowId xmlns:a16="http://schemas.microsoft.com/office/drawing/2014/main" val="4086592335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0506"/>
              </p:ext>
            </p:extLst>
          </p:nvPr>
        </p:nvGraphicFramePr>
        <p:xfrm>
          <a:off x="-259956" y="3878449"/>
          <a:ext cx="12451956" cy="9120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8718">
                  <a:extLst>
                    <a:ext uri="{9D8B030D-6E8A-4147-A177-3AD203B41FA5}">
                      <a16:colId xmlns:a16="http://schemas.microsoft.com/office/drawing/2014/main" val="1756282694"/>
                    </a:ext>
                  </a:extLst>
                </a:gridCol>
                <a:gridCol w="2685467">
                  <a:extLst>
                    <a:ext uri="{9D8B030D-6E8A-4147-A177-3AD203B41FA5}">
                      <a16:colId xmlns:a16="http://schemas.microsoft.com/office/drawing/2014/main" val="1786644009"/>
                    </a:ext>
                  </a:extLst>
                </a:gridCol>
                <a:gridCol w="1178059">
                  <a:extLst>
                    <a:ext uri="{9D8B030D-6E8A-4147-A177-3AD203B41FA5}">
                      <a16:colId xmlns:a16="http://schemas.microsoft.com/office/drawing/2014/main" val="3678340310"/>
                    </a:ext>
                  </a:extLst>
                </a:gridCol>
                <a:gridCol w="1013384">
                  <a:extLst>
                    <a:ext uri="{9D8B030D-6E8A-4147-A177-3AD203B41FA5}">
                      <a16:colId xmlns:a16="http://schemas.microsoft.com/office/drawing/2014/main" val="2163740504"/>
                    </a:ext>
                  </a:extLst>
                </a:gridCol>
                <a:gridCol w="1013384">
                  <a:extLst>
                    <a:ext uri="{9D8B030D-6E8A-4147-A177-3AD203B41FA5}">
                      <a16:colId xmlns:a16="http://schemas.microsoft.com/office/drawing/2014/main" val="3668498120"/>
                    </a:ext>
                  </a:extLst>
                </a:gridCol>
                <a:gridCol w="1013384">
                  <a:extLst>
                    <a:ext uri="{9D8B030D-6E8A-4147-A177-3AD203B41FA5}">
                      <a16:colId xmlns:a16="http://schemas.microsoft.com/office/drawing/2014/main" val="631799516"/>
                    </a:ext>
                  </a:extLst>
                </a:gridCol>
                <a:gridCol w="1013384">
                  <a:extLst>
                    <a:ext uri="{9D8B030D-6E8A-4147-A177-3AD203B41FA5}">
                      <a16:colId xmlns:a16="http://schemas.microsoft.com/office/drawing/2014/main" val="7757894"/>
                    </a:ext>
                  </a:extLst>
                </a:gridCol>
                <a:gridCol w="1013384">
                  <a:extLst>
                    <a:ext uri="{9D8B030D-6E8A-4147-A177-3AD203B41FA5}">
                      <a16:colId xmlns:a16="http://schemas.microsoft.com/office/drawing/2014/main" val="640630416"/>
                    </a:ext>
                  </a:extLst>
                </a:gridCol>
                <a:gridCol w="1013384">
                  <a:extLst>
                    <a:ext uri="{9D8B030D-6E8A-4147-A177-3AD203B41FA5}">
                      <a16:colId xmlns:a16="http://schemas.microsoft.com/office/drawing/2014/main" val="3744499475"/>
                    </a:ext>
                  </a:extLst>
                </a:gridCol>
                <a:gridCol w="1469408">
                  <a:extLst>
                    <a:ext uri="{9D8B030D-6E8A-4147-A177-3AD203B41FA5}">
                      <a16:colId xmlns:a16="http://schemas.microsoft.com/office/drawing/2014/main" val="1721613763"/>
                    </a:ext>
                  </a:extLst>
                </a:gridCol>
              </a:tblGrid>
              <a:tr h="3040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128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256+128+64+32（tanh）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0.0202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0.9941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0.0929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0.976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0.081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0.977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25.2592988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extLst>
                  <a:ext uri="{0D108BD9-81ED-4DB2-BD59-A6C34878D82A}">
                    <a16:rowId xmlns:a16="http://schemas.microsoft.com/office/drawing/2014/main" val="1060036589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256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 dirty="0">
                          <a:effectLst/>
                        </a:rPr>
                        <a:t>256+128+64+32（tanh）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0.0187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0.9949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0.0939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0.9745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0.0837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0.9744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20.80274415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extLst>
                  <a:ext uri="{0D108BD9-81ED-4DB2-BD59-A6C34878D82A}">
                    <a16:rowId xmlns:a16="http://schemas.microsoft.com/office/drawing/2014/main" val="2656383627"/>
                  </a:ext>
                </a:extLst>
              </a:tr>
              <a:tr h="30400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u="none" strike="noStrike">
                          <a:effectLst/>
                        </a:rPr>
                        <a:t>256+128+64+32（tanh）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0.0571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0.9847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0.1023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0.9708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0.092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0.9724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 dirty="0">
                          <a:effectLst/>
                        </a:rPr>
                        <a:t>12.97104859</a:t>
                      </a:r>
                      <a:endParaRPr lang="en-US" altLang="zh-CN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667" marR="12667" marT="12667" marB="0" anchor="ctr"/>
                </a:tc>
                <a:extLst>
                  <a:ext uri="{0D108BD9-81ED-4DB2-BD59-A6C34878D82A}">
                    <a16:rowId xmlns:a16="http://schemas.microsoft.com/office/drawing/2014/main" val="3588680226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76329"/>
              </p:ext>
            </p:extLst>
          </p:nvPr>
        </p:nvGraphicFramePr>
        <p:xfrm>
          <a:off x="115877" y="1515647"/>
          <a:ext cx="11619907" cy="2836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9311">
                  <a:extLst>
                    <a:ext uri="{9D8B030D-6E8A-4147-A177-3AD203B41FA5}">
                      <a16:colId xmlns:a16="http://schemas.microsoft.com/office/drawing/2014/main" val="4012309301"/>
                    </a:ext>
                  </a:extLst>
                </a:gridCol>
                <a:gridCol w="2506022">
                  <a:extLst>
                    <a:ext uri="{9D8B030D-6E8A-4147-A177-3AD203B41FA5}">
                      <a16:colId xmlns:a16="http://schemas.microsoft.com/office/drawing/2014/main" val="42705074"/>
                    </a:ext>
                  </a:extLst>
                </a:gridCol>
                <a:gridCol w="1099340">
                  <a:extLst>
                    <a:ext uri="{9D8B030D-6E8A-4147-A177-3AD203B41FA5}">
                      <a16:colId xmlns:a16="http://schemas.microsoft.com/office/drawing/2014/main" val="1251644639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2768921358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1286882976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2335283923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2093091847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2737860837"/>
                    </a:ext>
                  </a:extLst>
                </a:gridCol>
                <a:gridCol w="945669">
                  <a:extLst>
                    <a:ext uri="{9D8B030D-6E8A-4147-A177-3AD203B41FA5}">
                      <a16:colId xmlns:a16="http://schemas.microsoft.com/office/drawing/2014/main" val="2258484462"/>
                    </a:ext>
                  </a:extLst>
                </a:gridCol>
                <a:gridCol w="1371220">
                  <a:extLst>
                    <a:ext uri="{9D8B030D-6E8A-4147-A177-3AD203B41FA5}">
                      <a16:colId xmlns:a16="http://schemas.microsoft.com/office/drawing/2014/main" val="3306367741"/>
                    </a:ext>
                  </a:extLst>
                </a:gridCol>
              </a:tblGrid>
              <a:tr h="283686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 err="1">
                          <a:effectLst/>
                        </a:rPr>
                        <a:t>batchsize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700" u="none" strike="noStrike" dirty="0">
                          <a:effectLst/>
                        </a:rPr>
                        <a:t>隐藏层</a:t>
                      </a:r>
                      <a:endParaRPr lang="zh-CN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epoch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loss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accuracy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loss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accuracy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loss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accuracy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 dirty="0">
                          <a:effectLst/>
                        </a:rPr>
                        <a:t>time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820" marR="11820" marT="11820" marB="0" anchor="ctr"/>
                </a:tc>
                <a:extLst>
                  <a:ext uri="{0D108BD9-81ED-4DB2-BD59-A6C34878D82A}">
                    <a16:rowId xmlns:a16="http://schemas.microsoft.com/office/drawing/2014/main" val="189083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65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4B11BF"/>
                </a:solidFill>
              </a:rPr>
              <a:t>两个隐含层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01520"/>
              </p:ext>
            </p:extLst>
          </p:nvPr>
        </p:nvGraphicFramePr>
        <p:xfrm>
          <a:off x="0" y="3155951"/>
          <a:ext cx="12119856" cy="820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4927">
                  <a:extLst>
                    <a:ext uri="{9D8B030D-6E8A-4147-A177-3AD203B41FA5}">
                      <a16:colId xmlns:a16="http://schemas.microsoft.com/office/drawing/2014/main" val="603388028"/>
                    </a:ext>
                  </a:extLst>
                </a:gridCol>
                <a:gridCol w="2417130">
                  <a:extLst>
                    <a:ext uri="{9D8B030D-6E8A-4147-A177-3AD203B41FA5}">
                      <a16:colId xmlns:a16="http://schemas.microsoft.com/office/drawing/2014/main" val="3722199720"/>
                    </a:ext>
                  </a:extLst>
                </a:gridCol>
                <a:gridCol w="1060344">
                  <a:extLst>
                    <a:ext uri="{9D8B030D-6E8A-4147-A177-3AD203B41FA5}">
                      <a16:colId xmlns:a16="http://schemas.microsoft.com/office/drawing/2014/main" val="2025860399"/>
                    </a:ext>
                  </a:extLst>
                </a:gridCol>
                <a:gridCol w="912125">
                  <a:extLst>
                    <a:ext uri="{9D8B030D-6E8A-4147-A177-3AD203B41FA5}">
                      <a16:colId xmlns:a16="http://schemas.microsoft.com/office/drawing/2014/main" val="229879434"/>
                    </a:ext>
                  </a:extLst>
                </a:gridCol>
                <a:gridCol w="912125">
                  <a:extLst>
                    <a:ext uri="{9D8B030D-6E8A-4147-A177-3AD203B41FA5}">
                      <a16:colId xmlns:a16="http://schemas.microsoft.com/office/drawing/2014/main" val="3398451401"/>
                    </a:ext>
                  </a:extLst>
                </a:gridCol>
                <a:gridCol w="912125">
                  <a:extLst>
                    <a:ext uri="{9D8B030D-6E8A-4147-A177-3AD203B41FA5}">
                      <a16:colId xmlns:a16="http://schemas.microsoft.com/office/drawing/2014/main" val="1078837376"/>
                    </a:ext>
                  </a:extLst>
                </a:gridCol>
                <a:gridCol w="912125">
                  <a:extLst>
                    <a:ext uri="{9D8B030D-6E8A-4147-A177-3AD203B41FA5}">
                      <a16:colId xmlns:a16="http://schemas.microsoft.com/office/drawing/2014/main" val="1603824129"/>
                    </a:ext>
                  </a:extLst>
                </a:gridCol>
                <a:gridCol w="912125">
                  <a:extLst>
                    <a:ext uri="{9D8B030D-6E8A-4147-A177-3AD203B41FA5}">
                      <a16:colId xmlns:a16="http://schemas.microsoft.com/office/drawing/2014/main" val="2633464169"/>
                    </a:ext>
                  </a:extLst>
                </a:gridCol>
                <a:gridCol w="912125">
                  <a:extLst>
                    <a:ext uri="{9D8B030D-6E8A-4147-A177-3AD203B41FA5}">
                      <a16:colId xmlns:a16="http://schemas.microsoft.com/office/drawing/2014/main" val="3553594122"/>
                    </a:ext>
                  </a:extLst>
                </a:gridCol>
                <a:gridCol w="1322580">
                  <a:extLst>
                    <a:ext uri="{9D8B030D-6E8A-4147-A177-3AD203B41FA5}">
                      <a16:colId xmlns:a16="http://schemas.microsoft.com/office/drawing/2014/main" val="2378591702"/>
                    </a:ext>
                  </a:extLst>
                </a:gridCol>
                <a:gridCol w="912125">
                  <a:extLst>
                    <a:ext uri="{9D8B030D-6E8A-4147-A177-3AD203B41FA5}">
                      <a16:colId xmlns:a16="http://schemas.microsoft.com/office/drawing/2014/main" val="40302017"/>
                    </a:ext>
                  </a:extLst>
                </a:gridCol>
              </a:tblGrid>
              <a:tr h="27362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128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256+64(relu)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0.0135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0.9959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0.0805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0.9803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0.0811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0.9793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19.83192134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 rowSpan="3">
                  <a:txBody>
                    <a:bodyPr/>
                    <a:lstStyle/>
                    <a:p>
                      <a:pPr algn="r" fontAlgn="ctr"/>
                      <a:r>
                        <a:rPr lang="zh-CN" altLang="en-US" sz="1700" u="none" strike="noStrike">
                          <a:effectLst/>
                        </a:rPr>
                        <a:t>过拟合</a:t>
                      </a:r>
                      <a:endParaRPr lang="zh-CN" alt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extLst>
                  <a:ext uri="{0D108BD9-81ED-4DB2-BD59-A6C34878D82A}">
                    <a16:rowId xmlns:a16="http://schemas.microsoft.com/office/drawing/2014/main" val="2167238400"/>
                  </a:ext>
                </a:extLst>
              </a:tr>
              <a:tr h="27362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256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256+64(relu)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0.0142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effectLst/>
                        </a:rPr>
                        <a:t>0.9966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0.0844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0.9783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0.0691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0.9797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15.95937061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129341"/>
                  </a:ext>
                </a:extLst>
              </a:tr>
              <a:tr h="27362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1000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u="none" strike="noStrike">
                          <a:effectLst/>
                        </a:rPr>
                        <a:t>256+64(relu)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700" u="none" strike="noStrike">
                          <a:effectLst/>
                        </a:rPr>
                        <a:t>10</a:t>
                      </a:r>
                      <a:endParaRPr lang="en-US" altLang="zh-CN" sz="1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0.0523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0.9854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0.0967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0.9732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0.0863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>
                          <a:effectLst/>
                        </a:rPr>
                        <a:t>0.974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600" u="none" strike="noStrike" dirty="0">
                          <a:effectLst/>
                        </a:rPr>
                        <a:t>12.00048351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1401" marR="11401" marT="11401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89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13887</TotalTime>
  <Words>839</Words>
  <Application>Microsoft Office PowerPoint</Application>
  <PresentationFormat>宽屏</PresentationFormat>
  <Paragraphs>225</Paragraphs>
  <Slides>22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Segoe UI</vt:lpstr>
      <vt:lpstr>微软雅黑</vt:lpstr>
      <vt:lpstr>Arial</vt:lpstr>
      <vt:lpstr>Calibri</vt:lpstr>
      <vt:lpstr>宋体</vt:lpstr>
      <vt:lpstr>等线</vt:lpstr>
      <vt:lpstr>微软雅黑</vt:lpstr>
      <vt:lpstr>Times New Roman</vt:lpstr>
      <vt:lpstr>Rockwell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zh</cp:lastModifiedBy>
  <cp:revision>1547</cp:revision>
  <dcterms:created xsi:type="dcterms:W3CDTF">2015-08-18T02:51:00Z</dcterms:created>
  <dcterms:modified xsi:type="dcterms:W3CDTF">2020-05-08T02:57:26Z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