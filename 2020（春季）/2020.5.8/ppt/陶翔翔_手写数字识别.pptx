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2"/>
  </p:notesMasterIdLst>
  <p:handoutMasterIdLst>
    <p:handoutMasterId r:id="rId13"/>
  </p:handoutMasterIdLst>
  <p:sldIdLst>
    <p:sldId id="303" r:id="rId2"/>
    <p:sldId id="384" r:id="rId3"/>
    <p:sldId id="390" r:id="rId4"/>
    <p:sldId id="380" r:id="rId5"/>
    <p:sldId id="391" r:id="rId6"/>
    <p:sldId id="392" r:id="rId7"/>
    <p:sldId id="393" r:id="rId8"/>
    <p:sldId id="395" r:id="rId9"/>
    <p:sldId id="396" r:id="rId10"/>
    <p:sldId id="353" r:id="rId11"/>
  </p:sldIdLst>
  <p:sldSz cx="12192000" cy="6858000"/>
  <p:notesSz cx="6858000" cy="9144000"/>
  <p:embeddedFontLst>
    <p:embeddedFont>
      <p:font typeface="Cambria Math" panose="02040503050406030204" pitchFamily="18" charset="0"/>
      <p:regular r:id="rId14"/>
    </p:embeddedFont>
    <p:embeddedFont>
      <p:font typeface="Rockwell" panose="02060603020205020403" pitchFamily="18" charset="0"/>
      <p:regular r:id="rId15"/>
      <p:bold r:id="rId16"/>
      <p:italic r:id="rId17"/>
      <p:boldItalic r:id="rId18"/>
    </p:embeddedFont>
    <p:embeddedFont>
      <p:font typeface="Segoe UI" panose="020B0502040204020203" pitchFamily="34" charset="0"/>
      <p:regular r:id="rId19"/>
      <p:bold r:id="rId20"/>
      <p:italic r:id="rId21"/>
      <p:boldItalic r:id="rId22"/>
    </p:embeddedFont>
    <p:embeddedFont>
      <p:font typeface="等线" panose="02010600030101010101" pitchFamily="2" charset="-122"/>
      <p:regular r:id="rId23"/>
      <p:bold r:id="rId24"/>
    </p:embeddedFont>
    <p:embeddedFont>
      <p:font typeface="微软雅黑" panose="020B0503020204020204" pitchFamily="34" charset="-122"/>
      <p:regular r:id="rId25"/>
      <p:bold r:id="rId26"/>
    </p:embeddedFont>
  </p:embeddedFont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pos="3840">
          <p15:clr>
            <a:srgbClr val="A4A3A4"/>
          </p15:clr>
        </p15:guide>
        <p15:guide id="2" orient="horz" pos="2195">
          <p15:clr>
            <a:srgbClr val="A4A3A4"/>
          </p15:clr>
        </p15:guide>
        <p15:guide id="3" orient="horz" pos="232">
          <p15:clr>
            <a:srgbClr val="A4A3A4"/>
          </p15:clr>
        </p15:guide>
        <p15:guide id="4" orient="horz" pos="4088">
          <p15:clr>
            <a:srgbClr val="A4A3A4"/>
          </p15:clr>
        </p15:guide>
        <p15:guide id="5" pos="574">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CA" initials="C" lastIdx="1"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0000"/>
    <a:srgbClr val="FF6600"/>
    <a:srgbClr val="0000FF"/>
    <a:srgbClr val="3333FF"/>
    <a:srgbClr val="009900"/>
    <a:srgbClr val="660066"/>
    <a:srgbClr val="CC00FF"/>
    <a:srgbClr val="6600FF"/>
    <a:srgbClr val="0033CC"/>
    <a:srgbClr val="FF33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0533" autoAdjust="0"/>
    <p:restoredTop sz="92460" autoAdjust="0"/>
  </p:normalViewPr>
  <p:slideViewPr>
    <p:cSldViewPr snapToGrid="0" snapToObjects="1">
      <p:cViewPr varScale="1">
        <p:scale>
          <a:sx n="75" d="100"/>
          <a:sy n="75" d="100"/>
        </p:scale>
        <p:origin x="720" y="58"/>
      </p:cViewPr>
      <p:guideLst>
        <p:guide pos="3840"/>
        <p:guide orient="horz" pos="2195"/>
        <p:guide orient="horz" pos="232"/>
        <p:guide orient="horz" pos="4088"/>
        <p:guide pos="574"/>
      </p:guideLst>
    </p:cSldViewPr>
  </p:slideViewPr>
  <p:notesTextViewPr>
    <p:cViewPr>
      <p:scale>
        <a:sx n="125" d="100"/>
        <a:sy n="125" d="100"/>
      </p:scale>
      <p:origin x="0" y="0"/>
    </p:cViewPr>
  </p:notesTextViewPr>
  <p:sorterViewPr>
    <p:cViewPr varScale="1">
      <p:scale>
        <a:sx n="1" d="1"/>
        <a:sy n="1" d="1"/>
      </p:scale>
      <p:origin x="0" y="0"/>
    </p:cViewPr>
  </p:sorterViewPr>
  <p:notesViewPr>
    <p:cSldViewPr snapToGrid="0" snapToObjects="1">
      <p:cViewPr varScale="1">
        <p:scale>
          <a:sx n="66" d="100"/>
          <a:sy n="66" d="100"/>
        </p:scale>
        <p:origin x="3330" y="54"/>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handoutMaster" Target="handoutMasters/handoutMaster1.xml"/><Relationship Id="rId18" Type="http://schemas.openxmlformats.org/officeDocument/2006/relationships/font" Target="fonts/font5.fntdata"/><Relationship Id="rId26" Type="http://schemas.openxmlformats.org/officeDocument/2006/relationships/font" Target="fonts/font13.fntdata"/><Relationship Id="rId3" Type="http://schemas.openxmlformats.org/officeDocument/2006/relationships/slide" Target="slides/slide2.xml"/><Relationship Id="rId21" Type="http://schemas.openxmlformats.org/officeDocument/2006/relationships/font" Target="fonts/font8.fntdata"/><Relationship Id="rId7" Type="http://schemas.openxmlformats.org/officeDocument/2006/relationships/slide" Target="slides/slide6.xml"/><Relationship Id="rId12" Type="http://schemas.openxmlformats.org/officeDocument/2006/relationships/notesMaster" Target="notesMasters/notesMaster1.xml"/><Relationship Id="rId17" Type="http://schemas.openxmlformats.org/officeDocument/2006/relationships/font" Target="fonts/font4.fntdata"/><Relationship Id="rId25" Type="http://schemas.openxmlformats.org/officeDocument/2006/relationships/font" Target="fonts/font12.fntdata"/><Relationship Id="rId2" Type="http://schemas.openxmlformats.org/officeDocument/2006/relationships/slide" Target="slides/slide1.xml"/><Relationship Id="rId16" Type="http://schemas.openxmlformats.org/officeDocument/2006/relationships/font" Target="fonts/font3.fntdata"/><Relationship Id="rId20" Type="http://schemas.openxmlformats.org/officeDocument/2006/relationships/font" Target="fonts/font7.fntdata"/><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11.fntdata"/><Relationship Id="rId5" Type="http://schemas.openxmlformats.org/officeDocument/2006/relationships/slide" Target="slides/slide4.xml"/><Relationship Id="rId15" Type="http://schemas.openxmlformats.org/officeDocument/2006/relationships/font" Target="fonts/font2.fntdata"/><Relationship Id="rId23" Type="http://schemas.openxmlformats.org/officeDocument/2006/relationships/font" Target="fonts/font10.fntdata"/><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font" Target="fonts/font6.fntdata"/><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1.fntdata"/><Relationship Id="rId22" Type="http://schemas.openxmlformats.org/officeDocument/2006/relationships/font" Target="fonts/font9.fntdata"/><Relationship Id="rId27" Type="http://schemas.openxmlformats.org/officeDocument/2006/relationships/commentAuthors" Target="commentAuthors.xml"/><Relationship Id="rId30"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8A2E08C6-A8D6-4426-B0F6-8365D5E90C3D}" type="datetimeFigureOut">
              <a:rPr lang="zh-CN" altLang="en-US" smtClean="0"/>
              <a:t>2020/5/8</a:t>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D635310C-31F2-4F7E-95AC-1A51EFB82AFE}" type="slidenum">
              <a:rPr lang="zh-CN" altLang="en-US" smtClean="0"/>
              <a:t>‹#›</a:t>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2FCA7BF-183C-46C8-9282-AFD276260CB2}" type="datetimeFigureOut">
              <a:rPr lang="zh-CN" altLang="en-US" smtClean="0"/>
              <a:t>2020/5/8</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6E2F600-D6BF-48F3-BE94-005CF5FB96EE}"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dirty="0"/>
          </a:p>
        </p:txBody>
      </p:sp>
    </p:spTree>
    <p:extLst>
      <p:ext uri="{BB962C8B-B14F-4D97-AF65-F5344CB8AC3E}">
        <p14:creationId xmlns:p14="http://schemas.microsoft.com/office/powerpoint/2010/main" val="318227601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dirty="0"/>
          </a:p>
        </p:txBody>
      </p:sp>
    </p:spTree>
    <p:extLst>
      <p:ext uri="{BB962C8B-B14F-4D97-AF65-F5344CB8AC3E}">
        <p14:creationId xmlns:p14="http://schemas.microsoft.com/office/powerpoint/2010/main" val="349727967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dirty="0"/>
          </a:p>
        </p:txBody>
      </p:sp>
    </p:spTree>
    <p:extLst>
      <p:ext uri="{BB962C8B-B14F-4D97-AF65-F5344CB8AC3E}">
        <p14:creationId xmlns:p14="http://schemas.microsoft.com/office/powerpoint/2010/main" val="168202050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dirty="0"/>
          </a:p>
        </p:txBody>
      </p:sp>
    </p:spTree>
    <p:extLst>
      <p:ext uri="{BB962C8B-B14F-4D97-AF65-F5344CB8AC3E}">
        <p14:creationId xmlns:p14="http://schemas.microsoft.com/office/powerpoint/2010/main" val="404222073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dirty="0"/>
          </a:p>
        </p:txBody>
      </p:sp>
    </p:spTree>
    <p:extLst>
      <p:ext uri="{BB962C8B-B14F-4D97-AF65-F5344CB8AC3E}">
        <p14:creationId xmlns:p14="http://schemas.microsoft.com/office/powerpoint/2010/main" val="110883297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dirty="0"/>
          </a:p>
        </p:txBody>
      </p:sp>
    </p:spTree>
    <p:extLst>
      <p:ext uri="{BB962C8B-B14F-4D97-AF65-F5344CB8AC3E}">
        <p14:creationId xmlns:p14="http://schemas.microsoft.com/office/powerpoint/2010/main" val="173354471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76E2F600-D6BF-48F3-BE94-005CF5FB96EE}" type="slidenum">
              <a:rPr lang="zh-CN" altLang="en-US" smtClean="0"/>
              <a:t>10</a:t>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4_自定义版式">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6_自定义版式">
    <p:spTree>
      <p:nvGrpSpPr>
        <p:cNvPr id="1" name=""/>
        <p:cNvGrpSpPr/>
        <p:nvPr/>
      </p:nvGrpSpPr>
      <p:grpSpPr>
        <a:xfrm>
          <a:off x="0" y="0"/>
          <a:ext cx="0" cy="0"/>
          <a:chOff x="0" y="0"/>
          <a:chExt cx="0" cy="0"/>
        </a:xfrm>
      </p:grpSpPr>
      <p:cxnSp>
        <p:nvCxnSpPr>
          <p:cNvPr id="3" name="直接连接符 2"/>
          <p:cNvCxnSpPr/>
          <p:nvPr userDrawn="1"/>
        </p:nvCxnSpPr>
        <p:spPr>
          <a:xfrm flipV="1">
            <a:off x="1325217" y="927652"/>
            <a:ext cx="9342783" cy="13252"/>
          </a:xfrm>
          <a:prstGeom prst="line">
            <a:avLst/>
          </a:prstGeom>
          <a:ln w="28575">
            <a:solidFill>
              <a:schemeClr val="tx1"/>
            </a:solidFill>
          </a:ln>
        </p:spPr>
        <p:style>
          <a:lnRef idx="3">
            <a:schemeClr val="dk1"/>
          </a:lnRef>
          <a:fillRef idx="0">
            <a:schemeClr val="dk1"/>
          </a:fillRef>
          <a:effectRef idx="2">
            <a:schemeClr val="dk1"/>
          </a:effectRef>
          <a:fontRef idx="minor">
            <a:schemeClr val="tx1"/>
          </a:fontRef>
        </p:style>
      </p:cxn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5_自定义版式">
    <p:spTree>
      <p:nvGrpSpPr>
        <p:cNvPr id="1" name=""/>
        <p:cNvGrpSpPr/>
        <p:nvPr/>
      </p:nvGrpSpPr>
      <p:grpSpPr>
        <a:xfrm>
          <a:off x="0" y="0"/>
          <a:ext cx="0" cy="0"/>
          <a:chOff x="0" y="0"/>
          <a:chExt cx="0" cy="0"/>
        </a:xfrm>
      </p:grpSpPr>
      <p:pic>
        <p:nvPicPr>
          <p:cNvPr id="3" name="图片 2"/>
          <p:cNvPicPr>
            <a:picLocks noChangeAspect="1"/>
          </p:cNvPicPr>
          <p:nvPr userDrawn="1"/>
        </p:nvPicPr>
        <p:blipFill rotWithShape="1">
          <a:blip r:embed="rId2"/>
          <a:srcRect l="61489" t="25058" r="12143" b="25081"/>
          <a:stretch>
            <a:fillRect/>
          </a:stretch>
        </p:blipFill>
        <p:spPr>
          <a:xfrm>
            <a:off x="3882314" y="1181451"/>
            <a:ext cx="4495104" cy="4495104"/>
          </a:xfrm>
          <a:prstGeom prst="ellipse">
            <a:avLst/>
          </a:prstGeom>
        </p:spPr>
      </p:pic>
      <p:cxnSp>
        <p:nvCxnSpPr>
          <p:cNvPr id="6" name="直接连接符 5"/>
          <p:cNvCxnSpPr/>
          <p:nvPr userDrawn="1"/>
        </p:nvCxnSpPr>
        <p:spPr>
          <a:xfrm flipV="1">
            <a:off x="1325217" y="927652"/>
            <a:ext cx="9342783" cy="13252"/>
          </a:xfrm>
          <a:prstGeom prst="line">
            <a:avLst/>
          </a:prstGeom>
          <a:ln w="28575">
            <a:solidFill>
              <a:schemeClr val="tx1"/>
            </a:solidFill>
          </a:ln>
        </p:spPr>
        <p:style>
          <a:lnRef idx="3">
            <a:schemeClr val="dk1"/>
          </a:lnRef>
          <a:fillRef idx="0">
            <a:schemeClr val="dk1"/>
          </a:fillRef>
          <a:effectRef idx="2">
            <a:schemeClr val="dk1"/>
          </a:effectRef>
          <a:fontRef idx="minor">
            <a:schemeClr val="tx1"/>
          </a:fontRef>
        </p:style>
      </p:cxn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pic>
        <p:nvPicPr>
          <p:cNvPr id="3" name="图片 2"/>
          <p:cNvPicPr>
            <a:picLocks noChangeAspect="1"/>
          </p:cNvPicPr>
          <p:nvPr userDrawn="1"/>
        </p:nvPicPr>
        <p:blipFill rotWithShape="1">
          <a:blip r:embed="rId2"/>
          <a:srcRect t="22049" r="54675" b="21936"/>
          <a:stretch>
            <a:fillRect/>
          </a:stretch>
        </p:blipFill>
        <p:spPr>
          <a:xfrm>
            <a:off x="952455" y="-12701"/>
            <a:ext cx="10492980" cy="6858001"/>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自定义版式">
    <p:spTree>
      <p:nvGrpSpPr>
        <p:cNvPr id="1" name=""/>
        <p:cNvGrpSpPr/>
        <p:nvPr/>
      </p:nvGrpSpPr>
      <p:grpSpPr>
        <a:xfrm>
          <a:off x="0" y="0"/>
          <a:ext cx="0" cy="0"/>
          <a:chOff x="0" y="0"/>
          <a:chExt cx="0" cy="0"/>
        </a:xfrm>
      </p:grpSpPr>
      <p:pic>
        <p:nvPicPr>
          <p:cNvPr id="3" name="图片 2"/>
          <p:cNvPicPr>
            <a:picLocks noChangeAspect="1"/>
          </p:cNvPicPr>
          <p:nvPr userDrawn="1"/>
        </p:nvPicPr>
        <p:blipFill rotWithShape="1">
          <a:blip r:embed="rId2"/>
          <a:srcRect t="15838" r="78197" b="16675"/>
          <a:stretch>
            <a:fillRect/>
          </a:stretch>
        </p:blipFill>
        <p:spPr>
          <a:xfrm>
            <a:off x="8015258" y="-12700"/>
            <a:ext cx="4189442" cy="6858000"/>
          </a:xfrm>
          <a:prstGeom prst="rect">
            <a:avLst/>
          </a:prstGeom>
        </p:spPr>
      </p:pic>
      <p:cxnSp>
        <p:nvCxnSpPr>
          <p:cNvPr id="4" name="直接连接符 3"/>
          <p:cNvCxnSpPr/>
          <p:nvPr userDrawn="1"/>
        </p:nvCxnSpPr>
        <p:spPr>
          <a:xfrm flipV="1">
            <a:off x="1325217" y="927652"/>
            <a:ext cx="9342783" cy="13252"/>
          </a:xfrm>
          <a:prstGeom prst="line">
            <a:avLst/>
          </a:prstGeom>
          <a:ln w="28575">
            <a:solidFill>
              <a:schemeClr val="tx1"/>
            </a:solidFill>
          </a:ln>
        </p:spPr>
        <p:style>
          <a:lnRef idx="3">
            <a:schemeClr val="dk1"/>
          </a:lnRef>
          <a:fillRef idx="0">
            <a:schemeClr val="dk1"/>
          </a:fillRef>
          <a:effectRef idx="2">
            <a:schemeClr val="dk1"/>
          </a:effectRef>
          <a:fontRef idx="minor">
            <a:schemeClr val="tx1"/>
          </a:fontRef>
        </p:style>
      </p:cxn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2_自定义版式">
    <p:spTree>
      <p:nvGrpSpPr>
        <p:cNvPr id="1" name=""/>
        <p:cNvGrpSpPr/>
        <p:nvPr/>
      </p:nvGrpSpPr>
      <p:grpSpPr>
        <a:xfrm>
          <a:off x="0" y="0"/>
          <a:ext cx="0" cy="0"/>
          <a:chOff x="0" y="0"/>
          <a:chExt cx="0" cy="0"/>
        </a:xfrm>
      </p:grpSpPr>
      <p:pic>
        <p:nvPicPr>
          <p:cNvPr id="4" name="图片 3"/>
          <p:cNvPicPr>
            <a:picLocks noChangeAspect="1"/>
          </p:cNvPicPr>
          <p:nvPr userDrawn="1"/>
        </p:nvPicPr>
        <p:blipFill rotWithShape="1">
          <a:blip r:embed="rId2"/>
          <a:srcRect t="15838" r="78197" b="16675"/>
          <a:stretch>
            <a:fillRect/>
          </a:stretch>
        </p:blipFill>
        <p:spPr>
          <a:xfrm flipH="1">
            <a:off x="0" y="-12700"/>
            <a:ext cx="4189442" cy="6858000"/>
          </a:xfrm>
          <a:prstGeom prst="rect">
            <a:avLst/>
          </a:prstGeom>
        </p:spPr>
      </p:pic>
      <p:cxnSp>
        <p:nvCxnSpPr>
          <p:cNvPr id="3" name="直接连接符 2"/>
          <p:cNvCxnSpPr/>
          <p:nvPr userDrawn="1"/>
        </p:nvCxnSpPr>
        <p:spPr>
          <a:xfrm flipV="1">
            <a:off x="1325217" y="927652"/>
            <a:ext cx="9342783" cy="13252"/>
          </a:xfrm>
          <a:prstGeom prst="line">
            <a:avLst/>
          </a:prstGeom>
          <a:ln w="28575">
            <a:solidFill>
              <a:schemeClr val="tx1"/>
            </a:solidFill>
          </a:ln>
        </p:spPr>
        <p:style>
          <a:lnRef idx="3">
            <a:schemeClr val="dk1"/>
          </a:lnRef>
          <a:fillRef idx="0">
            <a:schemeClr val="dk1"/>
          </a:fillRef>
          <a:effectRef idx="2">
            <a:schemeClr val="dk1"/>
          </a:effectRef>
          <a:fontRef idx="minor">
            <a:schemeClr val="tx1"/>
          </a:fontRef>
        </p:style>
      </p:cxn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3_自定义版式">
    <p:spTree>
      <p:nvGrpSpPr>
        <p:cNvPr id="1" name=""/>
        <p:cNvGrpSpPr/>
        <p:nvPr/>
      </p:nvGrpSpPr>
      <p:grpSpPr>
        <a:xfrm>
          <a:off x="0" y="0"/>
          <a:ext cx="0" cy="0"/>
          <a:chOff x="0" y="0"/>
          <a:chExt cx="0" cy="0"/>
        </a:xfrm>
      </p:grpSpPr>
      <p:pic>
        <p:nvPicPr>
          <p:cNvPr id="3" name="图片 2"/>
          <p:cNvPicPr>
            <a:picLocks noChangeAspect="1"/>
          </p:cNvPicPr>
          <p:nvPr userDrawn="1"/>
        </p:nvPicPr>
        <p:blipFill rotWithShape="1">
          <a:blip r:embed="rId2"/>
          <a:srcRect l="54115" t="20375" r="25555" b="20378"/>
          <a:stretch>
            <a:fillRect/>
          </a:stretch>
        </p:blipFill>
        <p:spPr>
          <a:xfrm>
            <a:off x="7739212" y="-4813"/>
            <a:ext cx="4452788" cy="6862813"/>
          </a:xfrm>
          <a:prstGeom prst="rect">
            <a:avLst/>
          </a:prstGeom>
        </p:spPr>
      </p:pic>
      <p:cxnSp>
        <p:nvCxnSpPr>
          <p:cNvPr id="4" name="直接连接符 3"/>
          <p:cNvCxnSpPr/>
          <p:nvPr userDrawn="1"/>
        </p:nvCxnSpPr>
        <p:spPr>
          <a:xfrm flipV="1">
            <a:off x="1325217" y="927652"/>
            <a:ext cx="9342783" cy="13252"/>
          </a:xfrm>
          <a:prstGeom prst="line">
            <a:avLst/>
          </a:prstGeom>
          <a:ln w="28575">
            <a:solidFill>
              <a:schemeClr val="tx1"/>
            </a:solidFill>
          </a:ln>
        </p:spPr>
        <p:style>
          <a:lnRef idx="3">
            <a:schemeClr val="dk1"/>
          </a:lnRef>
          <a:fillRef idx="0">
            <a:schemeClr val="dk1"/>
          </a:fillRef>
          <a:effectRef idx="2">
            <a:schemeClr val="dk1"/>
          </a:effectRef>
          <a:fontRef idx="minor">
            <a:schemeClr val="tx1"/>
          </a:fontRef>
        </p:style>
      </p:cxn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7_自定义版式">
    <p:spTree>
      <p:nvGrpSpPr>
        <p:cNvPr id="1" name=""/>
        <p:cNvGrpSpPr/>
        <p:nvPr/>
      </p:nvGrpSpPr>
      <p:grpSpPr>
        <a:xfrm>
          <a:off x="0" y="0"/>
          <a:ext cx="0" cy="0"/>
          <a:chOff x="0" y="0"/>
          <a:chExt cx="0" cy="0"/>
        </a:xfrm>
      </p:grpSpPr>
      <p:pic>
        <p:nvPicPr>
          <p:cNvPr id="3" name="图片 2"/>
          <p:cNvPicPr>
            <a:picLocks noChangeAspect="1"/>
          </p:cNvPicPr>
          <p:nvPr userDrawn="1"/>
        </p:nvPicPr>
        <p:blipFill rotWithShape="1">
          <a:blip r:embed="rId2"/>
          <a:srcRect l="54115" t="20375" r="25555" b="20378"/>
          <a:stretch>
            <a:fillRect/>
          </a:stretch>
        </p:blipFill>
        <p:spPr>
          <a:xfrm>
            <a:off x="7739212" y="0"/>
            <a:ext cx="4452788" cy="6862813"/>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2.xml"/><Relationship Id="rId5" Type="http://schemas.openxmlformats.org/officeDocument/2006/relationships/image" Target="../media/image8.png"/><Relationship Id="rId4" Type="http://schemas.openxmlformats.org/officeDocument/2006/relationships/image" Target="../media/image7.png"/></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1861400" y="1254582"/>
            <a:ext cx="8469199" cy="922020"/>
          </a:xfrm>
          <a:prstGeom prst="rect">
            <a:avLst/>
          </a:prstGeom>
          <a:noFill/>
        </p:spPr>
        <p:txBody>
          <a:bodyPr wrap="square" rtlCol="0">
            <a:spAutoFit/>
          </a:bodyPr>
          <a:lstStyle/>
          <a:p>
            <a:r>
              <a:rPr lang="zh-CN" altLang="en-US" sz="5400" b="1" dirty="0">
                <a:solidFill>
                  <a:srgbClr val="00B050"/>
                </a:solidFill>
                <a:latin typeface="Rockwell" panose="02060603020205020403" pitchFamily="18" charset="0"/>
              </a:rPr>
              <a:t>手写数字识别</a:t>
            </a:r>
          </a:p>
        </p:txBody>
      </p:sp>
      <p:sp>
        <p:nvSpPr>
          <p:cNvPr id="3" name="文本框 2"/>
          <p:cNvSpPr txBox="1"/>
          <p:nvPr/>
        </p:nvSpPr>
        <p:spPr>
          <a:xfrm>
            <a:off x="9225915" y="4754245"/>
            <a:ext cx="2574290" cy="1076325"/>
          </a:xfrm>
          <a:prstGeom prst="rect">
            <a:avLst/>
          </a:prstGeom>
          <a:noFill/>
        </p:spPr>
        <p:txBody>
          <a:bodyPr wrap="square" rtlCol="0">
            <a:spAutoFit/>
          </a:bodyPr>
          <a:lstStyle/>
          <a:p>
            <a:r>
              <a:rPr lang="zh-CN" altLang="en-US" sz="3200" b="1" dirty="0"/>
              <a:t>  </a:t>
            </a:r>
            <a:r>
              <a:rPr lang="zh-CN" altLang="en-US" sz="3200" b="1" dirty="0">
                <a:latin typeface="+mn-ea"/>
              </a:rPr>
              <a:t>陶翔翔</a:t>
            </a:r>
            <a:endParaRPr lang="en-US" altLang="zh-CN" sz="3200" b="1" dirty="0">
              <a:latin typeface="+mn-ea"/>
            </a:endParaRPr>
          </a:p>
          <a:p>
            <a:r>
              <a:rPr lang="en-US" altLang="zh-CN" sz="3200" b="1" dirty="0">
                <a:latin typeface="+mn-ea"/>
              </a:rPr>
              <a:t>2020.5.8</a:t>
            </a:r>
            <a:endParaRPr lang="zh-CN" altLang="en-US" sz="3200" b="1" dirty="0">
              <a:latin typeface="+mn-ea"/>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p:cNvSpPr txBox="1"/>
          <p:nvPr/>
        </p:nvSpPr>
        <p:spPr>
          <a:xfrm>
            <a:off x="1456299" y="275515"/>
            <a:ext cx="4797960" cy="521970"/>
          </a:xfrm>
          <a:prstGeom prst="rect">
            <a:avLst/>
          </a:prstGeom>
          <a:noFill/>
        </p:spPr>
        <p:txBody>
          <a:bodyPr wrap="square" rtlCol="0">
            <a:spAutoFit/>
          </a:bodyPr>
          <a:lstStyle/>
          <a:p>
            <a:r>
              <a:rPr lang="zh-CN" altLang="en-US" sz="2800" dirty="0">
                <a:solidFill>
                  <a:srgbClr val="4B11BF"/>
                </a:solidFill>
              </a:rPr>
              <a:t>思路</a:t>
            </a:r>
          </a:p>
        </p:txBody>
      </p:sp>
      <p:sp>
        <p:nvSpPr>
          <p:cNvPr id="3" name="矩形 2"/>
          <p:cNvSpPr/>
          <p:nvPr/>
        </p:nvSpPr>
        <p:spPr>
          <a:xfrm>
            <a:off x="1094740" y="1807146"/>
            <a:ext cx="9613900" cy="3243708"/>
          </a:xfrm>
          <a:prstGeom prst="rect">
            <a:avLst/>
          </a:prstGeom>
        </p:spPr>
        <p:txBody>
          <a:bodyPr wrap="square">
            <a:spAutoFit/>
          </a:bodyPr>
          <a:lstStyle/>
          <a:p>
            <a:pPr marL="457200" indent="-457200">
              <a:lnSpc>
                <a:spcPct val="150000"/>
              </a:lnSpc>
              <a:buFont typeface="Wingdings" panose="05000000000000000000" pitchFamily="2" charset="2"/>
              <a:buChar char="l"/>
            </a:pPr>
            <a:r>
              <a:rPr lang="zh-CN" altLang="en-US" sz="2800" dirty="0"/>
              <a:t>数据集生成：标准化、降维（</a:t>
            </a:r>
            <a:r>
              <a:rPr lang="en-US" altLang="zh-CN" sz="2800" dirty="0"/>
              <a:t>768-&gt;150</a:t>
            </a:r>
            <a:r>
              <a:rPr lang="zh-CN" altLang="en-US" sz="2800" dirty="0"/>
              <a:t>），将训练集</a:t>
            </a:r>
            <a:r>
              <a:rPr lang="zh-CN" altLang="en-US" sz="2800" b="1" dirty="0"/>
              <a:t>五折交叉验证</a:t>
            </a:r>
            <a:r>
              <a:rPr lang="zh-CN" altLang="en-US" sz="2800" dirty="0"/>
              <a:t>生成训练集和验证集，用验证集评估模型性能。</a:t>
            </a:r>
            <a:endParaRPr lang="en-US" altLang="zh-CN" sz="2800" dirty="0"/>
          </a:p>
          <a:p>
            <a:pPr marL="457200" indent="-457200">
              <a:lnSpc>
                <a:spcPct val="150000"/>
              </a:lnSpc>
              <a:buFont typeface="Wingdings" panose="05000000000000000000" pitchFamily="2" charset="2"/>
              <a:buChar char="l"/>
            </a:pPr>
            <a:r>
              <a:rPr lang="zh-CN" altLang="en-US" sz="2800" dirty="0"/>
              <a:t>利用所学</a:t>
            </a:r>
            <a:r>
              <a:rPr lang="zh-CN" altLang="zh-CN" sz="2800" dirty="0"/>
              <a:t>模型</a:t>
            </a:r>
            <a:r>
              <a:rPr lang="zh-CN" altLang="en-US" sz="2800" dirty="0"/>
              <a:t>调用</a:t>
            </a:r>
            <a:r>
              <a:rPr lang="en-US" altLang="zh-CN" sz="2800" b="1" dirty="0" err="1"/>
              <a:t>sklearn</a:t>
            </a:r>
            <a:r>
              <a:rPr lang="zh-CN" altLang="en-US" sz="2800" dirty="0"/>
              <a:t>库寻找最优模型及参数</a:t>
            </a:r>
            <a:r>
              <a:rPr lang="zh-CN" altLang="zh-CN" sz="2800" dirty="0"/>
              <a:t>：</a:t>
            </a:r>
            <a:endParaRPr lang="en-US" altLang="zh-CN" sz="2800" dirty="0"/>
          </a:p>
          <a:p>
            <a:pPr marL="914400" lvl="1" indent="-457200">
              <a:lnSpc>
                <a:spcPct val="150000"/>
              </a:lnSpc>
              <a:buFont typeface="Wingdings" panose="05000000000000000000" pitchFamily="2" charset="2"/>
              <a:buChar char="l"/>
            </a:pPr>
            <a:r>
              <a:rPr lang="en-US" altLang="zh-CN" sz="2800" dirty="0"/>
              <a:t>KNN</a:t>
            </a:r>
            <a:r>
              <a:rPr lang="zh-CN" altLang="en-US" sz="2800" dirty="0"/>
              <a:t>，</a:t>
            </a:r>
            <a:r>
              <a:rPr lang="en-US" altLang="zh-CN" sz="2800" dirty="0"/>
              <a:t>logistic</a:t>
            </a:r>
            <a:r>
              <a:rPr lang="zh-CN" altLang="en-US" sz="2800" dirty="0"/>
              <a:t>回归，</a:t>
            </a:r>
            <a:r>
              <a:rPr lang="en-US" altLang="zh-CN" sz="2800" dirty="0"/>
              <a:t>SVM</a:t>
            </a:r>
          </a:p>
          <a:p>
            <a:pPr marL="457200" indent="-457200">
              <a:lnSpc>
                <a:spcPct val="150000"/>
              </a:lnSpc>
              <a:buFont typeface="Wingdings" panose="05000000000000000000" pitchFamily="2" charset="2"/>
              <a:buChar char="l"/>
            </a:pPr>
            <a:r>
              <a:rPr lang="zh-CN" altLang="en-US" sz="2800" dirty="0"/>
              <a:t>编程实现最优模型。</a:t>
            </a:r>
            <a:endParaRPr lang="en-US" altLang="zh-CN" sz="2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p:cNvSpPr txBox="1"/>
          <p:nvPr/>
        </p:nvSpPr>
        <p:spPr>
          <a:xfrm>
            <a:off x="1456299" y="275515"/>
            <a:ext cx="4797960" cy="521970"/>
          </a:xfrm>
          <a:prstGeom prst="rect">
            <a:avLst/>
          </a:prstGeom>
          <a:noFill/>
        </p:spPr>
        <p:txBody>
          <a:bodyPr wrap="square" rtlCol="0">
            <a:spAutoFit/>
          </a:bodyPr>
          <a:lstStyle/>
          <a:p>
            <a:r>
              <a:rPr lang="zh-CN" altLang="en-US" sz="2800" dirty="0">
                <a:solidFill>
                  <a:srgbClr val="4B11BF"/>
                </a:solidFill>
              </a:rPr>
              <a:t>数据集</a:t>
            </a:r>
          </a:p>
        </p:txBody>
      </p:sp>
      <p:sp>
        <p:nvSpPr>
          <p:cNvPr id="3" name="矩形 2"/>
          <p:cNvSpPr/>
          <p:nvPr/>
        </p:nvSpPr>
        <p:spPr>
          <a:xfrm>
            <a:off x="1094740" y="1807146"/>
            <a:ext cx="9613900" cy="2600712"/>
          </a:xfrm>
          <a:prstGeom prst="rect">
            <a:avLst/>
          </a:prstGeom>
        </p:spPr>
        <p:txBody>
          <a:bodyPr wrap="square">
            <a:spAutoFit/>
          </a:bodyPr>
          <a:lstStyle/>
          <a:p>
            <a:pPr marL="457200" indent="-457200">
              <a:lnSpc>
                <a:spcPct val="150000"/>
              </a:lnSpc>
              <a:buFont typeface="Wingdings" panose="05000000000000000000" pitchFamily="2" charset="2"/>
              <a:buChar char="l"/>
            </a:pPr>
            <a:r>
              <a:rPr lang="en-US" altLang="zh-CN" sz="2800" dirty="0"/>
              <a:t>MNIST </a:t>
            </a:r>
            <a:r>
              <a:rPr lang="zh-CN" altLang="en-US" sz="2800" dirty="0"/>
              <a:t>数据集是美国国家标准与技术研究院收集整理的大型手写数字数据库</a:t>
            </a:r>
            <a:endParaRPr lang="en-US" altLang="zh-CN" sz="2800" dirty="0"/>
          </a:p>
          <a:p>
            <a:pPr marL="914400" lvl="1" indent="-457200">
              <a:lnSpc>
                <a:spcPct val="150000"/>
              </a:lnSpc>
              <a:buFont typeface="Wingdings" panose="05000000000000000000" pitchFamily="2" charset="2"/>
              <a:buChar char="l"/>
            </a:pPr>
            <a:r>
              <a:rPr lang="zh-CN" altLang="en-US" sz="2800" dirty="0"/>
              <a:t>训练集</a:t>
            </a:r>
            <a:r>
              <a:rPr lang="en-US" altLang="zh-CN" sz="2800" dirty="0"/>
              <a:t>60000</a:t>
            </a:r>
            <a:r>
              <a:rPr lang="zh-CN" altLang="en-US" sz="2800" dirty="0"/>
              <a:t>，测试集</a:t>
            </a:r>
            <a:r>
              <a:rPr lang="en-US" altLang="zh-CN" sz="2800" dirty="0"/>
              <a:t>10000</a:t>
            </a:r>
          </a:p>
          <a:p>
            <a:pPr marL="914400" lvl="1" indent="-457200">
              <a:lnSpc>
                <a:spcPct val="150000"/>
              </a:lnSpc>
              <a:buFont typeface="Wingdings" panose="05000000000000000000" pitchFamily="2" charset="2"/>
              <a:buChar char="l"/>
            </a:pPr>
            <a:r>
              <a:rPr lang="zh-CN" altLang="en-US" sz="2800" dirty="0"/>
              <a:t>标签：</a:t>
            </a:r>
            <a:r>
              <a:rPr lang="en-US" altLang="zh-CN" sz="2800" dirty="0"/>
              <a:t>0-9</a:t>
            </a:r>
            <a:r>
              <a:rPr lang="zh-CN" altLang="en-US" sz="2800" dirty="0"/>
              <a:t>。</a:t>
            </a:r>
            <a:endParaRPr lang="en-US" altLang="zh-CN" sz="2800" dirty="0"/>
          </a:p>
        </p:txBody>
      </p:sp>
    </p:spTree>
    <p:extLst>
      <p:ext uri="{BB962C8B-B14F-4D97-AF65-F5344CB8AC3E}">
        <p14:creationId xmlns:p14="http://schemas.microsoft.com/office/powerpoint/2010/main" val="287826778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p:cNvSpPr txBox="1"/>
          <p:nvPr/>
        </p:nvSpPr>
        <p:spPr>
          <a:xfrm>
            <a:off x="1456299" y="275515"/>
            <a:ext cx="4797960" cy="521970"/>
          </a:xfrm>
          <a:prstGeom prst="rect">
            <a:avLst/>
          </a:prstGeom>
          <a:noFill/>
        </p:spPr>
        <p:txBody>
          <a:bodyPr wrap="square" rtlCol="0">
            <a:spAutoFit/>
          </a:bodyPr>
          <a:lstStyle/>
          <a:p>
            <a:r>
              <a:rPr lang="en-US" altLang="zh-CN" sz="2800" dirty="0">
                <a:solidFill>
                  <a:srgbClr val="4B11BF"/>
                </a:solidFill>
              </a:rPr>
              <a:t>KNN</a:t>
            </a:r>
            <a:r>
              <a:rPr lang="zh-CN" altLang="en-US" sz="2800" dirty="0">
                <a:solidFill>
                  <a:srgbClr val="4B11BF"/>
                </a:solidFill>
              </a:rPr>
              <a:t>调参</a:t>
            </a:r>
          </a:p>
        </p:txBody>
      </p:sp>
      <p:sp>
        <p:nvSpPr>
          <p:cNvPr id="8" name="矩形 7"/>
          <p:cNvSpPr/>
          <p:nvPr/>
        </p:nvSpPr>
        <p:spPr>
          <a:xfrm>
            <a:off x="1292860" y="853440"/>
            <a:ext cx="10002520" cy="1308050"/>
          </a:xfrm>
          <a:prstGeom prst="rect">
            <a:avLst/>
          </a:prstGeom>
        </p:spPr>
        <p:txBody>
          <a:bodyPr wrap="square">
            <a:spAutoFit/>
          </a:bodyPr>
          <a:lstStyle/>
          <a:p>
            <a:pPr marL="457200" indent="-457200">
              <a:lnSpc>
                <a:spcPct val="150000"/>
              </a:lnSpc>
              <a:buFont typeface="Wingdings" panose="05000000000000000000" pitchFamily="2" charset="2"/>
              <a:buChar char="l"/>
            </a:pPr>
            <a:r>
              <a:rPr lang="en-US" altLang="zh-CN" sz="2800" dirty="0"/>
              <a:t>KNN </a:t>
            </a:r>
            <a:r>
              <a:rPr lang="zh-CN" altLang="en-US" sz="2800" dirty="0"/>
              <a:t>的原理就是当预测一个新的值</a:t>
            </a:r>
            <a:r>
              <a:rPr lang="en-US" altLang="zh-CN" sz="2800" dirty="0"/>
              <a:t>x </a:t>
            </a:r>
            <a:r>
              <a:rPr lang="zh-CN" altLang="en-US" sz="2800" dirty="0"/>
              <a:t>的时候，根据它距离最近的</a:t>
            </a:r>
            <a:r>
              <a:rPr lang="en-US" altLang="zh-CN" sz="2800" dirty="0"/>
              <a:t>K </a:t>
            </a:r>
            <a:r>
              <a:rPr lang="zh-CN" altLang="en-US" sz="2800" dirty="0"/>
              <a:t>个点的类别来判断</a:t>
            </a:r>
            <a:r>
              <a:rPr lang="en-US" altLang="zh-CN" sz="2800" dirty="0"/>
              <a:t>x </a:t>
            </a:r>
            <a:r>
              <a:rPr lang="zh-CN" altLang="en-US" sz="2800" dirty="0"/>
              <a:t>属于哪个类别。</a:t>
            </a:r>
          </a:p>
        </p:txBody>
      </p:sp>
      <p:pic>
        <p:nvPicPr>
          <p:cNvPr id="2" name="图片 1">
            <a:extLst>
              <a:ext uri="{FF2B5EF4-FFF2-40B4-BE49-F238E27FC236}">
                <a16:creationId xmlns:a16="http://schemas.microsoft.com/office/drawing/2014/main" id="{C7CC8A61-816C-41FF-8BDE-841D11F22D53}"/>
              </a:ext>
            </a:extLst>
          </p:cNvPr>
          <p:cNvPicPr>
            <a:picLocks noChangeAspect="1"/>
          </p:cNvPicPr>
          <p:nvPr/>
        </p:nvPicPr>
        <p:blipFill>
          <a:blip r:embed="rId3"/>
          <a:stretch>
            <a:fillRect/>
          </a:stretch>
        </p:blipFill>
        <p:spPr>
          <a:xfrm>
            <a:off x="1077778" y="2220036"/>
            <a:ext cx="10432684" cy="3429297"/>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p:cNvSpPr txBox="1"/>
          <p:nvPr/>
        </p:nvSpPr>
        <p:spPr>
          <a:xfrm>
            <a:off x="1456299" y="275515"/>
            <a:ext cx="4797960" cy="521970"/>
          </a:xfrm>
          <a:prstGeom prst="rect">
            <a:avLst/>
          </a:prstGeom>
          <a:noFill/>
        </p:spPr>
        <p:txBody>
          <a:bodyPr wrap="square" rtlCol="0">
            <a:spAutoFit/>
          </a:bodyPr>
          <a:lstStyle/>
          <a:p>
            <a:r>
              <a:rPr lang="en-US" altLang="zh-CN" sz="2800" dirty="0">
                <a:solidFill>
                  <a:srgbClr val="4B11BF"/>
                </a:solidFill>
              </a:rPr>
              <a:t>Logistic</a:t>
            </a:r>
            <a:r>
              <a:rPr lang="zh-CN" altLang="en-US" sz="2800" dirty="0">
                <a:solidFill>
                  <a:srgbClr val="4B11BF"/>
                </a:solidFill>
              </a:rPr>
              <a:t>回归调参</a:t>
            </a:r>
          </a:p>
        </p:txBody>
      </p:sp>
      <p:sp>
        <p:nvSpPr>
          <p:cNvPr id="8" name="矩形 7"/>
          <p:cNvSpPr/>
          <p:nvPr/>
        </p:nvSpPr>
        <p:spPr>
          <a:xfrm>
            <a:off x="1292860" y="853440"/>
            <a:ext cx="10002520" cy="1308050"/>
          </a:xfrm>
          <a:prstGeom prst="rect">
            <a:avLst/>
          </a:prstGeom>
        </p:spPr>
        <p:txBody>
          <a:bodyPr wrap="square">
            <a:spAutoFit/>
          </a:bodyPr>
          <a:lstStyle/>
          <a:p>
            <a:pPr marL="457200" indent="-457200">
              <a:lnSpc>
                <a:spcPct val="150000"/>
              </a:lnSpc>
              <a:buFont typeface="Wingdings" panose="05000000000000000000" pitchFamily="2" charset="2"/>
              <a:buChar char="l"/>
            </a:pPr>
            <a:r>
              <a:rPr lang="zh-CN" altLang="en-US" sz="2800" dirty="0"/>
              <a:t>用</a:t>
            </a:r>
            <a:r>
              <a:rPr lang="en-US" altLang="zh-CN" sz="2800" dirty="0"/>
              <a:t>logistic</a:t>
            </a:r>
            <a:r>
              <a:rPr lang="zh-CN" altLang="en-US" sz="2800" dirty="0"/>
              <a:t>分类函数得出实例属于某个类别的概率，再用</a:t>
            </a:r>
            <a:r>
              <a:rPr lang="en-US" altLang="zh-CN" sz="2800" dirty="0"/>
              <a:t>sigmoid </a:t>
            </a:r>
            <a:r>
              <a:rPr lang="zh-CN" altLang="en-US" sz="2800" dirty="0"/>
              <a:t>函数将概率二值化为预测类别。</a:t>
            </a:r>
          </a:p>
        </p:txBody>
      </p:sp>
      <p:pic>
        <p:nvPicPr>
          <p:cNvPr id="3" name="图片 2">
            <a:extLst>
              <a:ext uri="{FF2B5EF4-FFF2-40B4-BE49-F238E27FC236}">
                <a16:creationId xmlns:a16="http://schemas.microsoft.com/office/drawing/2014/main" id="{199E6BD5-BFBC-4276-8B95-848A48EE3CB0}"/>
              </a:ext>
            </a:extLst>
          </p:cNvPr>
          <p:cNvPicPr>
            <a:picLocks noChangeAspect="1"/>
          </p:cNvPicPr>
          <p:nvPr/>
        </p:nvPicPr>
        <p:blipFill>
          <a:blip r:embed="rId3"/>
          <a:stretch>
            <a:fillRect/>
          </a:stretch>
        </p:blipFill>
        <p:spPr>
          <a:xfrm>
            <a:off x="1181100" y="2392085"/>
            <a:ext cx="9664407" cy="2466437"/>
          </a:xfrm>
          <a:prstGeom prst="rect">
            <a:avLst/>
          </a:prstGeom>
        </p:spPr>
      </p:pic>
    </p:spTree>
    <p:extLst>
      <p:ext uri="{BB962C8B-B14F-4D97-AF65-F5344CB8AC3E}">
        <p14:creationId xmlns:p14="http://schemas.microsoft.com/office/powerpoint/2010/main" val="127346719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p:cNvSpPr txBox="1"/>
          <p:nvPr/>
        </p:nvSpPr>
        <p:spPr>
          <a:xfrm>
            <a:off x="1456299" y="275515"/>
            <a:ext cx="4797960" cy="521970"/>
          </a:xfrm>
          <a:prstGeom prst="rect">
            <a:avLst/>
          </a:prstGeom>
          <a:noFill/>
        </p:spPr>
        <p:txBody>
          <a:bodyPr wrap="square" rtlCol="0">
            <a:spAutoFit/>
          </a:bodyPr>
          <a:lstStyle/>
          <a:p>
            <a:r>
              <a:rPr lang="en-US" altLang="zh-CN" sz="2800" dirty="0">
                <a:solidFill>
                  <a:srgbClr val="4B11BF"/>
                </a:solidFill>
              </a:rPr>
              <a:t>SVM</a:t>
            </a:r>
            <a:r>
              <a:rPr lang="zh-CN" altLang="en-US" sz="2800" dirty="0">
                <a:solidFill>
                  <a:srgbClr val="4B11BF"/>
                </a:solidFill>
              </a:rPr>
              <a:t>调参</a:t>
            </a:r>
          </a:p>
        </p:txBody>
      </p:sp>
      <p:sp>
        <p:nvSpPr>
          <p:cNvPr id="8" name="矩形 7"/>
          <p:cNvSpPr/>
          <p:nvPr/>
        </p:nvSpPr>
        <p:spPr>
          <a:xfrm>
            <a:off x="1292860" y="853440"/>
            <a:ext cx="10002520" cy="1308050"/>
          </a:xfrm>
          <a:prstGeom prst="rect">
            <a:avLst/>
          </a:prstGeom>
        </p:spPr>
        <p:txBody>
          <a:bodyPr wrap="square">
            <a:spAutoFit/>
          </a:bodyPr>
          <a:lstStyle/>
          <a:p>
            <a:pPr marL="457200" indent="-457200">
              <a:lnSpc>
                <a:spcPct val="150000"/>
              </a:lnSpc>
              <a:buFont typeface="Wingdings" panose="05000000000000000000" pitchFamily="2" charset="2"/>
              <a:buChar char="l"/>
            </a:pPr>
            <a:r>
              <a:rPr lang="zh-CN" altLang="en-US" sz="2800" dirty="0"/>
              <a:t>用核函数将低维线性不可分的问题放到高维实现线性可分。用高维空间的超平面实现数据的分类。</a:t>
            </a:r>
          </a:p>
        </p:txBody>
      </p:sp>
      <p:pic>
        <p:nvPicPr>
          <p:cNvPr id="2" name="图片 1">
            <a:extLst>
              <a:ext uri="{FF2B5EF4-FFF2-40B4-BE49-F238E27FC236}">
                <a16:creationId xmlns:a16="http://schemas.microsoft.com/office/drawing/2014/main" id="{0EA476BE-8D03-4255-88BA-E950147E448B}"/>
              </a:ext>
            </a:extLst>
          </p:cNvPr>
          <p:cNvPicPr>
            <a:picLocks noChangeAspect="1"/>
          </p:cNvPicPr>
          <p:nvPr/>
        </p:nvPicPr>
        <p:blipFill>
          <a:blip r:embed="rId3"/>
          <a:stretch>
            <a:fillRect/>
          </a:stretch>
        </p:blipFill>
        <p:spPr>
          <a:xfrm>
            <a:off x="2262808" y="2619890"/>
            <a:ext cx="7666384" cy="2766300"/>
          </a:xfrm>
          <a:prstGeom prst="rect">
            <a:avLst/>
          </a:prstGeom>
        </p:spPr>
      </p:pic>
    </p:spTree>
    <p:extLst>
      <p:ext uri="{BB962C8B-B14F-4D97-AF65-F5344CB8AC3E}">
        <p14:creationId xmlns:p14="http://schemas.microsoft.com/office/powerpoint/2010/main" val="210614017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p:cNvSpPr txBox="1"/>
          <p:nvPr/>
        </p:nvSpPr>
        <p:spPr>
          <a:xfrm>
            <a:off x="1456299" y="275515"/>
            <a:ext cx="4797960" cy="521970"/>
          </a:xfrm>
          <a:prstGeom prst="rect">
            <a:avLst/>
          </a:prstGeom>
          <a:noFill/>
        </p:spPr>
        <p:txBody>
          <a:bodyPr wrap="square" rtlCol="0">
            <a:spAutoFit/>
          </a:bodyPr>
          <a:lstStyle/>
          <a:p>
            <a:r>
              <a:rPr lang="en-US" altLang="zh-CN" sz="2800" dirty="0">
                <a:solidFill>
                  <a:srgbClr val="4B11BF"/>
                </a:solidFill>
              </a:rPr>
              <a:t>MY_SVM</a:t>
            </a:r>
            <a:r>
              <a:rPr lang="zh-CN" altLang="en-US" sz="2800" dirty="0">
                <a:solidFill>
                  <a:srgbClr val="4B11BF"/>
                </a:solidFill>
              </a:rPr>
              <a:t>调参</a:t>
            </a:r>
          </a:p>
        </p:txBody>
      </p:sp>
      <p:sp>
        <p:nvSpPr>
          <p:cNvPr id="8" name="矩形 7"/>
          <p:cNvSpPr/>
          <p:nvPr/>
        </p:nvSpPr>
        <p:spPr>
          <a:xfrm>
            <a:off x="1292860" y="853440"/>
            <a:ext cx="10002520" cy="1308050"/>
          </a:xfrm>
          <a:prstGeom prst="rect">
            <a:avLst/>
          </a:prstGeom>
        </p:spPr>
        <p:txBody>
          <a:bodyPr wrap="square">
            <a:spAutoFit/>
          </a:bodyPr>
          <a:lstStyle/>
          <a:p>
            <a:pPr marL="457200" indent="-457200">
              <a:lnSpc>
                <a:spcPct val="150000"/>
              </a:lnSpc>
              <a:buFont typeface="Wingdings" panose="05000000000000000000" pitchFamily="2" charset="2"/>
              <a:buChar char="l"/>
            </a:pPr>
            <a:r>
              <a:rPr lang="zh-CN" altLang="en-US" sz="2800" dirty="0"/>
              <a:t>用</a:t>
            </a:r>
            <a:r>
              <a:rPr lang="en-US" altLang="zh-CN" sz="2800" dirty="0"/>
              <a:t>SMO </a:t>
            </a:r>
            <a:r>
              <a:rPr lang="zh-CN" altLang="en-US" sz="2800" dirty="0"/>
              <a:t>算法将多参数问题转为对偶问题，每次只优化两个参数；用</a:t>
            </a:r>
            <a:r>
              <a:rPr lang="en-US" altLang="zh-CN" sz="2800" dirty="0" err="1"/>
              <a:t>OvO</a:t>
            </a:r>
            <a:r>
              <a:rPr lang="zh-CN" altLang="en-US" sz="2800" dirty="0"/>
              <a:t>将</a:t>
            </a:r>
            <a:r>
              <a:rPr lang="en-US" altLang="zh-CN" sz="2800" dirty="0"/>
              <a:t>n</a:t>
            </a:r>
            <a:r>
              <a:rPr lang="zh-CN" altLang="en-US" sz="2800" dirty="0"/>
              <a:t>分类问题转化为处理    个二分类问题。</a:t>
            </a:r>
          </a:p>
        </p:txBody>
      </p:sp>
      <p:pic>
        <p:nvPicPr>
          <p:cNvPr id="3" name="图片 2">
            <a:extLst>
              <a:ext uri="{FF2B5EF4-FFF2-40B4-BE49-F238E27FC236}">
                <a16:creationId xmlns:a16="http://schemas.microsoft.com/office/drawing/2014/main" id="{9E513BEA-B195-4170-A75A-CDB5DA1D6ADF}"/>
              </a:ext>
            </a:extLst>
          </p:cNvPr>
          <p:cNvPicPr>
            <a:picLocks noChangeAspect="1"/>
          </p:cNvPicPr>
          <p:nvPr/>
        </p:nvPicPr>
        <p:blipFill>
          <a:blip r:embed="rId3"/>
          <a:stretch>
            <a:fillRect/>
          </a:stretch>
        </p:blipFill>
        <p:spPr>
          <a:xfrm>
            <a:off x="0" y="2290499"/>
            <a:ext cx="12192000" cy="1974212"/>
          </a:xfrm>
          <a:prstGeom prst="rect">
            <a:avLst/>
          </a:prstGeom>
        </p:spPr>
      </p:pic>
      <mc:AlternateContent xmlns:mc="http://schemas.openxmlformats.org/markup-compatibility/2006" xmlns:a14="http://schemas.microsoft.com/office/drawing/2010/main">
        <mc:Choice Requires="a14">
          <p:sp>
            <p:nvSpPr>
              <p:cNvPr id="4" name="矩形 3">
                <a:extLst>
                  <a:ext uri="{FF2B5EF4-FFF2-40B4-BE49-F238E27FC236}">
                    <a16:creationId xmlns:a16="http://schemas.microsoft.com/office/drawing/2014/main" id="{55F9207F-DB75-4E57-B603-7A41FA1BE33D}"/>
                  </a:ext>
                </a:extLst>
              </p:cNvPr>
              <p:cNvSpPr/>
              <p:nvPr/>
            </p:nvSpPr>
            <p:spPr>
              <a:xfrm>
                <a:off x="7432563" y="1628524"/>
                <a:ext cx="1025114" cy="532966"/>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sSubSup>
                        <m:sSubSupPr>
                          <m:ctrlPr>
                            <a:rPr lang="zh-CN" altLang="en-US" sz="2800" i="1" smtClean="0">
                              <a:latin typeface="Cambria Math" panose="02040503050406030204" pitchFamily="18" charset="0"/>
                            </a:rPr>
                          </m:ctrlPr>
                        </m:sSubSupPr>
                        <m:e>
                          <m:r>
                            <a:rPr lang="zh-CN" altLang="en-US" sz="2800" b="0" i="1">
                              <a:latin typeface="Cambria Math" panose="02040503050406030204" pitchFamily="18" charset="0"/>
                            </a:rPr>
                            <m:t>𝐶</m:t>
                          </m:r>
                        </m:e>
                        <m:sub>
                          <m:r>
                            <a:rPr lang="zh-CN" altLang="en-US" sz="2800" b="0" i="1">
                              <a:latin typeface="Cambria Math" panose="02040503050406030204" pitchFamily="18" charset="0"/>
                            </a:rPr>
                            <m:t>𝑛</m:t>
                          </m:r>
                        </m:sub>
                        <m:sup>
                          <m:r>
                            <a:rPr lang="zh-CN" altLang="en-US" sz="2800" b="0" i="0">
                              <a:latin typeface="Cambria Math" panose="02040503050406030204" pitchFamily="18" charset="0"/>
                            </a:rPr>
                            <m:t>2</m:t>
                          </m:r>
                        </m:sup>
                      </m:sSubSup>
                    </m:oMath>
                  </m:oMathPara>
                </a14:m>
                <a:endParaRPr lang="zh-CN" altLang="en-US" dirty="0"/>
              </a:p>
            </p:txBody>
          </p:sp>
        </mc:Choice>
        <mc:Fallback xmlns="">
          <p:sp>
            <p:nvSpPr>
              <p:cNvPr id="4" name="矩形 3">
                <a:extLst>
                  <a:ext uri="{FF2B5EF4-FFF2-40B4-BE49-F238E27FC236}">
                    <a16:creationId xmlns:a16="http://schemas.microsoft.com/office/drawing/2014/main" id="{55F9207F-DB75-4E57-B603-7A41FA1BE33D}"/>
                  </a:ext>
                </a:extLst>
              </p:cNvPr>
              <p:cNvSpPr>
                <a:spLocks noRot="1" noChangeAspect="1" noMove="1" noResize="1" noEditPoints="1" noAdjustHandles="1" noChangeArrowheads="1" noChangeShapeType="1" noTextEdit="1"/>
              </p:cNvSpPr>
              <p:nvPr/>
            </p:nvSpPr>
            <p:spPr>
              <a:xfrm>
                <a:off x="7432563" y="1628524"/>
                <a:ext cx="1025114" cy="532966"/>
              </a:xfrm>
              <a:prstGeom prst="rect">
                <a:avLst/>
              </a:prstGeom>
              <a:blipFill>
                <a:blip r:embed="rId4"/>
                <a:stretch>
                  <a:fillRect/>
                </a:stretch>
              </a:blipFill>
            </p:spPr>
            <p:txBody>
              <a:bodyPr/>
              <a:lstStyle/>
              <a:p>
                <a:r>
                  <a:rPr lang="zh-CN" altLang="en-US">
                    <a:noFill/>
                  </a:rPr>
                  <a:t> </a:t>
                </a:r>
              </a:p>
            </p:txBody>
          </p:sp>
        </mc:Fallback>
      </mc:AlternateContent>
      <p:pic>
        <p:nvPicPr>
          <p:cNvPr id="7" name="图片 6">
            <a:extLst>
              <a:ext uri="{FF2B5EF4-FFF2-40B4-BE49-F238E27FC236}">
                <a16:creationId xmlns:a16="http://schemas.microsoft.com/office/drawing/2014/main" id="{57C75A93-E5D8-4B2D-94D5-3D0C30CAD676}"/>
              </a:ext>
            </a:extLst>
          </p:cNvPr>
          <p:cNvPicPr>
            <a:picLocks noChangeAspect="1"/>
          </p:cNvPicPr>
          <p:nvPr/>
        </p:nvPicPr>
        <p:blipFill>
          <a:blip r:embed="rId5"/>
          <a:stretch>
            <a:fillRect/>
          </a:stretch>
        </p:blipFill>
        <p:spPr>
          <a:xfrm>
            <a:off x="285246" y="4313022"/>
            <a:ext cx="11621507" cy="2118544"/>
          </a:xfrm>
          <a:prstGeom prst="rect">
            <a:avLst/>
          </a:prstGeom>
        </p:spPr>
      </p:pic>
    </p:spTree>
    <p:extLst>
      <p:ext uri="{BB962C8B-B14F-4D97-AF65-F5344CB8AC3E}">
        <p14:creationId xmlns:p14="http://schemas.microsoft.com/office/powerpoint/2010/main" val="215328875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a:extLst>
              <a:ext uri="{FF2B5EF4-FFF2-40B4-BE49-F238E27FC236}">
                <a16:creationId xmlns:a16="http://schemas.microsoft.com/office/drawing/2014/main" id="{C67CFB52-D392-4F38-9368-8BAC2ACE4014}"/>
              </a:ext>
            </a:extLst>
          </p:cNvPr>
          <p:cNvPicPr>
            <a:picLocks noChangeAspect="1"/>
          </p:cNvPicPr>
          <p:nvPr/>
        </p:nvPicPr>
        <p:blipFill>
          <a:blip r:embed="rId3"/>
          <a:stretch>
            <a:fillRect/>
          </a:stretch>
        </p:blipFill>
        <p:spPr>
          <a:xfrm>
            <a:off x="1541872" y="2076358"/>
            <a:ext cx="9424773" cy="2424521"/>
          </a:xfrm>
          <a:prstGeom prst="rect">
            <a:avLst/>
          </a:prstGeom>
        </p:spPr>
      </p:pic>
      <p:sp>
        <p:nvSpPr>
          <p:cNvPr id="7" name="文本框 6">
            <a:extLst>
              <a:ext uri="{FF2B5EF4-FFF2-40B4-BE49-F238E27FC236}">
                <a16:creationId xmlns:a16="http://schemas.microsoft.com/office/drawing/2014/main" id="{46EC4549-9997-4685-B438-A7B088F98AF2}"/>
              </a:ext>
            </a:extLst>
          </p:cNvPr>
          <p:cNvSpPr txBox="1"/>
          <p:nvPr/>
        </p:nvSpPr>
        <p:spPr>
          <a:xfrm>
            <a:off x="1456299" y="275515"/>
            <a:ext cx="4797960" cy="521970"/>
          </a:xfrm>
          <a:prstGeom prst="rect">
            <a:avLst/>
          </a:prstGeom>
          <a:noFill/>
        </p:spPr>
        <p:txBody>
          <a:bodyPr wrap="square" rtlCol="0">
            <a:spAutoFit/>
          </a:bodyPr>
          <a:lstStyle/>
          <a:p>
            <a:r>
              <a:rPr lang="en-US" altLang="zh-CN" sz="2800" dirty="0">
                <a:solidFill>
                  <a:srgbClr val="4B11BF"/>
                </a:solidFill>
              </a:rPr>
              <a:t>MY_SVM</a:t>
            </a:r>
            <a:endParaRPr lang="zh-CN" altLang="en-US" sz="2800" dirty="0">
              <a:solidFill>
                <a:srgbClr val="4B11BF"/>
              </a:solidFill>
            </a:endParaRPr>
          </a:p>
        </p:txBody>
      </p:sp>
    </p:spTree>
    <p:extLst>
      <p:ext uri="{BB962C8B-B14F-4D97-AF65-F5344CB8AC3E}">
        <p14:creationId xmlns:p14="http://schemas.microsoft.com/office/powerpoint/2010/main" val="395926086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p:cNvSpPr txBox="1"/>
          <p:nvPr/>
        </p:nvSpPr>
        <p:spPr>
          <a:xfrm>
            <a:off x="1456299" y="275515"/>
            <a:ext cx="4797960" cy="521970"/>
          </a:xfrm>
          <a:prstGeom prst="rect">
            <a:avLst/>
          </a:prstGeom>
          <a:noFill/>
        </p:spPr>
        <p:txBody>
          <a:bodyPr wrap="square" rtlCol="0">
            <a:spAutoFit/>
          </a:bodyPr>
          <a:lstStyle/>
          <a:p>
            <a:r>
              <a:rPr lang="zh-CN" altLang="en-US" sz="2800" dirty="0">
                <a:solidFill>
                  <a:srgbClr val="4B11BF"/>
                </a:solidFill>
              </a:rPr>
              <a:t>总结</a:t>
            </a:r>
          </a:p>
        </p:txBody>
      </p:sp>
      <p:sp>
        <p:nvSpPr>
          <p:cNvPr id="8" name="矩形 7"/>
          <p:cNvSpPr/>
          <p:nvPr/>
        </p:nvSpPr>
        <p:spPr>
          <a:xfrm>
            <a:off x="1292860" y="853440"/>
            <a:ext cx="10002520" cy="5023939"/>
          </a:xfrm>
          <a:prstGeom prst="rect">
            <a:avLst/>
          </a:prstGeom>
        </p:spPr>
        <p:txBody>
          <a:bodyPr wrap="square">
            <a:spAutoFit/>
          </a:bodyPr>
          <a:lstStyle/>
          <a:p>
            <a:pPr marL="457200" indent="-457200">
              <a:lnSpc>
                <a:spcPct val="150000"/>
              </a:lnSpc>
              <a:buFont typeface="Wingdings" panose="05000000000000000000" pitchFamily="2" charset="2"/>
              <a:buChar char="l"/>
            </a:pPr>
            <a:r>
              <a:rPr lang="zh-CN" altLang="en-US" sz="2800" dirty="0"/>
              <a:t>总结得到对分类器预测准确率的影响因素如下：</a:t>
            </a:r>
          </a:p>
          <a:p>
            <a:pPr marL="457200" indent="-457200">
              <a:lnSpc>
                <a:spcPct val="150000"/>
              </a:lnSpc>
              <a:buFont typeface="Wingdings" panose="05000000000000000000" pitchFamily="2" charset="2"/>
              <a:buChar char="l"/>
            </a:pPr>
            <a:r>
              <a:rPr lang="en-US" altLang="zh-CN" sz="2400" dirty="0"/>
              <a:t>1.</a:t>
            </a:r>
            <a:r>
              <a:rPr lang="zh-CN" altLang="en-US" sz="2400" dirty="0"/>
              <a:t>模型自身参数</a:t>
            </a:r>
          </a:p>
          <a:p>
            <a:pPr marL="457200" indent="-457200">
              <a:lnSpc>
                <a:spcPct val="150000"/>
              </a:lnSpc>
              <a:buFont typeface="Wingdings" panose="05000000000000000000" pitchFamily="2" charset="2"/>
              <a:buChar char="l"/>
            </a:pPr>
            <a:r>
              <a:rPr lang="en-US" altLang="zh-CN" sz="2400" dirty="0"/>
              <a:t>2.</a:t>
            </a:r>
            <a:r>
              <a:rPr lang="zh-CN" altLang="en-US" sz="2400" dirty="0"/>
              <a:t>数据集处理方式</a:t>
            </a:r>
          </a:p>
          <a:p>
            <a:pPr marL="914400" lvl="1" indent="-457200">
              <a:lnSpc>
                <a:spcPct val="150000"/>
              </a:lnSpc>
              <a:buFont typeface="Wingdings" panose="05000000000000000000" pitchFamily="2" charset="2"/>
              <a:buChar char="l"/>
            </a:pPr>
            <a:r>
              <a:rPr lang="zh-CN" altLang="en-US" sz="2000" dirty="0"/>
              <a:t>数据集的</a:t>
            </a:r>
            <a:r>
              <a:rPr lang="zh-CN" altLang="en-US" sz="2000" b="1" dirty="0"/>
              <a:t>标准化</a:t>
            </a:r>
            <a:r>
              <a:rPr lang="zh-CN" altLang="en-US" sz="2000" dirty="0"/>
              <a:t>：</a:t>
            </a:r>
            <a:r>
              <a:rPr lang="zh-CN" altLang="en-US" dirty="0"/>
              <a:t>标准化处理可以使得不同的特征具有相同的尺度，这样，在学习参数的时候，不同特征对参数的影响程度就一样，会更容易训练出分类器，准确率也会得到一定的提升；</a:t>
            </a:r>
          </a:p>
          <a:p>
            <a:pPr marL="914400" lvl="1" indent="-457200">
              <a:lnSpc>
                <a:spcPct val="150000"/>
              </a:lnSpc>
              <a:buFont typeface="Wingdings" panose="05000000000000000000" pitchFamily="2" charset="2"/>
              <a:buChar char="l"/>
            </a:pPr>
            <a:r>
              <a:rPr lang="zh-CN" altLang="en-US" sz="2000" b="1" dirty="0"/>
              <a:t>样本属性的个数</a:t>
            </a:r>
            <a:r>
              <a:rPr lang="zh-CN" altLang="en-US" sz="2000" dirty="0"/>
              <a:t>：</a:t>
            </a:r>
            <a:r>
              <a:rPr lang="zh-CN" altLang="en-US" dirty="0"/>
              <a:t>更多的属性数目对于分类器而言意味着要计算更多的组合，使得生成模型难度增大，需要的时间也更长。有时随机的关系会将生成器引入歧途，产生过拟合。通过降维能够有效降低样本属性的个数；</a:t>
            </a:r>
          </a:p>
          <a:p>
            <a:pPr marL="914400" lvl="1" indent="-457200">
              <a:lnSpc>
                <a:spcPct val="150000"/>
              </a:lnSpc>
              <a:buFont typeface="Wingdings" panose="05000000000000000000" pitchFamily="2" charset="2"/>
              <a:buChar char="l"/>
            </a:pPr>
            <a:r>
              <a:rPr lang="zh-CN" altLang="en-US" sz="2000" b="1" dirty="0"/>
              <a:t>训练集的大小</a:t>
            </a:r>
            <a:r>
              <a:rPr lang="zh-CN" altLang="en-US" sz="2000" dirty="0"/>
              <a:t>：</a:t>
            </a:r>
            <a:r>
              <a:rPr lang="zh-CN" altLang="en-US" dirty="0"/>
              <a:t>因为模型要利用训练集进行学习，因而训练集越大，分类器也就越可靠。</a:t>
            </a:r>
            <a:endParaRPr lang="zh-CN" altLang="en-US" sz="2000" dirty="0"/>
          </a:p>
        </p:txBody>
      </p:sp>
    </p:spTree>
    <p:extLst>
      <p:ext uri="{BB962C8B-B14F-4D97-AF65-F5344CB8AC3E}">
        <p14:creationId xmlns:p14="http://schemas.microsoft.com/office/powerpoint/2010/main" val="304544201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2884109" y="2570521"/>
            <a:ext cx="3801362" cy="923330"/>
          </a:xfrm>
          <a:prstGeom prst="rect">
            <a:avLst/>
          </a:prstGeom>
          <a:noFill/>
        </p:spPr>
        <p:txBody>
          <a:bodyPr wrap="none" lIns="91440" tIns="45720" rIns="91440" bIns="45720">
            <a:spAutoFit/>
          </a:bodyPr>
          <a:lstStyle/>
          <a:p>
            <a:pPr algn="ctr"/>
            <a:r>
              <a:rPr lang="en-US" altLang="zh-CN" sz="5400" b="1" cap="none" spc="0" dirty="0">
                <a:ln w="12700">
                  <a:solidFill>
                    <a:schemeClr val="accent1"/>
                  </a:solidFill>
                  <a:prstDash val="solid"/>
                </a:ln>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a:outerShdw dist="38100" dir="2640000" algn="bl" rotWithShape="0">
                    <a:schemeClr val="accent1"/>
                  </a:outerShdw>
                </a:effectLst>
              </a:rPr>
              <a:t>Thank You!</a:t>
            </a:r>
            <a:endParaRPr lang="zh-CN" altLang="en-US" sz="5400" b="1" cap="none" spc="0" dirty="0">
              <a:ln w="12700">
                <a:solidFill>
                  <a:schemeClr val="accent1"/>
                </a:solidFill>
                <a:prstDash val="solid"/>
              </a:ln>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a:outerShdw dist="38100" dir="2640000" algn="bl" rotWithShape="0">
                  <a:schemeClr val="accent1"/>
                </a:outerShdw>
              </a:effectLst>
            </a:endParaRPr>
          </a:p>
        </p:txBody>
      </p:sp>
    </p:spTree>
  </p:cSld>
  <p:clrMapOvr>
    <a:masterClrMapping/>
  </p:clrMapOvr>
</p:sld>
</file>

<file path=ppt/theme/theme1.xml><?xml version="1.0" encoding="utf-8"?>
<a:theme xmlns:a="http://schemas.openxmlformats.org/drawingml/2006/main" name="Office 主题">
  <a:themeElements>
    <a:clrScheme name="Office 主题">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自定义 36">
      <a:majorFont>
        <a:latin typeface="Segoe UI"/>
        <a:ea typeface="宋体"/>
        <a:cs typeface=""/>
      </a:majorFont>
      <a:minorFont>
        <a:latin typeface="Segoe UI"/>
        <a:ea typeface="微软雅黑"/>
        <a:cs typeface=""/>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2"/>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107</TotalTime>
  <Words>387</Words>
  <Application>Microsoft Office PowerPoint</Application>
  <PresentationFormat>宽屏</PresentationFormat>
  <Paragraphs>31</Paragraphs>
  <Slides>10</Slides>
  <Notes>10</Notes>
  <HiddenSlides>0</HiddenSlides>
  <MMClips>0</MMClips>
  <ScaleCrop>false</ScaleCrop>
  <HeadingPairs>
    <vt:vector size="6" baseType="variant">
      <vt:variant>
        <vt:lpstr>已用的字体</vt:lpstr>
      </vt:variant>
      <vt:variant>
        <vt:i4>7</vt:i4>
      </vt:variant>
      <vt:variant>
        <vt:lpstr>主题</vt:lpstr>
      </vt:variant>
      <vt:variant>
        <vt:i4>1</vt:i4>
      </vt:variant>
      <vt:variant>
        <vt:lpstr>幻灯片标题</vt:lpstr>
      </vt:variant>
      <vt:variant>
        <vt:i4>10</vt:i4>
      </vt:variant>
    </vt:vector>
  </HeadingPairs>
  <TitlesOfParts>
    <vt:vector size="18" baseType="lpstr">
      <vt:lpstr>Arial</vt:lpstr>
      <vt:lpstr>Rockwell</vt:lpstr>
      <vt:lpstr>Segoe UI</vt:lpstr>
      <vt:lpstr>Cambria Math</vt:lpstr>
      <vt:lpstr>Wingdings</vt:lpstr>
      <vt:lpstr>等线</vt:lpstr>
      <vt:lpstr>微软雅黑</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OfficePLUS</dc:creator>
  <cp:lastModifiedBy>t xx</cp:lastModifiedBy>
  <cp:revision>2978</cp:revision>
  <dcterms:created xsi:type="dcterms:W3CDTF">2015-08-18T02:51:00Z</dcterms:created>
  <dcterms:modified xsi:type="dcterms:W3CDTF">2020-05-08T01:08:46Z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2052-11.1.0.9584</vt:lpwstr>
  </property>
</Properties>
</file>