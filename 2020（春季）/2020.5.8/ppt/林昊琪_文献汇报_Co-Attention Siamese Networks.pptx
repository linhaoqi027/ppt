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7" autoAdjust="0"/>
    <p:restoredTop sz="94660"/>
  </p:normalViewPr>
  <p:slideViewPr>
    <p:cSldViewPr snapToGrid="0">
      <p:cViewPr>
        <p:scale>
          <a:sx n="70" d="100"/>
          <a:sy n="70" d="100"/>
        </p:scale>
        <p:origin x="1108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F673D-F1D9-45F4-B944-77AF3E9A0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DBC42B-7C39-4A7C-A37B-FB70B45962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33E21E-CDE7-4727-AD65-DF2F03C1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4C6F-E607-48EA-A27D-8F61F82FA22E}" type="datetimeFigureOut">
              <a:rPr lang="zh-CN" altLang="en-US" smtClean="0"/>
              <a:t>2020/4/30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FFF7F7-3AA4-408A-9164-F8E9EBFE7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8B6610-3418-4F50-A66C-4D912316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4CB0A-097B-465E-8981-3EC404A6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52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1DC777-62DC-49FA-B70C-E5B7E6D2F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16A3D6-E1FA-4264-B50E-EADCBED4B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6E0A4E-6C90-4171-A337-D26B9783F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4C6F-E607-48EA-A27D-8F61F82FA22E}" type="datetimeFigureOut">
              <a:rPr lang="zh-CN" altLang="en-US" smtClean="0"/>
              <a:t>2020/4/30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2900E6-2573-4FB7-98AA-42E2426A4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308226-D108-4E08-A5E1-414A23CE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4CB0A-097B-465E-8981-3EC404A6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8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A92C0A-6CFF-4953-9098-BE54E1778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44762C-7C89-4C73-BE5D-99BBA1F5A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289EC7-304D-4B0A-885C-2E45ABF8A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4C6F-E607-48EA-A27D-8F61F82FA22E}" type="datetimeFigureOut">
              <a:rPr lang="zh-CN" altLang="en-US" smtClean="0"/>
              <a:t>2020/4/30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455D19-9C04-4636-B290-1FD33C4A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E6D17C-7BA1-41D1-B6C9-516404EC7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4CB0A-097B-465E-8981-3EC404A6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150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D9C6B-F82D-43B0-B2A7-F5A8231C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EEB689-A213-4469-A652-E5DC570E1A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C5A4A78-3EB5-4518-A9C7-121E7D9A8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7E6653-36C2-46E9-BF15-5CC98EA1B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4C6F-E607-48EA-A27D-8F61F82FA22E}" type="datetimeFigureOut">
              <a:rPr lang="zh-CN" altLang="en-US" smtClean="0"/>
              <a:t>2020/4/30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2278C4-E3A8-4B58-BE28-9C6642B39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8A4936-633A-4BD0-B29A-F157BFB59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4CB0A-097B-465E-8981-3EC404A6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05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CAE432-5C58-4AF2-8AFC-7CC2D86EC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690C80-E91C-4DD1-B783-F65E44084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933D32-476F-4489-908C-C1AA75513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FEAD7DB-3A45-4CD6-BD85-9973459992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6629E6-64E3-4EBC-8178-E55502FC5E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57562D-7DEA-4605-81EF-5AFB99EBD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4C6F-E607-48EA-A27D-8F61F82FA22E}" type="datetimeFigureOut">
              <a:rPr lang="zh-CN" altLang="en-US" smtClean="0"/>
              <a:t>2020/4/30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DD2CC45-58D2-4AB4-AE20-31AA59078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F64D93-0018-4B36-BFD3-48BE6EDC7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4CB0A-097B-465E-8981-3EC404A6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016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9BA777-C684-4E64-8989-F694F3118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E83E03-C419-4954-AF43-CAE9F446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4C6F-E607-48EA-A27D-8F61F82FA22E}" type="datetimeFigureOut">
              <a:rPr lang="zh-CN" altLang="en-US" smtClean="0"/>
              <a:t>2020/4/30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72283E-17F9-4CBA-BAF7-6ED9EC56D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B808E0-D043-4155-A015-1A9FDC25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4CB0A-097B-465E-8981-3EC404A6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188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FCFF6A-869E-435C-8C68-7C7D4B7EF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4C6F-E607-48EA-A27D-8F61F82FA22E}" type="datetimeFigureOut">
              <a:rPr lang="zh-CN" altLang="en-US" smtClean="0"/>
              <a:t>2020/4/30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228FB6-E87B-4907-8CF2-6BACF45C2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D92C95C-E153-4005-9DF4-DDF799A2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4CB0A-097B-465E-8981-3EC404A6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006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379D8B-409C-4B38-888F-A95ED50CA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E239D8-90AB-4185-9A27-9EF503B10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72E156-40D3-4C1C-8C00-C69C63EFBA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A94180-CC1F-4985-80CD-2BA5A1EC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4C6F-E607-48EA-A27D-8F61F82FA22E}" type="datetimeFigureOut">
              <a:rPr lang="zh-CN" altLang="en-US" smtClean="0"/>
              <a:t>2020/4/30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5BFEDE-2640-464B-A209-490C1028A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8D4124-545E-47D8-A710-8E3194F6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4CB0A-097B-465E-8981-3EC404A6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36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444B1-1C05-495B-9A8E-D54C4135F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8B57295-7423-43C1-A5CE-2AF5330155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2E90CBB-8EDD-4CCE-B3B3-2E3CA928C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A30FF2-6871-4F0D-B309-86CE7D037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4C6F-E607-48EA-A27D-8F61F82FA22E}" type="datetimeFigureOut">
              <a:rPr lang="zh-CN" altLang="en-US" smtClean="0"/>
              <a:t>2020/4/30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FE99A5-0659-40F9-A484-D87E49637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8956CD-A4C4-4F15-A088-1EF5F482F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4CB0A-097B-465E-8981-3EC404A6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83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13F683-D627-437A-898D-32D128798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19A692-4D26-4BE6-BB44-0BA31D6055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B54EC2-49BE-4B61-9349-AAEDC1974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4C6F-E607-48EA-A27D-8F61F82FA22E}" type="datetimeFigureOut">
              <a:rPr lang="zh-CN" altLang="en-US" smtClean="0"/>
              <a:t>2020/4/30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7B8AA2-CFB1-4E26-860C-22CBC8FB1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C63BFF-87F2-4F72-B4ED-268A91497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4CB0A-097B-465E-8981-3EC404A6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904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AB642D6-0719-4FC5-8BD9-8DCDA53288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E0C12F-59A2-4B26-B22E-B9EA48FDC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53326F-8868-4FAB-AE69-91C5BACF1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4C6F-E607-48EA-A27D-8F61F82FA22E}" type="datetimeFigureOut">
              <a:rPr lang="zh-CN" altLang="en-US" smtClean="0"/>
              <a:t>2020/4/30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1A11BB-7FD5-4F6F-86F5-FB57FB44C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811DDE-0B17-46C1-BB66-633947955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4CB0A-097B-465E-8981-3EC404A6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AE882B3-5E34-4E3F-8054-3B0C6DC2B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A14BF5-0AB1-4722-8D47-F5CF8557DF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FA8BBC-478D-4296-AEBB-6F2B7B106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574C6F-E607-48EA-A27D-8F61F82FA22E}" type="datetimeFigureOut">
              <a:rPr lang="zh-CN" altLang="en-US" smtClean="0"/>
              <a:t>2020/4/30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BF0C16-1F91-4389-B1AC-8F4AF7666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B8F06F-6335-453D-9FE5-978F4C0967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4CB0A-097B-465E-8981-3EC404A658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7484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6A98B2-B44F-47C0-A79A-E5D131678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093" y="1122363"/>
            <a:ext cx="11772899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See More, Know More: Unsupervised Video Object Segmentation with</a:t>
            </a:r>
            <a:br>
              <a:rPr lang="en-US" altLang="zh-CN" dirty="0"/>
            </a:br>
            <a:r>
              <a:rPr lang="en-US" altLang="zh-CN" dirty="0"/>
              <a:t>Co-Attention Siamese Networks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9C0D867-E2C9-468F-96EF-F9ADCD658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44" y="3673404"/>
            <a:ext cx="8401482" cy="139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089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7D64E1-0807-481B-B425-C06875E37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765" y="168275"/>
            <a:ext cx="10515600" cy="625701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无监督视频语义分割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en-US" b="1" dirty="0"/>
              <a:t>数据集：</a:t>
            </a:r>
            <a:r>
              <a:rPr lang="en-US" altLang="zh-CN" b="1" dirty="0"/>
              <a:t>DAVIS2016 (</a:t>
            </a:r>
            <a:r>
              <a:rPr lang="zh-CN" altLang="en-US" b="1" dirty="0"/>
              <a:t>前景和背景</a:t>
            </a:r>
            <a:r>
              <a:rPr lang="en-US" altLang="zh-CN" b="1" dirty="0"/>
              <a:t>)</a:t>
            </a:r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r>
              <a:rPr lang="en-US" altLang="zh-CN" b="1" dirty="0"/>
              <a:t>main contribution</a:t>
            </a:r>
          </a:p>
          <a:p>
            <a:r>
              <a:rPr lang="en-US" altLang="zh-CN" dirty="0" err="1"/>
              <a:t>COSNet</a:t>
            </a:r>
            <a:r>
              <a:rPr lang="zh-CN" altLang="en-US" dirty="0"/>
              <a:t>采用的训练方式是考虑一个</a:t>
            </a:r>
            <a:r>
              <a:rPr lang="en-US" altLang="zh-CN" dirty="0"/>
              <a:t>pair</a:t>
            </a:r>
            <a:r>
              <a:rPr lang="zh-CN" altLang="en-US" dirty="0"/>
              <a:t>，包含相同视频中的任意两帧，所以说极大的增加了数据量，不需要考虑时序关系，依次送入数据，而是可以打乱数据，随机组合。</a:t>
            </a:r>
          </a:p>
          <a:p>
            <a:r>
              <a:rPr lang="zh-CN" altLang="en-US" dirty="0"/>
              <a:t>显示建模帧和帧的联系，不依赖光流</a:t>
            </a:r>
          </a:p>
          <a:p>
            <a:r>
              <a:rPr lang="zh-CN" altLang="en-US" dirty="0"/>
              <a:t>统一的，端到端、可训练的高效网络</a:t>
            </a:r>
          </a:p>
          <a:p>
            <a:endParaRPr lang="zh-CN" altLang="en-US" dirty="0"/>
          </a:p>
        </p:txBody>
      </p:sp>
      <p:pic>
        <p:nvPicPr>
          <p:cNvPr id="5" name="图片 4" descr="图片包含 游戏机&#10;&#10;描述已自动生成">
            <a:extLst>
              <a:ext uri="{FF2B5EF4-FFF2-40B4-BE49-F238E27FC236}">
                <a16:creationId xmlns:a16="http://schemas.microsoft.com/office/drawing/2014/main" id="{B8C00B7C-644A-46FC-961B-7E22A3849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685" y="1339648"/>
            <a:ext cx="2932919" cy="1648479"/>
          </a:xfrm>
          <a:prstGeom prst="rect">
            <a:avLst/>
          </a:prstGeom>
        </p:spPr>
      </p:pic>
      <p:pic>
        <p:nvPicPr>
          <p:cNvPr id="7" name="图片 6" descr="熊站在石头上&#10;&#10;描述已自动生成">
            <a:extLst>
              <a:ext uri="{FF2B5EF4-FFF2-40B4-BE49-F238E27FC236}">
                <a16:creationId xmlns:a16="http://schemas.microsoft.com/office/drawing/2014/main" id="{DC6FFDD8-1D3E-4FC5-B5E2-11B4F768D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825" y="1339649"/>
            <a:ext cx="2932919" cy="164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16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8C0F4B-E84C-41D9-AFB0-B4241189C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Train stage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0CC70B2-2F25-4DDE-ABCA-16A40E7F0C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007" y="1566711"/>
            <a:ext cx="10853840" cy="3936964"/>
          </a:xfrm>
          <a:prstGeom prst="rect">
            <a:avLst/>
          </a:prstGeo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B8CF0BD0-5882-4025-BE97-D78F285778AE}"/>
              </a:ext>
            </a:extLst>
          </p:cNvPr>
          <p:cNvSpPr/>
          <p:nvPr/>
        </p:nvSpPr>
        <p:spPr>
          <a:xfrm>
            <a:off x="5768898" y="3196683"/>
            <a:ext cx="765717" cy="3642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9AA9ABB-1620-4FB8-BF36-F610ABE55441}"/>
              </a:ext>
            </a:extLst>
          </p:cNvPr>
          <p:cNvSpPr/>
          <p:nvPr/>
        </p:nvSpPr>
        <p:spPr>
          <a:xfrm>
            <a:off x="6791093" y="3170920"/>
            <a:ext cx="516673" cy="36427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07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3010AED-6A24-4AE0-ADDD-050E58F2F7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533" y="0"/>
            <a:ext cx="6415794" cy="345851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8415FCC-91CD-4EAE-A2CF-4B8B44873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83" y="3458515"/>
            <a:ext cx="6415794" cy="46506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442F360-D9D9-4819-8FCE-4FFF8055E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854" y="4530457"/>
            <a:ext cx="4767024" cy="214287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8F2D82C-2B38-4C17-8E8F-4C698C4D3AAD}"/>
              </a:ext>
            </a:extLst>
          </p:cNvPr>
          <p:cNvSpPr/>
          <p:nvPr/>
        </p:nvSpPr>
        <p:spPr>
          <a:xfrm>
            <a:off x="309983" y="3971628"/>
            <a:ext cx="24685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i="0" dirty="0">
                <a:solidFill>
                  <a:srgbClr val="4F4F4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Vanilla co-attention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24BCDC8-5527-411F-9313-CBF7439E71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5423" y="253797"/>
            <a:ext cx="5675399" cy="16416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9409E00-58E4-48DA-9989-C1FAE4E978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4307" y="2076307"/>
            <a:ext cx="5197693" cy="40911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7F5C9E5-4544-4827-A551-46D6B8E362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7227" y="3429000"/>
            <a:ext cx="5076080" cy="86627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F68E996-2226-438F-957B-E81FFF8F9CD2}"/>
              </a:ext>
            </a:extLst>
          </p:cNvPr>
          <p:cNvSpPr/>
          <p:nvPr/>
        </p:nvSpPr>
        <p:spPr>
          <a:xfrm>
            <a:off x="6897227" y="4340960"/>
            <a:ext cx="505394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100" b="0" i="0" dirty="0">
                <a:solidFill>
                  <a:srgbClr val="4D4D4D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那么一个对角矩阵和一个矩阵相乘，得到的结果其实是对角矩阵对角线的值乘以对应的列。可以视作增强了某一个通道</a:t>
            </a:r>
            <a:endParaRPr lang="zh-CN" altLang="en-US" sz="1100" dirty="0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8473356-3860-4BA7-BD33-0CE7F669578D}"/>
              </a:ext>
            </a:extLst>
          </p:cNvPr>
          <p:cNvSpPr/>
          <p:nvPr/>
        </p:nvSpPr>
        <p:spPr>
          <a:xfrm>
            <a:off x="2637770" y="540537"/>
            <a:ext cx="1417320" cy="11887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576B484-41DE-4E14-81AF-6335FA4A9032}"/>
              </a:ext>
            </a:extLst>
          </p:cNvPr>
          <p:cNvSpPr txBox="1"/>
          <p:nvPr/>
        </p:nvSpPr>
        <p:spPr>
          <a:xfrm flipH="1">
            <a:off x="4178807" y="253797"/>
            <a:ext cx="2121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nn.linear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565185F-D3A1-4151-B20C-56B9DB23B977}"/>
              </a:ext>
            </a:extLst>
          </p:cNvPr>
          <p:cNvCxnSpPr/>
          <p:nvPr/>
        </p:nvCxnSpPr>
        <p:spPr>
          <a:xfrm flipV="1">
            <a:off x="3968496" y="676656"/>
            <a:ext cx="246888" cy="15544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6144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73B9EE-B965-4C51-AA36-DCADC3687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3464"/>
            <a:ext cx="10515600" cy="5893499"/>
          </a:xfrm>
        </p:spPr>
        <p:txBody>
          <a:bodyPr/>
          <a:lstStyle/>
          <a:p>
            <a:r>
              <a:rPr lang="en-US" altLang="zh-CN" b="1" dirty="0"/>
              <a:t>Gated co-attention</a:t>
            </a:r>
          </a:p>
          <a:p>
            <a:r>
              <a:rPr lang="zh-CN" altLang="en-US" dirty="0"/>
              <a:t>作者引入</a:t>
            </a:r>
            <a:r>
              <a:rPr lang="en-US" altLang="zh-CN" dirty="0"/>
              <a:t>Gated</a:t>
            </a:r>
            <a:r>
              <a:rPr lang="zh-CN" altLang="en-US" dirty="0"/>
              <a:t>（门限），给学到的</a:t>
            </a:r>
            <a:r>
              <a:rPr lang="en-US" altLang="zh-CN" dirty="0"/>
              <a:t>Z</a:t>
            </a:r>
            <a:r>
              <a:rPr lang="zh-CN" altLang="en-US" dirty="0"/>
              <a:t>用同样大小的</a:t>
            </a:r>
            <a:r>
              <a:rPr lang="en-US" altLang="zh-CN" dirty="0"/>
              <a:t>map reweights</a:t>
            </a:r>
            <a:r>
              <a:rPr lang="zh-CN" altLang="en-US" dirty="0"/>
              <a:t>（空间注意力）</a:t>
            </a:r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07745EA-4BD6-4449-8D3E-36E8C1220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" y="2009121"/>
            <a:ext cx="6049604" cy="1063264"/>
          </a:xfrm>
          <a:prstGeom prst="rect">
            <a:avLst/>
          </a:prstGeom>
        </p:spPr>
      </p:pic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72D93A06-9CEE-4906-BED6-0698353ED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295" y="1472447"/>
            <a:ext cx="5890436" cy="21366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8E02CCA-2078-4096-9E6E-9B064D2F4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950" y="3429000"/>
            <a:ext cx="5043925" cy="66118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881B6B0-092D-4A63-8159-815B5C5493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176" y="4562416"/>
            <a:ext cx="6325972" cy="66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157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C2FE97B4-40D0-4C7D-BD17-CF695CD498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606" y="1398564"/>
            <a:ext cx="11130787" cy="224114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806AA86-60FD-4916-9BE3-4E8022EDB376}"/>
              </a:ext>
            </a:extLst>
          </p:cNvPr>
          <p:cNvSpPr txBox="1"/>
          <p:nvPr/>
        </p:nvSpPr>
        <p:spPr>
          <a:xfrm flipH="1">
            <a:off x="1207007" y="1161288"/>
            <a:ext cx="9262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          训练                                                                                             测试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2050AE-7541-4C46-8DCB-D3BF6A67191E}"/>
              </a:ext>
            </a:extLst>
          </p:cNvPr>
          <p:cNvSpPr/>
          <p:nvPr/>
        </p:nvSpPr>
        <p:spPr>
          <a:xfrm>
            <a:off x="460248" y="3751276"/>
            <a:ext cx="112897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训练</a:t>
            </a:r>
            <a:r>
              <a:rPr lang="zh-CN" altLang="en-US" dirty="0">
                <a:sym typeface="Wingdings" panose="05000000000000000000" pitchFamily="2" charset="2"/>
              </a:rPr>
              <a:t>（间隔训练）</a:t>
            </a:r>
            <a:endParaRPr lang="en-US" altLang="zh-CN" dirty="0"/>
          </a:p>
          <a:p>
            <a:r>
              <a:rPr lang="en-US" altLang="zh-CN" dirty="0"/>
              <a:t>If epoch%3!=0:</a:t>
            </a:r>
            <a:r>
              <a:rPr lang="zh-CN" altLang="en-US" dirty="0"/>
              <a:t>随机从一个视频中选出两帧，经过backbone，经过co-attention,最后concat上backbone的特征，送到一个分割模块中，得到的预测结果用于计算损失函数。</a:t>
            </a:r>
            <a:endParaRPr lang="en-US" altLang="zh-CN" dirty="0"/>
          </a:p>
          <a:p>
            <a:r>
              <a:rPr lang="en-US" altLang="zh-CN" dirty="0"/>
              <a:t>else:</a:t>
            </a:r>
            <a:r>
              <a:rPr lang="zh-CN" altLang="en-US" dirty="0"/>
              <a:t>作者提到使用在显著性数据集上预训练一个DeeplabV3，在deeplabV3后面加一个2通道的1x1的卷积作为输出。</a:t>
            </a:r>
            <a:endParaRPr lang="en-US" altLang="zh-CN" dirty="0"/>
          </a:p>
          <a:p>
            <a:endParaRPr lang="zh-CN" altLang="en-US" dirty="0"/>
          </a:p>
          <a:p>
            <a:endParaRPr lang="en-US" altLang="zh-CN" dirty="0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70BCF03-5119-4747-9149-5281DF25D08D}"/>
              </a:ext>
            </a:extLst>
          </p:cNvPr>
          <p:cNvCxnSpPr/>
          <p:nvPr/>
        </p:nvCxnSpPr>
        <p:spPr>
          <a:xfrm flipV="1">
            <a:off x="2185416" y="1627632"/>
            <a:ext cx="384048" cy="3931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1E9930F4-0C03-429F-98D7-684864CD8B67}"/>
              </a:ext>
            </a:extLst>
          </p:cNvPr>
          <p:cNvSpPr txBox="1"/>
          <p:nvPr/>
        </p:nvSpPr>
        <p:spPr>
          <a:xfrm flipH="1">
            <a:off x="2724910" y="1444730"/>
            <a:ext cx="3867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Else:</a:t>
            </a:r>
            <a:r>
              <a:rPr lang="zh-CN" altLang="en-US" sz="1400" dirty="0">
                <a:solidFill>
                  <a:srgbClr val="FF0000"/>
                </a:solidFill>
              </a:rPr>
              <a:t>直接</a:t>
            </a:r>
            <a:r>
              <a:rPr lang="en-US" altLang="zh-CN" sz="1400" dirty="0">
                <a:solidFill>
                  <a:srgbClr val="FF0000"/>
                </a:solidFill>
              </a:rPr>
              <a:t>8</a:t>
            </a:r>
            <a:r>
              <a:rPr lang="zh-CN" altLang="en-US" sz="1400" dirty="0">
                <a:solidFill>
                  <a:srgbClr val="FF0000"/>
                </a:solidFill>
              </a:rPr>
              <a:t>倍上采样得到输出训练（静态图）</a:t>
            </a:r>
          </a:p>
        </p:txBody>
      </p:sp>
    </p:spTree>
    <p:extLst>
      <p:ext uri="{BB962C8B-B14F-4D97-AF65-F5344CB8AC3E}">
        <p14:creationId xmlns:p14="http://schemas.microsoft.com/office/powerpoint/2010/main" val="33081362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F588FD4-7030-454F-A10E-58B42B345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594" y="2981650"/>
            <a:ext cx="7480684" cy="3429176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F87E3CD-4105-4AF4-95B7-F9CE0891A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020" y="557367"/>
            <a:ext cx="7984364" cy="224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72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4792A1C-3804-4269-8FA8-6B04DF852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36" y="311027"/>
            <a:ext cx="8753856" cy="55706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5E33EA8-5A7A-4E60-8CB8-3F050BC38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0626" y="2893836"/>
            <a:ext cx="3341374" cy="40501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6F410BC-3532-4464-943D-5ED8B8F9FFC7}"/>
              </a:ext>
            </a:extLst>
          </p:cNvPr>
          <p:cNvSpPr txBox="1"/>
          <p:nvPr/>
        </p:nvSpPr>
        <p:spPr>
          <a:xfrm>
            <a:off x="9418319" y="3189818"/>
            <a:ext cx="3259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对于</a:t>
            </a:r>
            <a:r>
              <a:rPr lang="en-US" altLang="zh-CN" dirty="0" err="1"/>
              <a:t>Xa</a:t>
            </a:r>
            <a:r>
              <a:rPr lang="zh-CN" altLang="en-US" dirty="0"/>
              <a:t>取平均</a:t>
            </a:r>
          </a:p>
        </p:txBody>
      </p:sp>
    </p:spTree>
    <p:extLst>
      <p:ext uri="{BB962C8B-B14F-4D97-AF65-F5344CB8AC3E}">
        <p14:creationId xmlns:p14="http://schemas.microsoft.com/office/powerpoint/2010/main" val="849975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9EA6F72-BFC0-4F1C-A74D-6BB541805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206" y="2717282"/>
            <a:ext cx="7047022" cy="28477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59B764-CCA7-4DF9-BA32-5152FED25A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06" y="475071"/>
            <a:ext cx="7984364" cy="2241763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01BD56B5-A79E-485A-A75A-78639163C5A8}"/>
              </a:ext>
            </a:extLst>
          </p:cNvPr>
          <p:cNvSpPr/>
          <p:nvPr/>
        </p:nvSpPr>
        <p:spPr>
          <a:xfrm>
            <a:off x="5641848" y="2980944"/>
            <a:ext cx="758952" cy="16093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623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73C5AF-A319-42DA-8C0D-017C8903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778954-CD90-4A16-BFB1-6592EEBB5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666" y="1340171"/>
            <a:ext cx="11053062" cy="263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545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CC674-0230-4085-A444-EADB8ED23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Pytorch</a:t>
            </a:r>
            <a:r>
              <a:rPr lang="zh-CN" altLang="en-US" dirty="0"/>
              <a:t>代码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467A7276-BC28-4A00-BAE3-448D02D3E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06" y="1398564"/>
            <a:ext cx="11130787" cy="224114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E0D6186-0A4E-4438-B3FA-2C8796B03B93}"/>
              </a:ext>
            </a:extLst>
          </p:cNvPr>
          <p:cNvSpPr txBox="1"/>
          <p:nvPr/>
        </p:nvSpPr>
        <p:spPr>
          <a:xfrm flipH="1">
            <a:off x="1207007" y="1161288"/>
            <a:ext cx="92628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          训练                                                                                             测试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FDB6BC-80F2-4768-BF88-CC96F743D7CD}"/>
              </a:ext>
            </a:extLst>
          </p:cNvPr>
          <p:cNvSpPr/>
          <p:nvPr/>
        </p:nvSpPr>
        <p:spPr>
          <a:xfrm>
            <a:off x="460248" y="3751276"/>
            <a:ext cx="112897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训练</a:t>
            </a:r>
            <a:r>
              <a:rPr lang="zh-CN" altLang="en-US" dirty="0">
                <a:sym typeface="Wingdings" panose="05000000000000000000" pitchFamily="2" charset="2"/>
              </a:rPr>
              <a:t>（间隔训练）</a:t>
            </a:r>
            <a:endParaRPr lang="en-US" altLang="zh-CN" dirty="0"/>
          </a:p>
          <a:p>
            <a:r>
              <a:rPr lang="en-US" altLang="zh-CN" dirty="0"/>
              <a:t>If epoch%3!=0:</a:t>
            </a:r>
            <a:r>
              <a:rPr lang="zh-CN" altLang="en-US" dirty="0"/>
              <a:t>随机从一个视频中选出两帧，经过backbone，经过co-attention,最后concat上backbone的特征，送到一个分割模块中，得到的预测结果用于计算损失函数。</a:t>
            </a:r>
            <a:r>
              <a:rPr lang="zh-CN" altLang="en-US" dirty="0">
                <a:solidFill>
                  <a:srgbClr val="FF0000"/>
                </a:solidFill>
              </a:rPr>
              <a:t>（使用自己标注的数据集）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/>
              <a:t>else:</a:t>
            </a:r>
            <a:r>
              <a:rPr lang="zh-CN" altLang="en-US" dirty="0"/>
              <a:t>作者提到使用在显著性数据集上预训练一个DeeplabV3，在deeplabV3后面加一个2通道的1x1的卷积作为输出。</a:t>
            </a:r>
            <a:r>
              <a:rPr lang="zh-CN" altLang="en-US" dirty="0">
                <a:solidFill>
                  <a:srgbClr val="FF0000"/>
                </a:solidFill>
              </a:rPr>
              <a:t>（使用袁非牛的数据集）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zh-CN" altLang="en-US" dirty="0"/>
          </a:p>
          <a:p>
            <a:endParaRPr lang="en-US" altLang="zh-CN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DDD361E-8DC1-446B-99D0-1FD504D459CF}"/>
              </a:ext>
            </a:extLst>
          </p:cNvPr>
          <p:cNvCxnSpPr/>
          <p:nvPr/>
        </p:nvCxnSpPr>
        <p:spPr>
          <a:xfrm flipV="1">
            <a:off x="2185416" y="1627632"/>
            <a:ext cx="384048" cy="3931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44382DF-16E8-47E5-A9AC-A1283D654C2B}"/>
              </a:ext>
            </a:extLst>
          </p:cNvPr>
          <p:cNvSpPr txBox="1"/>
          <p:nvPr/>
        </p:nvSpPr>
        <p:spPr>
          <a:xfrm flipH="1">
            <a:off x="2724910" y="1444730"/>
            <a:ext cx="38679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</a:rPr>
              <a:t>Else:</a:t>
            </a:r>
            <a:r>
              <a:rPr lang="zh-CN" altLang="en-US" sz="1400" dirty="0">
                <a:solidFill>
                  <a:srgbClr val="FF0000"/>
                </a:solidFill>
              </a:rPr>
              <a:t>直接</a:t>
            </a:r>
            <a:r>
              <a:rPr lang="en-US" altLang="zh-CN" sz="1400" dirty="0">
                <a:solidFill>
                  <a:srgbClr val="FF0000"/>
                </a:solidFill>
              </a:rPr>
              <a:t>8</a:t>
            </a:r>
            <a:r>
              <a:rPr lang="zh-CN" altLang="en-US" sz="1400" dirty="0">
                <a:solidFill>
                  <a:srgbClr val="FF0000"/>
                </a:solidFill>
              </a:rPr>
              <a:t>倍上采样得到输出训练（静态图）</a:t>
            </a:r>
          </a:p>
        </p:txBody>
      </p:sp>
    </p:spTree>
    <p:extLst>
      <p:ext uri="{BB962C8B-B14F-4D97-AF65-F5344CB8AC3E}">
        <p14:creationId xmlns:p14="http://schemas.microsoft.com/office/powerpoint/2010/main" val="3917795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402</Words>
  <Application>Microsoft Office PowerPoint</Application>
  <PresentationFormat>宽屏</PresentationFormat>
  <Paragraphs>30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等线 Light</vt:lpstr>
      <vt:lpstr>微软雅黑</vt:lpstr>
      <vt:lpstr>Arial</vt:lpstr>
      <vt:lpstr>Office 主题​​</vt:lpstr>
      <vt:lpstr>See More, Know More: Unsupervised Video Object Segmentation with Co-Attention Siamese Networks</vt:lpstr>
      <vt:lpstr>PowerPoint 演示文稿</vt:lpstr>
      <vt:lpstr>Train stage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result</vt:lpstr>
      <vt:lpstr>Pytorch代码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 More, Know More: Unsupervised Video Object Segmentation with Co-Attention Siamese Networks</dc:title>
  <dc:creator>林 昊琪</dc:creator>
  <cp:lastModifiedBy>林 昊琪</cp:lastModifiedBy>
  <cp:revision>7</cp:revision>
  <dcterms:created xsi:type="dcterms:W3CDTF">2020-04-30T01:09:26Z</dcterms:created>
  <dcterms:modified xsi:type="dcterms:W3CDTF">2020-04-30T02:24:13Z</dcterms:modified>
</cp:coreProperties>
</file>