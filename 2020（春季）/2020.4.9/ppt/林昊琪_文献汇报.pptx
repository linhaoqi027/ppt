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0" autoAdjust="0"/>
    <p:restoredTop sz="94660"/>
  </p:normalViewPr>
  <p:slideViewPr>
    <p:cSldViewPr snapToGrid="0">
      <p:cViewPr>
        <p:scale>
          <a:sx n="93" d="100"/>
          <a:sy n="93" d="100"/>
        </p:scale>
        <p:origin x="92" y="3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F3580-D8E9-4E5E-B181-90E47109877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13CF45-2D4D-4932-8885-3E1A3D09BD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82503CF-B7F7-4240-B4A4-59F41AA2005B}"/>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5" name="页脚占位符 4">
            <a:extLst>
              <a:ext uri="{FF2B5EF4-FFF2-40B4-BE49-F238E27FC236}">
                <a16:creationId xmlns:a16="http://schemas.microsoft.com/office/drawing/2014/main" id="{E5D67C90-3F2B-49A6-9919-036D10CB65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517FE8-33FA-4270-8EBC-63D7303B95B2}"/>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121206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CBEC1-DF8B-4EF1-B2D7-A10EF97C177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BDC800-9A15-4046-A88B-3DB09357804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BEDAF44-987D-4F08-8CFF-65FF678B83BE}"/>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5" name="页脚占位符 4">
            <a:extLst>
              <a:ext uri="{FF2B5EF4-FFF2-40B4-BE49-F238E27FC236}">
                <a16:creationId xmlns:a16="http://schemas.microsoft.com/office/drawing/2014/main" id="{17AAAF53-71B2-4CF9-8CA0-2A96735BC6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9D2C97-99C2-4522-946C-A8C4E7B0E175}"/>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3267239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C4E9C-8997-42CB-9E65-4E91A74FDFA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9346742-37A3-424D-A18F-ADAC823CB9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30453E7-F796-4E01-90AD-E6A0130F3509}"/>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5" name="页脚占位符 4">
            <a:extLst>
              <a:ext uri="{FF2B5EF4-FFF2-40B4-BE49-F238E27FC236}">
                <a16:creationId xmlns:a16="http://schemas.microsoft.com/office/drawing/2014/main" id="{DBDF3B9A-41A6-4150-9A2F-3A54B68A101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C112A1-CF88-47BB-A0DF-D3EC306CB284}"/>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4005012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F94F58-826C-4E60-98EB-40675BEBD5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212786-78B9-481B-A406-0EDBC3DB9A2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DFE666B-FE0D-4BB8-9A04-72C9A5580CD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9153D4E-6085-46F1-824F-63D4B188D3DE}"/>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6" name="页脚占位符 5">
            <a:extLst>
              <a:ext uri="{FF2B5EF4-FFF2-40B4-BE49-F238E27FC236}">
                <a16:creationId xmlns:a16="http://schemas.microsoft.com/office/drawing/2014/main" id="{1EE6DAB1-20BC-43FC-B6EE-852E6BCB8C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0884EF9-214F-4E24-B893-9249E9A85C07}"/>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3348489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F1992F-C7A7-42DF-9C52-D51ED821A3A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1E14939-FB59-4F11-B803-7E40D55611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D8BB05B-ABCC-441D-B7FC-A2980269034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4AA1049-910E-40BE-9E76-476BF2FB82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EF55DB8-27E6-447A-BDC7-9E96139C03F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EA511B8-1DF1-4036-814D-BC7B1965018A}"/>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8" name="页脚占位符 7">
            <a:extLst>
              <a:ext uri="{FF2B5EF4-FFF2-40B4-BE49-F238E27FC236}">
                <a16:creationId xmlns:a16="http://schemas.microsoft.com/office/drawing/2014/main" id="{D1F64687-53DF-40F2-BE7B-90D5B211D5D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8A921E1-96DB-44F3-B0F9-7B14A3353558}"/>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428431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FB88A-1422-4AE4-A35C-D11823124C4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EE68BC2-ECD6-40B2-BA60-BA5DA2088FD4}"/>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4" name="页脚占位符 3">
            <a:extLst>
              <a:ext uri="{FF2B5EF4-FFF2-40B4-BE49-F238E27FC236}">
                <a16:creationId xmlns:a16="http://schemas.microsoft.com/office/drawing/2014/main" id="{96502439-4B80-4A94-8FF2-AF385CAABEF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CC9D86E-4A31-4B19-B2F0-F4800DC4A446}"/>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2252311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5CC2AD-8458-40F0-8C2C-C51B1918DD77}"/>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3" name="页脚占位符 2">
            <a:extLst>
              <a:ext uri="{FF2B5EF4-FFF2-40B4-BE49-F238E27FC236}">
                <a16:creationId xmlns:a16="http://schemas.microsoft.com/office/drawing/2014/main" id="{D72B7599-7D25-4F4E-A478-FE6E5532EFA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2ACEA09-3466-49FB-BCF4-53697350BE39}"/>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558233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2CF3A7-B2B8-4C8B-970C-AA921E3F0EC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026545C-F061-4E1D-BD80-87FC138500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0A3CDAA-9647-422F-AB94-1AD4C2C75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9FB8B87-822B-4B9E-B4A1-0DE6E2BE7564}"/>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6" name="页脚占位符 5">
            <a:extLst>
              <a:ext uri="{FF2B5EF4-FFF2-40B4-BE49-F238E27FC236}">
                <a16:creationId xmlns:a16="http://schemas.microsoft.com/office/drawing/2014/main" id="{E7FD2838-724A-497B-9307-572D48014DC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123F555-CA9A-474A-B074-0971BF94C27C}"/>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67630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59EE54-C609-4A5D-888D-33B8D03552E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B76079A-A8F0-4E06-ACFD-49B250A6A1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1D20407-802B-4E47-A4F1-1C8384CCF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A1E4424-A087-41E9-BBEA-F8692656B31E}"/>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6" name="页脚占位符 5">
            <a:extLst>
              <a:ext uri="{FF2B5EF4-FFF2-40B4-BE49-F238E27FC236}">
                <a16:creationId xmlns:a16="http://schemas.microsoft.com/office/drawing/2014/main" id="{5A4FAB86-4A36-4F55-8480-3354F5BFCCF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934E7A5-1B76-42C9-B36D-D6A62BF4FD68}"/>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3609572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0E5BE-757A-4A56-8324-5D40C4DA1DE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38E7A5-04A6-4929-9AD4-7B437F12983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C4FD09-FC11-4862-A747-F2632DD576D8}"/>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5" name="页脚占位符 4">
            <a:extLst>
              <a:ext uri="{FF2B5EF4-FFF2-40B4-BE49-F238E27FC236}">
                <a16:creationId xmlns:a16="http://schemas.microsoft.com/office/drawing/2014/main" id="{34CD47C9-1BD6-4150-AA4E-DC312E7BFE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4DE28A-9B10-41C6-8665-5BB68BF84238}"/>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3245904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677A47F-10D9-4BEC-AC09-99390862076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C379F85-D70E-4397-A29F-D2AF32BB988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CF8483-7BE5-4459-AB3D-47716B827F23}"/>
              </a:ext>
            </a:extLst>
          </p:cNvPr>
          <p:cNvSpPr>
            <a:spLocks noGrp="1"/>
          </p:cNvSpPr>
          <p:nvPr>
            <p:ph type="dt" sz="half" idx="10"/>
          </p:nvPr>
        </p:nvSpPr>
        <p:spPr/>
        <p:txBody>
          <a:bodyPr/>
          <a:lstStyle/>
          <a:p>
            <a:fld id="{1389CFA8-C6ED-4EEE-839D-2D770EF51C5F}" type="datetimeFigureOut">
              <a:rPr lang="zh-CN" altLang="en-US" smtClean="0"/>
              <a:t>2020/4/9</a:t>
            </a:fld>
            <a:endParaRPr lang="zh-CN" altLang="en-US"/>
          </a:p>
        </p:txBody>
      </p:sp>
      <p:sp>
        <p:nvSpPr>
          <p:cNvPr id="5" name="页脚占位符 4">
            <a:extLst>
              <a:ext uri="{FF2B5EF4-FFF2-40B4-BE49-F238E27FC236}">
                <a16:creationId xmlns:a16="http://schemas.microsoft.com/office/drawing/2014/main" id="{6209AB95-F67A-4A5B-8428-B4281D6C1D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90845A-D45C-4E0E-BA58-388AA22A4FE2}"/>
              </a:ext>
            </a:extLst>
          </p:cNvPr>
          <p:cNvSpPr>
            <a:spLocks noGrp="1"/>
          </p:cNvSpPr>
          <p:nvPr>
            <p:ph type="sldNum" sz="quarter" idx="12"/>
          </p:nvPr>
        </p:nvSpPr>
        <p:spPr/>
        <p:txBody>
          <a:body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2813840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D71C1F-A66A-4B7C-B796-F0AE867D48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6D10AD2-B467-46AB-BD4C-83D8D2FEB4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930C7B0-99DA-4ADC-91D3-097B09F9E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89CFA8-C6ED-4EEE-839D-2D770EF51C5F}" type="datetimeFigureOut">
              <a:rPr lang="zh-CN" altLang="en-US" smtClean="0"/>
              <a:t>2020/4/9</a:t>
            </a:fld>
            <a:endParaRPr lang="zh-CN" altLang="en-US"/>
          </a:p>
        </p:txBody>
      </p:sp>
      <p:sp>
        <p:nvSpPr>
          <p:cNvPr id="5" name="页脚占位符 4">
            <a:extLst>
              <a:ext uri="{FF2B5EF4-FFF2-40B4-BE49-F238E27FC236}">
                <a16:creationId xmlns:a16="http://schemas.microsoft.com/office/drawing/2014/main" id="{68F8D5EF-D140-42F5-898F-97C2DBACB3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188933D-275F-475A-AEE3-3D51D8949C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BD2985-D3E2-4A04-A393-ABB4A9A5FEF5}" type="slidenum">
              <a:rPr lang="zh-CN" altLang="en-US" smtClean="0"/>
              <a:t>‹#›</a:t>
            </a:fld>
            <a:endParaRPr lang="zh-CN" altLang="en-US"/>
          </a:p>
        </p:txBody>
      </p:sp>
    </p:spTree>
    <p:extLst>
      <p:ext uri="{BB962C8B-B14F-4D97-AF65-F5344CB8AC3E}">
        <p14:creationId xmlns:p14="http://schemas.microsoft.com/office/powerpoint/2010/main" val="3387339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B5A7AE-DEF4-4FC2-A2FA-B435051836B4}"/>
              </a:ext>
            </a:extLst>
          </p:cNvPr>
          <p:cNvSpPr>
            <a:spLocks noGrp="1"/>
          </p:cNvSpPr>
          <p:nvPr>
            <p:ph type="ctrTitle"/>
          </p:nvPr>
        </p:nvSpPr>
        <p:spPr>
          <a:xfrm>
            <a:off x="1138990" y="531097"/>
            <a:ext cx="9144000" cy="905817"/>
          </a:xfrm>
        </p:spPr>
        <p:txBody>
          <a:bodyPr>
            <a:normAutofit fontScale="90000"/>
          </a:bodyPr>
          <a:lstStyle/>
          <a:p>
            <a:r>
              <a:rPr lang="zh-CN" altLang="en-US" dirty="0"/>
              <a:t>组会报告</a:t>
            </a:r>
          </a:p>
        </p:txBody>
      </p:sp>
      <p:pic>
        <p:nvPicPr>
          <p:cNvPr id="6" name="图片 5">
            <a:extLst>
              <a:ext uri="{FF2B5EF4-FFF2-40B4-BE49-F238E27FC236}">
                <a16:creationId xmlns:a16="http://schemas.microsoft.com/office/drawing/2014/main" id="{9A0EAA38-07E7-439A-9902-3998D5DA11FF}"/>
              </a:ext>
            </a:extLst>
          </p:cNvPr>
          <p:cNvPicPr>
            <a:picLocks noChangeAspect="1"/>
          </p:cNvPicPr>
          <p:nvPr/>
        </p:nvPicPr>
        <p:blipFill>
          <a:blip r:embed="rId2"/>
          <a:stretch>
            <a:fillRect/>
          </a:stretch>
        </p:blipFill>
        <p:spPr>
          <a:xfrm>
            <a:off x="570641" y="2169391"/>
            <a:ext cx="4757876" cy="2664691"/>
          </a:xfrm>
          <a:prstGeom prst="rect">
            <a:avLst/>
          </a:prstGeom>
        </p:spPr>
      </p:pic>
      <p:sp>
        <p:nvSpPr>
          <p:cNvPr id="7" name="文本框 6">
            <a:extLst>
              <a:ext uri="{FF2B5EF4-FFF2-40B4-BE49-F238E27FC236}">
                <a16:creationId xmlns:a16="http://schemas.microsoft.com/office/drawing/2014/main" id="{9FD8C1CE-FC70-4115-AC4E-DA8B31FA40A7}"/>
              </a:ext>
            </a:extLst>
          </p:cNvPr>
          <p:cNvSpPr txBox="1"/>
          <p:nvPr/>
        </p:nvSpPr>
        <p:spPr>
          <a:xfrm>
            <a:off x="570641" y="1523062"/>
            <a:ext cx="2031325" cy="646331"/>
          </a:xfrm>
          <a:prstGeom prst="rect">
            <a:avLst/>
          </a:prstGeom>
          <a:noFill/>
        </p:spPr>
        <p:txBody>
          <a:bodyPr wrap="none" rtlCol="0">
            <a:spAutoFit/>
          </a:bodyPr>
          <a:lstStyle/>
          <a:p>
            <a:r>
              <a:rPr lang="zh-CN" altLang="en-US" dirty="0"/>
              <a:t>特征传播：</a:t>
            </a:r>
            <a:endParaRPr lang="en-US" altLang="zh-CN" dirty="0"/>
          </a:p>
          <a:p>
            <a:r>
              <a:rPr lang="zh-CN" altLang="en-US" dirty="0"/>
              <a:t>加速检测损失精度</a:t>
            </a:r>
          </a:p>
        </p:txBody>
      </p:sp>
      <p:pic>
        <p:nvPicPr>
          <p:cNvPr id="8" name="图片 7">
            <a:extLst>
              <a:ext uri="{FF2B5EF4-FFF2-40B4-BE49-F238E27FC236}">
                <a16:creationId xmlns:a16="http://schemas.microsoft.com/office/drawing/2014/main" id="{DEBE1B5F-53F8-42FE-8738-04E735113F83}"/>
              </a:ext>
            </a:extLst>
          </p:cNvPr>
          <p:cNvPicPr>
            <a:picLocks noChangeAspect="1"/>
          </p:cNvPicPr>
          <p:nvPr/>
        </p:nvPicPr>
        <p:blipFill>
          <a:blip r:embed="rId3"/>
          <a:stretch>
            <a:fillRect/>
          </a:stretch>
        </p:blipFill>
        <p:spPr>
          <a:xfrm>
            <a:off x="6394703" y="2308229"/>
            <a:ext cx="4454343" cy="2882031"/>
          </a:xfrm>
          <a:prstGeom prst="rect">
            <a:avLst/>
          </a:prstGeom>
        </p:spPr>
      </p:pic>
      <p:sp>
        <p:nvSpPr>
          <p:cNvPr id="9" name="矩形 8">
            <a:extLst>
              <a:ext uri="{FF2B5EF4-FFF2-40B4-BE49-F238E27FC236}">
                <a16:creationId xmlns:a16="http://schemas.microsoft.com/office/drawing/2014/main" id="{6A988B90-15BD-4C02-8988-A8CC8B4680DE}"/>
              </a:ext>
            </a:extLst>
          </p:cNvPr>
          <p:cNvSpPr/>
          <p:nvPr/>
        </p:nvSpPr>
        <p:spPr>
          <a:xfrm>
            <a:off x="6272464" y="1479987"/>
            <a:ext cx="6096000" cy="646331"/>
          </a:xfrm>
          <a:prstGeom prst="rect">
            <a:avLst/>
          </a:prstGeom>
        </p:spPr>
        <p:txBody>
          <a:bodyPr>
            <a:spAutoFit/>
          </a:bodyPr>
          <a:lstStyle/>
          <a:p>
            <a:r>
              <a:rPr lang="zh-CN" altLang="en-US" dirty="0"/>
              <a:t>特征聚合：</a:t>
            </a:r>
            <a:endParaRPr lang="en-US" altLang="zh-CN" dirty="0"/>
          </a:p>
          <a:p>
            <a:r>
              <a:rPr lang="zh-CN" altLang="en-US" dirty="0"/>
              <a:t>损失速度，加强检测精度</a:t>
            </a:r>
          </a:p>
        </p:txBody>
      </p:sp>
      <p:sp>
        <p:nvSpPr>
          <p:cNvPr id="10" name="文本框 9">
            <a:extLst>
              <a:ext uri="{FF2B5EF4-FFF2-40B4-BE49-F238E27FC236}">
                <a16:creationId xmlns:a16="http://schemas.microsoft.com/office/drawing/2014/main" id="{95EDE037-5F88-4FAC-A7F8-70A7D21CDEA5}"/>
              </a:ext>
            </a:extLst>
          </p:cNvPr>
          <p:cNvSpPr txBox="1"/>
          <p:nvPr/>
        </p:nvSpPr>
        <p:spPr>
          <a:xfrm>
            <a:off x="7150195" y="990621"/>
            <a:ext cx="2007281" cy="369332"/>
          </a:xfrm>
          <a:prstGeom prst="rect">
            <a:avLst/>
          </a:prstGeom>
          <a:noFill/>
        </p:spPr>
        <p:txBody>
          <a:bodyPr wrap="none" rtlCol="0">
            <a:spAutoFit/>
          </a:bodyPr>
          <a:lstStyle/>
          <a:p>
            <a:r>
              <a:rPr lang="en-US" altLang="zh-CN" dirty="0"/>
              <a:t>Bilibili:av14789193</a:t>
            </a:r>
            <a:endParaRPr lang="zh-CN" altLang="en-US" dirty="0"/>
          </a:p>
        </p:txBody>
      </p:sp>
      <p:sp>
        <p:nvSpPr>
          <p:cNvPr id="11" name="椭圆 10">
            <a:extLst>
              <a:ext uri="{FF2B5EF4-FFF2-40B4-BE49-F238E27FC236}">
                <a16:creationId xmlns:a16="http://schemas.microsoft.com/office/drawing/2014/main" id="{F2BE59F8-820E-427E-926B-3C2541D1B632}"/>
              </a:ext>
            </a:extLst>
          </p:cNvPr>
          <p:cNvSpPr/>
          <p:nvPr/>
        </p:nvSpPr>
        <p:spPr>
          <a:xfrm>
            <a:off x="2165684" y="3911982"/>
            <a:ext cx="742521" cy="22688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72E19C7D-F6F4-4FC5-8817-067A8F44DE10}"/>
              </a:ext>
            </a:extLst>
          </p:cNvPr>
          <p:cNvSpPr/>
          <p:nvPr/>
        </p:nvSpPr>
        <p:spPr>
          <a:xfrm>
            <a:off x="7150195" y="3315559"/>
            <a:ext cx="742521" cy="5482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EEE43185-B6F5-4DD4-8337-D4CAF0592CF1}"/>
              </a:ext>
            </a:extLst>
          </p:cNvPr>
          <p:cNvSpPr/>
          <p:nvPr/>
        </p:nvSpPr>
        <p:spPr>
          <a:xfrm>
            <a:off x="7165093" y="4059224"/>
            <a:ext cx="742521" cy="54829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9CB204CA-1103-4832-BDDD-E42AC7B4A8F2}"/>
              </a:ext>
            </a:extLst>
          </p:cNvPr>
          <p:cNvCxnSpPr/>
          <p:nvPr/>
        </p:nvCxnSpPr>
        <p:spPr>
          <a:xfrm>
            <a:off x="2536944" y="4138863"/>
            <a:ext cx="1911303" cy="16844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60077D7-700E-4EBA-BE65-556C7C45FE0B}"/>
              </a:ext>
            </a:extLst>
          </p:cNvPr>
          <p:cNvCxnSpPr/>
          <p:nvPr/>
        </p:nvCxnSpPr>
        <p:spPr>
          <a:xfrm flipH="1">
            <a:off x="4599501" y="3749244"/>
            <a:ext cx="2565592" cy="206029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9" name="直接连接符 18">
            <a:extLst>
              <a:ext uri="{FF2B5EF4-FFF2-40B4-BE49-F238E27FC236}">
                <a16:creationId xmlns:a16="http://schemas.microsoft.com/office/drawing/2014/main" id="{E38B85C0-56E7-4A7E-A661-E9C37D3A80AE}"/>
              </a:ext>
            </a:extLst>
          </p:cNvPr>
          <p:cNvCxnSpPr/>
          <p:nvPr/>
        </p:nvCxnSpPr>
        <p:spPr>
          <a:xfrm flipH="1">
            <a:off x="4737005" y="4607521"/>
            <a:ext cx="2557815" cy="123389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06B6B697-3F60-4CEB-BC9E-A38A89F51AF2}"/>
              </a:ext>
            </a:extLst>
          </p:cNvPr>
          <p:cNvSpPr txBox="1"/>
          <p:nvPr/>
        </p:nvSpPr>
        <p:spPr>
          <a:xfrm>
            <a:off x="2134373" y="5787811"/>
            <a:ext cx="6399509" cy="646331"/>
          </a:xfrm>
          <a:prstGeom prst="rect">
            <a:avLst/>
          </a:prstGeom>
          <a:noFill/>
        </p:spPr>
        <p:txBody>
          <a:bodyPr wrap="none" rtlCol="0">
            <a:spAutoFit/>
          </a:bodyPr>
          <a:lstStyle/>
          <a:p>
            <a:r>
              <a:rPr lang="en-US" altLang="zh-CN" dirty="0"/>
              <a:t>1.</a:t>
            </a:r>
            <a:r>
              <a:rPr lang="zh-CN" altLang="en-US" dirty="0"/>
              <a:t>将</a:t>
            </a:r>
            <a:r>
              <a:rPr lang="en-US" altLang="zh-CN" dirty="0" err="1"/>
              <a:t>flownet</a:t>
            </a:r>
            <a:r>
              <a:rPr lang="zh-CN" altLang="en-US" dirty="0"/>
              <a:t>换成其他能有效捕捉位置关系的先验（烟雾运动）</a:t>
            </a:r>
            <a:endParaRPr lang="en-US" altLang="zh-CN" dirty="0"/>
          </a:p>
          <a:p>
            <a:r>
              <a:rPr lang="en-US" altLang="zh-CN" dirty="0"/>
              <a:t>2.</a:t>
            </a:r>
            <a:r>
              <a:rPr lang="zh-CN" altLang="en-US" dirty="0"/>
              <a:t>头部网络可以共享</a:t>
            </a:r>
          </a:p>
        </p:txBody>
      </p:sp>
    </p:spTree>
    <p:extLst>
      <p:ext uri="{BB962C8B-B14F-4D97-AF65-F5344CB8AC3E}">
        <p14:creationId xmlns:p14="http://schemas.microsoft.com/office/powerpoint/2010/main" val="2699275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C9F71A-63E5-498B-AF10-16EB1B5D078F}"/>
              </a:ext>
            </a:extLst>
          </p:cNvPr>
          <p:cNvSpPr>
            <a:spLocks noGrp="1"/>
          </p:cNvSpPr>
          <p:nvPr>
            <p:ph type="title"/>
          </p:nvPr>
        </p:nvSpPr>
        <p:spPr>
          <a:xfrm>
            <a:off x="838200" y="365126"/>
            <a:ext cx="10515600" cy="1016788"/>
          </a:xfrm>
        </p:spPr>
        <p:txBody>
          <a:bodyPr/>
          <a:lstStyle/>
          <a:p>
            <a:r>
              <a:rPr lang="en-US" altLang="zh-CN" dirty="0"/>
              <a:t>Deformable Convolutional Networks</a:t>
            </a:r>
            <a:endParaRPr lang="zh-CN" altLang="en-US" dirty="0"/>
          </a:p>
        </p:txBody>
      </p:sp>
      <p:sp>
        <p:nvSpPr>
          <p:cNvPr id="3" name="内容占位符 2">
            <a:extLst>
              <a:ext uri="{FF2B5EF4-FFF2-40B4-BE49-F238E27FC236}">
                <a16:creationId xmlns:a16="http://schemas.microsoft.com/office/drawing/2014/main" id="{FE5E124F-D7D2-42DE-9480-AB6C96BEB68B}"/>
              </a:ext>
            </a:extLst>
          </p:cNvPr>
          <p:cNvSpPr>
            <a:spLocks noGrp="1"/>
          </p:cNvSpPr>
          <p:nvPr>
            <p:ph idx="1"/>
          </p:nvPr>
        </p:nvSpPr>
        <p:spPr>
          <a:xfrm>
            <a:off x="81930" y="1292536"/>
            <a:ext cx="10515600" cy="4932554"/>
          </a:xfrm>
        </p:spPr>
        <p:txBody>
          <a:bodyPr>
            <a:normAutofit/>
          </a:bodyPr>
          <a:lstStyle/>
          <a:p>
            <a:r>
              <a:rPr lang="zh-CN" altLang="en-US" sz="2000" dirty="0"/>
              <a:t>传统的</a:t>
            </a:r>
            <a:r>
              <a:rPr lang="en-US" altLang="zh-CN" sz="2000" dirty="0"/>
              <a:t>CNN</a:t>
            </a:r>
            <a:r>
              <a:rPr lang="zh-CN" altLang="en-US" sz="2000" dirty="0"/>
              <a:t>只能靠一些简单的方法</a:t>
            </a:r>
            <a:r>
              <a:rPr lang="en-US" altLang="zh-CN" sz="2000" dirty="0"/>
              <a:t>(</a:t>
            </a:r>
            <a:r>
              <a:rPr lang="zh-CN" altLang="en-US" sz="2000" dirty="0"/>
              <a:t>比如</a:t>
            </a:r>
            <a:r>
              <a:rPr lang="en-US" altLang="zh-CN" sz="2000" dirty="0"/>
              <a:t>max pooling)</a:t>
            </a:r>
            <a:r>
              <a:rPr lang="zh-CN" altLang="en-US" sz="2000" dirty="0"/>
              <a:t>来适应物体的形变，如果形变的太厉害就无能为力了。为了改变这种情况专家们想了很多方法，最常见的有两种：</a:t>
            </a:r>
            <a:br>
              <a:rPr lang="zh-CN" altLang="en-US" sz="2000" dirty="0"/>
            </a:br>
            <a:r>
              <a:rPr lang="en-US" altLang="zh-CN" sz="2000" b="1" dirty="0"/>
              <a:t>1</a:t>
            </a:r>
            <a:r>
              <a:rPr lang="zh-CN" altLang="en-US" sz="2000" b="1" dirty="0"/>
              <a:t>、使用大量的数据进行训练。</a:t>
            </a:r>
            <a:r>
              <a:rPr lang="zh-CN" altLang="en-US" sz="2000" dirty="0"/>
              <a:t>比如用</a:t>
            </a:r>
            <a:r>
              <a:rPr lang="en-US" altLang="zh-CN" sz="2000" dirty="0"/>
              <a:t>ImageNet</a:t>
            </a:r>
            <a:r>
              <a:rPr lang="zh-CN" altLang="en-US" sz="2000" dirty="0"/>
              <a:t>数据集，再在其基础上做翻转等变化来扩展数据集，通俗地说就是通过穷举的方法使模型能够适应各种形状的物体，这种方法收敛较慢而且要设计复杂的网络结构才能达到理想的结果。</a:t>
            </a:r>
            <a:br>
              <a:rPr lang="zh-CN" altLang="en-US" sz="2000" dirty="0"/>
            </a:br>
            <a:r>
              <a:rPr lang="en-US" altLang="zh-CN" sz="2000" b="1" dirty="0"/>
              <a:t>2</a:t>
            </a:r>
            <a:r>
              <a:rPr lang="zh-CN" altLang="en-US" sz="2000" b="1" dirty="0"/>
              <a:t>、设计一些特殊的算法来适应形变。</a:t>
            </a:r>
            <a:r>
              <a:rPr lang="zh-CN" altLang="en-US" sz="2000" dirty="0"/>
              <a:t>比如</a:t>
            </a:r>
            <a:r>
              <a:rPr lang="en-US" altLang="zh-CN" sz="2000" dirty="0"/>
              <a:t>SIFT</a:t>
            </a:r>
            <a:r>
              <a:rPr lang="zh-CN" altLang="en-US" sz="2000" dirty="0"/>
              <a:t>，目标检测时用滑动窗口法来适应目标在不同位置上的分类也属于这类。</a:t>
            </a:r>
            <a:endParaRPr lang="en-US" altLang="zh-CN" sz="2000" dirty="0"/>
          </a:p>
          <a:p>
            <a:endParaRPr lang="en-US" altLang="zh-CN" sz="2000" dirty="0"/>
          </a:p>
          <a:p>
            <a:r>
              <a:rPr lang="zh-CN" altLang="en-US" sz="2000" dirty="0"/>
              <a:t>对第一种方法，如果用训练中没有遇到过的新形状物体</a:t>
            </a:r>
            <a:r>
              <a:rPr lang="en-US" altLang="zh-CN" sz="2000" dirty="0"/>
              <a:t>(</a:t>
            </a:r>
            <a:r>
              <a:rPr lang="zh-CN" altLang="en-US" sz="2000" dirty="0"/>
              <a:t>但同属于一类</a:t>
            </a:r>
            <a:r>
              <a:rPr lang="en-US" altLang="zh-CN" sz="2000" dirty="0"/>
              <a:t>)</a:t>
            </a:r>
            <a:r>
              <a:rPr lang="zh-CN" altLang="en-US" sz="2000" dirty="0"/>
              <a:t>来做测试，由于新形状没有训练过，会造成测试不准确，而且靠数据集来适应形变的训练过程太耗时，网络结构也必须设计的很复杂；对于第二种方法，如果物体的形状极其复杂，要设计出能适应这种复杂结构的算法就更困难了。</a:t>
            </a:r>
          </a:p>
          <a:p>
            <a:endParaRPr lang="en-US" altLang="zh-CN" sz="1600" dirty="0"/>
          </a:p>
          <a:p>
            <a:endParaRPr lang="zh-CN" altLang="en-US" dirty="0"/>
          </a:p>
        </p:txBody>
      </p:sp>
    </p:spTree>
    <p:extLst>
      <p:ext uri="{BB962C8B-B14F-4D97-AF65-F5344CB8AC3E}">
        <p14:creationId xmlns:p14="http://schemas.microsoft.com/office/powerpoint/2010/main" val="2570556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80819C7-DD9E-4047-99A5-1C95C4BB1150}"/>
              </a:ext>
            </a:extLst>
          </p:cNvPr>
          <p:cNvSpPr>
            <a:spLocks noGrp="1"/>
          </p:cNvSpPr>
          <p:nvPr>
            <p:ph idx="1"/>
          </p:nvPr>
        </p:nvSpPr>
        <p:spPr>
          <a:xfrm>
            <a:off x="920702" y="82502"/>
            <a:ext cx="8690811" cy="5998208"/>
          </a:xfrm>
        </p:spPr>
        <p:txBody>
          <a:bodyPr>
            <a:normAutofit/>
          </a:bodyPr>
          <a:lstStyle/>
          <a:p>
            <a:r>
              <a:rPr lang="zh-CN" altLang="en-US" sz="1600" dirty="0"/>
              <a:t>为了解决这个问题，提出了一种可形变的卷积结构</a:t>
            </a:r>
            <a:r>
              <a:rPr lang="en-US" altLang="zh-CN" sz="1600" dirty="0"/>
              <a:t>(Deformable Convolution Networks)</a:t>
            </a:r>
            <a:r>
              <a:rPr lang="zh-CN" altLang="en-US" sz="1600" dirty="0"/>
              <a:t>。它对感受野上的每一个点加一个偏移量，偏移的大小是通过学习得来的，偏移后感受野不再是个正方形，而是和物体的实际形状相匹配。这么做的好处就是无论物体怎么形变，卷积的区域始终覆盖在物体形状的周围。</a:t>
            </a:r>
          </a:p>
        </p:txBody>
      </p:sp>
      <p:pic>
        <p:nvPicPr>
          <p:cNvPr id="5" name="图片 4">
            <a:extLst>
              <a:ext uri="{FF2B5EF4-FFF2-40B4-BE49-F238E27FC236}">
                <a16:creationId xmlns:a16="http://schemas.microsoft.com/office/drawing/2014/main" id="{349074DF-157D-48F2-A56C-440E7B17E637}"/>
              </a:ext>
            </a:extLst>
          </p:cNvPr>
          <p:cNvPicPr>
            <a:picLocks noChangeAspect="1"/>
          </p:cNvPicPr>
          <p:nvPr/>
        </p:nvPicPr>
        <p:blipFill>
          <a:blip r:embed="rId2"/>
          <a:stretch>
            <a:fillRect/>
          </a:stretch>
        </p:blipFill>
        <p:spPr>
          <a:xfrm>
            <a:off x="1241186" y="1192449"/>
            <a:ext cx="4635738" cy="3359323"/>
          </a:xfrm>
          <a:prstGeom prst="rect">
            <a:avLst/>
          </a:prstGeom>
        </p:spPr>
      </p:pic>
      <p:sp>
        <p:nvSpPr>
          <p:cNvPr id="6" name="椭圆 5">
            <a:extLst>
              <a:ext uri="{FF2B5EF4-FFF2-40B4-BE49-F238E27FC236}">
                <a16:creationId xmlns:a16="http://schemas.microsoft.com/office/drawing/2014/main" id="{22CA4DE4-485F-4942-A8CB-3D0A72EB19FF}"/>
              </a:ext>
            </a:extLst>
          </p:cNvPr>
          <p:cNvSpPr/>
          <p:nvPr/>
        </p:nvSpPr>
        <p:spPr>
          <a:xfrm>
            <a:off x="3559055" y="1361288"/>
            <a:ext cx="1045029" cy="10794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53065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EE68A9-D5D1-40EA-833B-9883B0D3490A}"/>
              </a:ext>
            </a:extLst>
          </p:cNvPr>
          <p:cNvSpPr>
            <a:spLocks noGrp="1"/>
          </p:cNvSpPr>
          <p:nvPr>
            <p:ph type="title"/>
          </p:nvPr>
        </p:nvSpPr>
        <p:spPr/>
        <p:txBody>
          <a:bodyPr>
            <a:normAutofit/>
          </a:bodyPr>
          <a:lstStyle/>
          <a:p>
            <a:r>
              <a:rPr lang="en-US" altLang="zh-CN" sz="2400" dirty="0"/>
              <a:t>Deformable Convolution</a:t>
            </a:r>
            <a:endParaRPr lang="zh-CN" altLang="en-US" sz="2400" dirty="0"/>
          </a:p>
        </p:txBody>
      </p:sp>
      <p:pic>
        <p:nvPicPr>
          <p:cNvPr id="4" name="内容占位符 3">
            <a:extLst>
              <a:ext uri="{FF2B5EF4-FFF2-40B4-BE49-F238E27FC236}">
                <a16:creationId xmlns:a16="http://schemas.microsoft.com/office/drawing/2014/main" id="{3651B5BE-7D41-4222-8F97-D4536B59182D}"/>
              </a:ext>
            </a:extLst>
          </p:cNvPr>
          <p:cNvPicPr>
            <a:picLocks noGrp="1" noChangeAspect="1"/>
          </p:cNvPicPr>
          <p:nvPr>
            <p:ph idx="1"/>
          </p:nvPr>
        </p:nvPicPr>
        <p:blipFill>
          <a:blip r:embed="rId2"/>
          <a:stretch>
            <a:fillRect/>
          </a:stretch>
        </p:blipFill>
        <p:spPr>
          <a:xfrm>
            <a:off x="721321" y="1491634"/>
            <a:ext cx="3658173" cy="2785957"/>
          </a:xfrm>
          <a:prstGeom prst="rect">
            <a:avLst/>
          </a:prstGeom>
        </p:spPr>
      </p:pic>
      <p:pic>
        <p:nvPicPr>
          <p:cNvPr id="5" name="图片 4">
            <a:extLst>
              <a:ext uri="{FF2B5EF4-FFF2-40B4-BE49-F238E27FC236}">
                <a16:creationId xmlns:a16="http://schemas.microsoft.com/office/drawing/2014/main" id="{4D438D49-427E-48A7-B3E9-B4035EDE131F}"/>
              </a:ext>
            </a:extLst>
          </p:cNvPr>
          <p:cNvPicPr>
            <a:picLocks noChangeAspect="1"/>
          </p:cNvPicPr>
          <p:nvPr/>
        </p:nvPicPr>
        <p:blipFill>
          <a:blip r:embed="rId3"/>
          <a:stretch>
            <a:fillRect/>
          </a:stretch>
        </p:blipFill>
        <p:spPr>
          <a:xfrm>
            <a:off x="4911284" y="1292740"/>
            <a:ext cx="4242327" cy="2342604"/>
          </a:xfrm>
          <a:prstGeom prst="rect">
            <a:avLst/>
          </a:prstGeom>
        </p:spPr>
      </p:pic>
      <p:pic>
        <p:nvPicPr>
          <p:cNvPr id="6" name="图片 5">
            <a:extLst>
              <a:ext uri="{FF2B5EF4-FFF2-40B4-BE49-F238E27FC236}">
                <a16:creationId xmlns:a16="http://schemas.microsoft.com/office/drawing/2014/main" id="{C1534F23-109D-4EEC-9FA6-EA847C6A1027}"/>
              </a:ext>
            </a:extLst>
          </p:cNvPr>
          <p:cNvPicPr>
            <a:picLocks noChangeAspect="1"/>
          </p:cNvPicPr>
          <p:nvPr/>
        </p:nvPicPr>
        <p:blipFill>
          <a:blip r:embed="rId4"/>
          <a:stretch>
            <a:fillRect/>
          </a:stretch>
        </p:blipFill>
        <p:spPr>
          <a:xfrm>
            <a:off x="5024068" y="3706295"/>
            <a:ext cx="4012024" cy="1649475"/>
          </a:xfrm>
          <a:prstGeom prst="rect">
            <a:avLst/>
          </a:prstGeom>
        </p:spPr>
      </p:pic>
    </p:spTree>
    <p:extLst>
      <p:ext uri="{BB962C8B-B14F-4D97-AF65-F5344CB8AC3E}">
        <p14:creationId xmlns:p14="http://schemas.microsoft.com/office/powerpoint/2010/main" val="944552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390D1CA5-A8E2-470E-93C7-F774D0B88467}"/>
              </a:ext>
            </a:extLst>
          </p:cNvPr>
          <p:cNvPicPr>
            <a:picLocks noGrp="1" noChangeAspect="1"/>
          </p:cNvPicPr>
          <p:nvPr>
            <p:ph idx="1"/>
          </p:nvPr>
        </p:nvPicPr>
        <p:blipFill>
          <a:blip r:embed="rId2"/>
          <a:stretch>
            <a:fillRect/>
          </a:stretch>
        </p:blipFill>
        <p:spPr>
          <a:xfrm>
            <a:off x="255596" y="224921"/>
            <a:ext cx="4440157" cy="1559786"/>
          </a:xfrm>
          <a:prstGeom prst="rect">
            <a:avLst/>
          </a:prstGeom>
        </p:spPr>
      </p:pic>
      <p:pic>
        <p:nvPicPr>
          <p:cNvPr id="5" name="图片 4">
            <a:extLst>
              <a:ext uri="{FF2B5EF4-FFF2-40B4-BE49-F238E27FC236}">
                <a16:creationId xmlns:a16="http://schemas.microsoft.com/office/drawing/2014/main" id="{DF490015-0B29-4B8D-B958-5C83F10A984C}"/>
              </a:ext>
            </a:extLst>
          </p:cNvPr>
          <p:cNvPicPr>
            <a:picLocks noChangeAspect="1"/>
          </p:cNvPicPr>
          <p:nvPr/>
        </p:nvPicPr>
        <p:blipFill>
          <a:blip r:embed="rId3"/>
          <a:stretch>
            <a:fillRect/>
          </a:stretch>
        </p:blipFill>
        <p:spPr>
          <a:xfrm>
            <a:off x="583694" y="1679824"/>
            <a:ext cx="4293122" cy="2904171"/>
          </a:xfrm>
          <a:prstGeom prst="rect">
            <a:avLst/>
          </a:prstGeom>
        </p:spPr>
      </p:pic>
      <p:pic>
        <p:nvPicPr>
          <p:cNvPr id="6" name="图片 5">
            <a:extLst>
              <a:ext uri="{FF2B5EF4-FFF2-40B4-BE49-F238E27FC236}">
                <a16:creationId xmlns:a16="http://schemas.microsoft.com/office/drawing/2014/main" id="{C17E3B4D-61F3-4D9D-901F-D6D4875B2C5A}"/>
              </a:ext>
            </a:extLst>
          </p:cNvPr>
          <p:cNvPicPr>
            <a:picLocks noChangeAspect="1"/>
          </p:cNvPicPr>
          <p:nvPr/>
        </p:nvPicPr>
        <p:blipFill>
          <a:blip r:embed="rId4"/>
          <a:stretch>
            <a:fillRect/>
          </a:stretch>
        </p:blipFill>
        <p:spPr>
          <a:xfrm>
            <a:off x="4876816" y="1915003"/>
            <a:ext cx="4819898" cy="4623038"/>
          </a:xfrm>
          <a:prstGeom prst="rect">
            <a:avLst/>
          </a:prstGeom>
        </p:spPr>
      </p:pic>
      <p:cxnSp>
        <p:nvCxnSpPr>
          <p:cNvPr id="11" name="直接连接符 10">
            <a:extLst>
              <a:ext uri="{FF2B5EF4-FFF2-40B4-BE49-F238E27FC236}">
                <a16:creationId xmlns:a16="http://schemas.microsoft.com/office/drawing/2014/main" id="{C0337B37-DFF4-4CDD-828C-6006FFC9F64F}"/>
              </a:ext>
            </a:extLst>
          </p:cNvPr>
          <p:cNvCxnSpPr/>
          <p:nvPr/>
        </p:nvCxnSpPr>
        <p:spPr>
          <a:xfrm>
            <a:off x="1512541" y="3038833"/>
            <a:ext cx="7700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13BC99F-6E2C-4C10-9A88-8770CC5C13D9}"/>
              </a:ext>
            </a:extLst>
          </p:cNvPr>
          <p:cNvCxnSpPr/>
          <p:nvPr/>
        </p:nvCxnSpPr>
        <p:spPr>
          <a:xfrm flipV="1">
            <a:off x="1526292" y="2530069"/>
            <a:ext cx="0" cy="46751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480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2CBDF4-4A05-41D1-91A7-5D74F35C8537}"/>
              </a:ext>
            </a:extLst>
          </p:cNvPr>
          <p:cNvSpPr>
            <a:spLocks noGrp="1"/>
          </p:cNvSpPr>
          <p:nvPr>
            <p:ph type="title"/>
          </p:nvPr>
        </p:nvSpPr>
        <p:spPr/>
        <p:txBody>
          <a:bodyPr/>
          <a:lstStyle/>
          <a:p>
            <a:r>
              <a:rPr lang="en-US" altLang="zh-CN" sz="2400" dirty="0"/>
              <a:t>Deformable </a:t>
            </a:r>
            <a:r>
              <a:rPr lang="en-US" altLang="zh-CN" sz="2400" dirty="0" err="1"/>
              <a:t>RoI</a:t>
            </a:r>
            <a:r>
              <a:rPr lang="en-US" altLang="zh-CN" sz="2400" dirty="0"/>
              <a:t> Pooling</a:t>
            </a:r>
            <a:endParaRPr lang="zh-CN" altLang="en-US" sz="2400" dirty="0"/>
          </a:p>
        </p:txBody>
      </p:sp>
      <p:pic>
        <p:nvPicPr>
          <p:cNvPr id="4" name="内容占位符 3">
            <a:extLst>
              <a:ext uri="{FF2B5EF4-FFF2-40B4-BE49-F238E27FC236}">
                <a16:creationId xmlns:a16="http://schemas.microsoft.com/office/drawing/2014/main" id="{7858027F-C320-4158-A2D6-93EEBBB9D8BB}"/>
              </a:ext>
            </a:extLst>
          </p:cNvPr>
          <p:cNvPicPr>
            <a:picLocks noGrp="1" noChangeAspect="1"/>
          </p:cNvPicPr>
          <p:nvPr>
            <p:ph idx="1"/>
          </p:nvPr>
        </p:nvPicPr>
        <p:blipFill>
          <a:blip r:embed="rId2"/>
          <a:stretch>
            <a:fillRect/>
          </a:stretch>
        </p:blipFill>
        <p:spPr>
          <a:xfrm>
            <a:off x="273910" y="1355957"/>
            <a:ext cx="4603987" cy="3283119"/>
          </a:xfrm>
          <a:prstGeom prst="rect">
            <a:avLst/>
          </a:prstGeom>
        </p:spPr>
      </p:pic>
      <p:pic>
        <p:nvPicPr>
          <p:cNvPr id="5" name="图片 4">
            <a:extLst>
              <a:ext uri="{FF2B5EF4-FFF2-40B4-BE49-F238E27FC236}">
                <a16:creationId xmlns:a16="http://schemas.microsoft.com/office/drawing/2014/main" id="{E60BC135-1D30-4331-BA5C-91C95907B8EF}"/>
              </a:ext>
            </a:extLst>
          </p:cNvPr>
          <p:cNvPicPr>
            <a:picLocks noChangeAspect="1"/>
          </p:cNvPicPr>
          <p:nvPr/>
        </p:nvPicPr>
        <p:blipFill>
          <a:blip r:embed="rId3"/>
          <a:stretch>
            <a:fillRect/>
          </a:stretch>
        </p:blipFill>
        <p:spPr>
          <a:xfrm>
            <a:off x="4877897" y="1157656"/>
            <a:ext cx="6686894" cy="4680191"/>
          </a:xfrm>
          <a:prstGeom prst="rect">
            <a:avLst/>
          </a:prstGeom>
        </p:spPr>
      </p:pic>
    </p:spTree>
    <p:extLst>
      <p:ext uri="{BB962C8B-B14F-4D97-AF65-F5344CB8AC3E}">
        <p14:creationId xmlns:p14="http://schemas.microsoft.com/office/powerpoint/2010/main" val="2462778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F818EEC-D2B6-4F33-AA08-50CF11579B88}"/>
              </a:ext>
            </a:extLst>
          </p:cNvPr>
          <p:cNvSpPr>
            <a:spLocks noGrp="1"/>
          </p:cNvSpPr>
          <p:nvPr>
            <p:ph idx="1"/>
          </p:nvPr>
        </p:nvSpPr>
        <p:spPr>
          <a:xfrm>
            <a:off x="4627000" y="687948"/>
            <a:ext cx="5826149" cy="1849426"/>
          </a:xfrm>
        </p:spPr>
        <p:txBody>
          <a:bodyPr>
            <a:normAutofit/>
          </a:bodyPr>
          <a:lstStyle/>
          <a:p>
            <a:r>
              <a:rPr lang="zh-CN" altLang="en-US" sz="1600" dirty="0"/>
              <a:t>可以看到经过两层的传统卷积和两层的</a:t>
            </a:r>
            <a:r>
              <a:rPr lang="en-US" altLang="zh-CN" sz="1600" dirty="0"/>
              <a:t>Deformable</a:t>
            </a:r>
            <a:r>
              <a:rPr lang="zh-CN" altLang="en-US" sz="1600" dirty="0"/>
              <a:t>卷积的对比结果。左侧的传统卷积单个目标共覆盖了</a:t>
            </a:r>
            <a:r>
              <a:rPr lang="en-US" altLang="zh-CN" sz="1600" dirty="0"/>
              <a:t>5*5=25</a:t>
            </a:r>
            <a:r>
              <a:rPr lang="zh-CN" altLang="en-US" sz="1600" dirty="0"/>
              <a:t>个采样点，感受野始终是固定不变的方形；右侧的可变形卷积因为感受野的每一个点都有偏移量，造成卷积核在图片上滑动时对应的感受野的点不会重复选择，这意味着会采样</a:t>
            </a:r>
            <a:r>
              <a:rPr lang="en-US" altLang="zh-CN" sz="1600" dirty="0"/>
              <a:t>9*9=81</a:t>
            </a:r>
            <a:r>
              <a:rPr lang="zh-CN" altLang="en-US" sz="1600" dirty="0"/>
              <a:t>个采样点，比传统卷积更多。</a:t>
            </a:r>
          </a:p>
          <a:p>
            <a:endParaRPr lang="zh-CN" altLang="en-US" dirty="0"/>
          </a:p>
        </p:txBody>
      </p:sp>
      <p:pic>
        <p:nvPicPr>
          <p:cNvPr id="4" name="图片 3">
            <a:extLst>
              <a:ext uri="{FF2B5EF4-FFF2-40B4-BE49-F238E27FC236}">
                <a16:creationId xmlns:a16="http://schemas.microsoft.com/office/drawing/2014/main" id="{92DD6B29-F530-46D1-8A57-D6C5A01F2E32}"/>
              </a:ext>
            </a:extLst>
          </p:cNvPr>
          <p:cNvPicPr>
            <a:picLocks noChangeAspect="1"/>
          </p:cNvPicPr>
          <p:nvPr/>
        </p:nvPicPr>
        <p:blipFill>
          <a:blip r:embed="rId2"/>
          <a:stretch>
            <a:fillRect/>
          </a:stretch>
        </p:blipFill>
        <p:spPr>
          <a:xfrm>
            <a:off x="713792" y="234636"/>
            <a:ext cx="3734455" cy="4140991"/>
          </a:xfrm>
          <a:prstGeom prst="rect">
            <a:avLst/>
          </a:prstGeom>
        </p:spPr>
      </p:pic>
      <p:pic>
        <p:nvPicPr>
          <p:cNvPr id="5" name="图片 4">
            <a:extLst>
              <a:ext uri="{FF2B5EF4-FFF2-40B4-BE49-F238E27FC236}">
                <a16:creationId xmlns:a16="http://schemas.microsoft.com/office/drawing/2014/main" id="{5B0B70F1-CEF1-4A91-9601-7DE5675C2AE3}"/>
              </a:ext>
            </a:extLst>
          </p:cNvPr>
          <p:cNvPicPr>
            <a:picLocks noChangeAspect="1"/>
          </p:cNvPicPr>
          <p:nvPr/>
        </p:nvPicPr>
        <p:blipFill>
          <a:blip r:embed="rId3"/>
          <a:stretch>
            <a:fillRect/>
          </a:stretch>
        </p:blipFill>
        <p:spPr>
          <a:xfrm>
            <a:off x="558402" y="4430629"/>
            <a:ext cx="6981672" cy="2482373"/>
          </a:xfrm>
          <a:prstGeom prst="rect">
            <a:avLst/>
          </a:prstGeom>
        </p:spPr>
      </p:pic>
      <p:sp>
        <p:nvSpPr>
          <p:cNvPr id="6" name="内容占位符 2">
            <a:extLst>
              <a:ext uri="{FF2B5EF4-FFF2-40B4-BE49-F238E27FC236}">
                <a16:creationId xmlns:a16="http://schemas.microsoft.com/office/drawing/2014/main" id="{039325B7-08D7-48BE-92C9-075ACF356425}"/>
              </a:ext>
            </a:extLst>
          </p:cNvPr>
          <p:cNvSpPr txBox="1">
            <a:spLocks/>
          </p:cNvSpPr>
          <p:nvPr/>
        </p:nvSpPr>
        <p:spPr>
          <a:xfrm>
            <a:off x="7540074" y="5499506"/>
            <a:ext cx="3513221" cy="6705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a:t>采样点都集中在了目标点周围</a:t>
            </a:r>
            <a:endParaRPr lang="zh-CN" altLang="en-US" dirty="0"/>
          </a:p>
        </p:txBody>
      </p:sp>
    </p:spTree>
    <p:extLst>
      <p:ext uri="{BB962C8B-B14F-4D97-AF65-F5344CB8AC3E}">
        <p14:creationId xmlns:p14="http://schemas.microsoft.com/office/powerpoint/2010/main" val="1989339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044122-9BD3-4E6F-9861-1BAD46BD2A98}"/>
              </a:ext>
            </a:extLst>
          </p:cNvPr>
          <p:cNvSpPr>
            <a:spLocks noGrp="1"/>
          </p:cNvSpPr>
          <p:nvPr>
            <p:ph type="title"/>
          </p:nvPr>
        </p:nvSpPr>
        <p:spPr>
          <a:xfrm>
            <a:off x="570068" y="167542"/>
            <a:ext cx="10515600" cy="1010044"/>
          </a:xfrm>
        </p:spPr>
        <p:txBody>
          <a:bodyPr/>
          <a:lstStyle/>
          <a:p>
            <a:r>
              <a:rPr lang="zh-CN" altLang="en-US" dirty="0"/>
              <a:t>结果</a:t>
            </a:r>
          </a:p>
        </p:txBody>
      </p:sp>
      <p:pic>
        <p:nvPicPr>
          <p:cNvPr id="4" name="内容占位符 3">
            <a:extLst>
              <a:ext uri="{FF2B5EF4-FFF2-40B4-BE49-F238E27FC236}">
                <a16:creationId xmlns:a16="http://schemas.microsoft.com/office/drawing/2014/main" id="{E783F14A-0F41-49B5-BB0D-A4FE85703F1E}"/>
              </a:ext>
            </a:extLst>
          </p:cNvPr>
          <p:cNvPicPr>
            <a:picLocks noGrp="1" noChangeAspect="1"/>
          </p:cNvPicPr>
          <p:nvPr>
            <p:ph idx="1"/>
          </p:nvPr>
        </p:nvPicPr>
        <p:blipFill>
          <a:blip r:embed="rId2"/>
          <a:stretch>
            <a:fillRect/>
          </a:stretch>
        </p:blipFill>
        <p:spPr>
          <a:xfrm>
            <a:off x="249584" y="866352"/>
            <a:ext cx="8858705" cy="2184512"/>
          </a:xfrm>
          <a:prstGeom prst="rect">
            <a:avLst/>
          </a:prstGeom>
        </p:spPr>
      </p:pic>
      <p:pic>
        <p:nvPicPr>
          <p:cNvPr id="7" name="图片 6">
            <a:extLst>
              <a:ext uri="{FF2B5EF4-FFF2-40B4-BE49-F238E27FC236}">
                <a16:creationId xmlns:a16="http://schemas.microsoft.com/office/drawing/2014/main" id="{A7DBDF15-E6A5-4FDA-ADFA-6C7FE92E61E9}"/>
              </a:ext>
            </a:extLst>
          </p:cNvPr>
          <p:cNvPicPr>
            <a:picLocks noChangeAspect="1"/>
          </p:cNvPicPr>
          <p:nvPr/>
        </p:nvPicPr>
        <p:blipFill>
          <a:blip r:embed="rId3"/>
          <a:stretch>
            <a:fillRect/>
          </a:stretch>
        </p:blipFill>
        <p:spPr>
          <a:xfrm>
            <a:off x="352712" y="3050864"/>
            <a:ext cx="8090217" cy="2776524"/>
          </a:xfrm>
          <a:prstGeom prst="rect">
            <a:avLst/>
          </a:prstGeom>
        </p:spPr>
      </p:pic>
    </p:spTree>
    <p:extLst>
      <p:ext uri="{BB962C8B-B14F-4D97-AF65-F5344CB8AC3E}">
        <p14:creationId xmlns:p14="http://schemas.microsoft.com/office/powerpoint/2010/main" val="1312543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A555FD09-2FC2-484D-94C1-8E2435990BC1}"/>
              </a:ext>
            </a:extLst>
          </p:cNvPr>
          <p:cNvPicPr>
            <a:picLocks noGrp="1" noChangeAspect="1"/>
          </p:cNvPicPr>
          <p:nvPr>
            <p:ph idx="1"/>
          </p:nvPr>
        </p:nvPicPr>
        <p:blipFill>
          <a:blip r:embed="rId2"/>
          <a:stretch>
            <a:fillRect/>
          </a:stretch>
        </p:blipFill>
        <p:spPr>
          <a:xfrm>
            <a:off x="6511884" y="2287103"/>
            <a:ext cx="5169060" cy="3724107"/>
          </a:xfrm>
          <a:prstGeom prst="rect">
            <a:avLst/>
          </a:prstGeom>
        </p:spPr>
      </p:pic>
      <p:sp>
        <p:nvSpPr>
          <p:cNvPr id="5" name="文本框 4">
            <a:extLst>
              <a:ext uri="{FF2B5EF4-FFF2-40B4-BE49-F238E27FC236}">
                <a16:creationId xmlns:a16="http://schemas.microsoft.com/office/drawing/2014/main" id="{4EBAF5CB-3EC0-4E23-BDB4-014571EB6F36}"/>
              </a:ext>
            </a:extLst>
          </p:cNvPr>
          <p:cNvSpPr txBox="1"/>
          <p:nvPr/>
        </p:nvSpPr>
        <p:spPr>
          <a:xfrm>
            <a:off x="7198322" y="1711921"/>
            <a:ext cx="4228241" cy="369332"/>
          </a:xfrm>
          <a:prstGeom prst="rect">
            <a:avLst/>
          </a:prstGeom>
          <a:noFill/>
        </p:spPr>
        <p:txBody>
          <a:bodyPr wrap="square" rtlCol="0">
            <a:spAutoFit/>
          </a:bodyPr>
          <a:lstStyle/>
          <a:p>
            <a:r>
              <a:rPr lang="zh-CN" altLang="en-US" dirty="0"/>
              <a:t>参数量增加并不明显</a:t>
            </a:r>
          </a:p>
        </p:txBody>
      </p:sp>
      <p:pic>
        <p:nvPicPr>
          <p:cNvPr id="6" name="图片 5">
            <a:extLst>
              <a:ext uri="{FF2B5EF4-FFF2-40B4-BE49-F238E27FC236}">
                <a16:creationId xmlns:a16="http://schemas.microsoft.com/office/drawing/2014/main" id="{7F3A8210-16F5-4032-9698-4BFB2DE0C76A}"/>
              </a:ext>
            </a:extLst>
          </p:cNvPr>
          <p:cNvPicPr>
            <a:picLocks noChangeAspect="1"/>
          </p:cNvPicPr>
          <p:nvPr/>
        </p:nvPicPr>
        <p:blipFill>
          <a:blip r:embed="rId3"/>
          <a:stretch>
            <a:fillRect/>
          </a:stretch>
        </p:blipFill>
        <p:spPr>
          <a:xfrm>
            <a:off x="300834" y="1187479"/>
            <a:ext cx="4756394" cy="3098959"/>
          </a:xfrm>
          <a:prstGeom prst="rect">
            <a:avLst/>
          </a:prstGeom>
        </p:spPr>
      </p:pic>
      <p:sp>
        <p:nvSpPr>
          <p:cNvPr id="7" name="矩形 6">
            <a:extLst>
              <a:ext uri="{FF2B5EF4-FFF2-40B4-BE49-F238E27FC236}">
                <a16:creationId xmlns:a16="http://schemas.microsoft.com/office/drawing/2014/main" id="{6608A351-B8B6-4EAE-856D-85C436B1EF2C}"/>
              </a:ext>
            </a:extLst>
          </p:cNvPr>
          <p:cNvSpPr/>
          <p:nvPr/>
        </p:nvSpPr>
        <p:spPr>
          <a:xfrm>
            <a:off x="300834" y="4303019"/>
            <a:ext cx="6096000" cy="2031325"/>
          </a:xfrm>
          <a:prstGeom prst="rect">
            <a:avLst/>
          </a:prstGeom>
        </p:spPr>
        <p:txBody>
          <a:bodyPr>
            <a:spAutoFit/>
          </a:bodyPr>
          <a:lstStyle/>
          <a:p>
            <a:pPr marL="342900" indent="-342900">
              <a:buAutoNum type="arabicParenR"/>
            </a:pPr>
            <a:r>
              <a:rPr lang="en-US" altLang="zh-CN" dirty="0">
                <a:latin typeface="NimbusRomNo9L-ReguItal"/>
              </a:rPr>
              <a:t>the receptive field sizes of deformable filters are correlated with object sizes, indicating that the deformation is effectively learned from image content</a:t>
            </a:r>
            <a:r>
              <a:rPr lang="en-US" altLang="zh-CN" dirty="0">
                <a:latin typeface="NimbusRomNo9L-Regu"/>
              </a:rPr>
              <a:t>;</a:t>
            </a:r>
          </a:p>
          <a:p>
            <a:r>
              <a:rPr lang="en-US" altLang="zh-CN">
                <a:latin typeface="NimbusRomNo9L-Regu"/>
              </a:rPr>
              <a:t>2</a:t>
            </a:r>
            <a:r>
              <a:rPr lang="en-US" altLang="zh-CN" dirty="0">
                <a:latin typeface="NimbusRomNo9L-Regu"/>
              </a:rPr>
              <a:t>) </a:t>
            </a:r>
            <a:r>
              <a:rPr lang="en-US" altLang="zh-CN" dirty="0">
                <a:latin typeface="NimbusRomNo9L-ReguItal"/>
              </a:rPr>
              <a:t>the filter sizes on the background region are between those on medium and large objects, indicating that a relatively large receptive field is necessary for recognizing the background regions</a:t>
            </a:r>
            <a:r>
              <a:rPr lang="en-US" altLang="zh-CN" dirty="0">
                <a:latin typeface="NimbusRomNo9L-Regu"/>
              </a:rPr>
              <a:t>.</a:t>
            </a:r>
            <a:endParaRPr lang="zh-CN" altLang="en-US" dirty="0"/>
          </a:p>
        </p:txBody>
      </p:sp>
    </p:spTree>
    <p:extLst>
      <p:ext uri="{BB962C8B-B14F-4D97-AF65-F5344CB8AC3E}">
        <p14:creationId xmlns:p14="http://schemas.microsoft.com/office/powerpoint/2010/main" val="279224137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525</Words>
  <Application>Microsoft Office PowerPoint</Application>
  <PresentationFormat>宽屏</PresentationFormat>
  <Paragraphs>21</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NimbusRomNo9L-Regu</vt:lpstr>
      <vt:lpstr>NimbusRomNo9L-ReguItal</vt:lpstr>
      <vt:lpstr>等线</vt:lpstr>
      <vt:lpstr>等线 Light</vt:lpstr>
      <vt:lpstr>Arial</vt:lpstr>
      <vt:lpstr>Office 主题​​</vt:lpstr>
      <vt:lpstr>组会报告</vt:lpstr>
      <vt:lpstr>Deformable Convolutional Networks</vt:lpstr>
      <vt:lpstr>PowerPoint 演示文稿</vt:lpstr>
      <vt:lpstr>Deformable Convolution</vt:lpstr>
      <vt:lpstr>PowerPoint 演示文稿</vt:lpstr>
      <vt:lpstr>Deformable RoI Pooling</vt:lpstr>
      <vt:lpstr>PowerPoint 演示文稿</vt:lpstr>
      <vt:lpstr>结果</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组会报告</dc:title>
  <dc:creator>林 昊琪</dc:creator>
  <cp:lastModifiedBy>林 昊琪</cp:lastModifiedBy>
  <cp:revision>9</cp:revision>
  <dcterms:created xsi:type="dcterms:W3CDTF">2020-04-09T02:21:52Z</dcterms:created>
  <dcterms:modified xsi:type="dcterms:W3CDTF">2020-04-09T03:56:28Z</dcterms:modified>
</cp:coreProperties>
</file>