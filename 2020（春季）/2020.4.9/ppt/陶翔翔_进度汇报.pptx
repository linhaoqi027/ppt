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03" r:id="rId2"/>
    <p:sldId id="367" r:id="rId3"/>
    <p:sldId id="374" r:id="rId4"/>
    <p:sldId id="377" r:id="rId5"/>
    <p:sldId id="378" r:id="rId6"/>
    <p:sldId id="381" r:id="rId7"/>
    <p:sldId id="380" r:id="rId8"/>
    <p:sldId id="353" r:id="rId9"/>
  </p:sldIdLst>
  <p:sldSz cx="12192000" cy="6858000"/>
  <p:notesSz cx="6858000" cy="9144000"/>
  <p:embeddedFontLst>
    <p:embeddedFont>
      <p:font typeface="Rockwell" panose="02060603020205020403" pitchFamily="18" charset="0"/>
      <p:regular r:id="rId12"/>
      <p:bold r:id="rId13"/>
      <p:italic r:id="rId14"/>
      <p:boldItalic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等线" panose="02010600030101010101" pitchFamily="2" charset="-122"/>
      <p:regular r:id="rId20"/>
      <p:bold r:id="rId21"/>
    </p:embeddedFont>
    <p:embeddedFont>
      <p:font typeface="微软雅黑" panose="020B0503020204020204" pitchFamily="34" charset="-122"/>
      <p:regular r:id="rId22"/>
      <p:bold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3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00"/>
    <a:srgbClr val="0000FF"/>
    <a:srgbClr val="3333FF"/>
    <a:srgbClr val="009900"/>
    <a:srgbClr val="660066"/>
    <a:srgbClr val="CC00FF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72884" autoAdjust="0"/>
  </p:normalViewPr>
  <p:slideViewPr>
    <p:cSldViewPr snapToGrid="0" snapToObjects="1">
      <p:cViewPr varScale="1">
        <p:scale>
          <a:sx n="59" d="100"/>
          <a:sy n="59" d="100"/>
        </p:scale>
        <p:origin x="1363" y="62"/>
      </p:cViewPr>
      <p:guideLst>
        <p:guide pos="3823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318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137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0931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8080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34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61400" y="1254582"/>
            <a:ext cx="8469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00B050"/>
                </a:solidFill>
                <a:latin typeface="Rockwell" panose="02060603020205020403" pitchFamily="18" charset="0"/>
              </a:rPr>
              <a:t>文献复现进度汇报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25915" y="4754245"/>
            <a:ext cx="2574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  </a:t>
            </a:r>
            <a:r>
              <a:rPr lang="zh-CN" altLang="en-US" sz="3200" b="1" dirty="0">
                <a:latin typeface="+mn-ea"/>
              </a:rPr>
              <a:t>陶翔翔</a:t>
            </a:r>
            <a:endParaRPr lang="en-US" altLang="zh-CN" sz="3200" b="1" dirty="0">
              <a:latin typeface="+mn-ea"/>
            </a:endParaRPr>
          </a:p>
          <a:p>
            <a:r>
              <a:rPr lang="en-US" altLang="zh-CN" sz="3200" b="1" dirty="0">
                <a:latin typeface="+mn-ea"/>
              </a:rPr>
              <a:t>2020.4.9</a:t>
            </a:r>
            <a:endParaRPr lang="zh-CN" altLang="en-US" sz="32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ieeexplore.ieee.org/mediastore_new/IEEE/content/media/8359997/8363198/8363717/8363717-fig-2-source-larg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73444" y="258370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文献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73876" y="18567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FB5F85-DC29-4221-A3C3-1008D2E5A38C}"/>
              </a:ext>
            </a:extLst>
          </p:cNvPr>
          <p:cNvSpPr/>
          <p:nvPr/>
        </p:nvSpPr>
        <p:spPr>
          <a:xfrm>
            <a:off x="1341237" y="1443841"/>
            <a:ext cx="95095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Tian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Hongda,Li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Wanqing,Ogunbona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Philip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O,Wang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Lei.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Separation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of Smoke From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Image Frames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.[J]. IEEE transactions on image processing: a publication of the IEEE Signal Processing Society,2018,27(3).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模块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1203962"/>
            <a:ext cx="9592098" cy="3243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学习非烟、烟雾字典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稀疏编码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  <p:pic>
        <p:nvPicPr>
          <p:cNvPr id="2050" name="Picture 2" descr="特 征 提 取 &#10;字 典 学 习 &#10;初 始 字 典 &#10;训 练 样 本 &#10;特 征 提 取 &#10;灣 试 样 本 &#10;史 新 的 字 典 &#10;稀 疏 编 码 &#10;灣 试 样 本 矩 &#10;分 类 ">
            <a:extLst>
              <a:ext uri="{FF2B5EF4-FFF2-40B4-BE49-F238E27FC236}">
                <a16:creationId xmlns:a16="http://schemas.microsoft.com/office/drawing/2014/main" id="{1D005CD2-68CF-4A88-86EE-0C450A464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809" y="2410098"/>
            <a:ext cx="10152900" cy="340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学习非烟字典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853166"/>
            <a:ext cx="9592098" cy="4536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用</a:t>
            </a:r>
            <a:r>
              <a:rPr lang="en-US" altLang="zh-CN" sz="2800" dirty="0" err="1"/>
              <a:t>tensorflow.random_crop</a:t>
            </a:r>
            <a:r>
              <a:rPr lang="zh-CN" altLang="en-US" sz="2800" dirty="0"/>
              <a:t>将</a:t>
            </a:r>
            <a:r>
              <a:rPr lang="en-US" altLang="zh-CN" sz="2800" dirty="0"/>
              <a:t>CIFAR100</a:t>
            </a:r>
            <a:r>
              <a:rPr lang="zh-CN" altLang="en-US" sz="2800" dirty="0"/>
              <a:t>数据集的</a:t>
            </a:r>
            <a:r>
              <a:rPr lang="en-US" altLang="zh-CN" sz="2800" dirty="0"/>
              <a:t>50000</a:t>
            </a:r>
            <a:r>
              <a:rPr lang="zh-CN" altLang="en-US" sz="2800" dirty="0"/>
              <a:t>张</a:t>
            </a:r>
            <a:r>
              <a:rPr lang="en-US" altLang="zh-CN" sz="2800" dirty="0"/>
              <a:t>32*32*3</a:t>
            </a:r>
            <a:r>
              <a:rPr lang="zh-CN" altLang="en-US" sz="2800" dirty="0"/>
              <a:t>随机裁剪为</a:t>
            </a:r>
            <a:r>
              <a:rPr lang="en-US" altLang="zh-CN" sz="2800" dirty="0"/>
              <a:t>16*16*3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图像标准化和白化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 err="1"/>
              <a:t>Ksvd</a:t>
            </a:r>
            <a:r>
              <a:rPr lang="zh-CN" altLang="en-US" sz="2800" dirty="0"/>
              <a:t>学习非烟字典，字典维度</a:t>
            </a:r>
            <a:r>
              <a:rPr lang="en-US" altLang="zh-CN" sz="2800" dirty="0"/>
              <a:t>768*500</a:t>
            </a:r>
            <a:r>
              <a:rPr lang="zh-CN" altLang="en-US" sz="2800" dirty="0"/>
              <a:t>。</a:t>
            </a:r>
            <a:r>
              <a:rPr lang="en-US" altLang="zh-CN" sz="2800" dirty="0"/>
              <a:t> 	768*1000=768*500  .*  500*1000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en-US" altLang="zh-CN" sz="2800" dirty="0"/>
              <a:t>	768*10000=768*500  .*  500*10000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88574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稀疏编码：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1073333"/>
            <a:ext cx="9592098" cy="5829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稀疏编码方法：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 err="1"/>
              <a:t>omp</a:t>
            </a:r>
            <a:r>
              <a:rPr lang="zh-CN" altLang="en-US" sz="2800" dirty="0"/>
              <a:t>算法：关注获取最稀疏的解，主要处理</a:t>
            </a:r>
            <a:r>
              <a:rPr lang="en-US" altLang="zh-CN" sz="2800" dirty="0"/>
              <a:t>L0</a:t>
            </a:r>
            <a:r>
              <a:rPr lang="zh-CN" altLang="en-US" sz="2800" dirty="0"/>
              <a:t>问题。将字典与样本匹配，选择内积最大的原子，在稀疏逼近下求残差，再用残差和字典中的原子匹配，反复迭代；</a:t>
            </a:r>
            <a:r>
              <a:rPr lang="en-US" altLang="zh-CN" sz="2800" dirty="0"/>
              <a:t>PS:</a:t>
            </a:r>
            <a:r>
              <a:rPr lang="zh-CN" altLang="en-US" sz="2800" dirty="0"/>
              <a:t>经过一次匹配后，对已经匹配过的原子进行正交化处理。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特征符号搜索：处理</a:t>
            </a:r>
            <a:r>
              <a:rPr lang="en-US" altLang="zh-CN" sz="2800" dirty="0"/>
              <a:t>L1</a:t>
            </a:r>
            <a:r>
              <a:rPr lang="zh-CN" altLang="en-US" sz="2800" dirty="0"/>
              <a:t>凸优化问题，找不到实现的具体方案。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75355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稀疏编码：</a:t>
            </a:r>
          </a:p>
        </p:txBody>
      </p:sp>
      <p:pic>
        <p:nvPicPr>
          <p:cNvPr id="3073" name="Picture 1" descr="Algorithm 1 Single Image Frame Smoke Detection &#10;Input: &#10;block image f &#10;dictionary Db for non-smoke &#10;dictionary DS for pure smoke &#10;regularization parameters and &#10;threshold Th for convergence checking &#10;initial values objo and objl Of the objective function &#10;(Equation (9)) such that lobjo — objll &gt; Th &#10;Output: &#10;class label for f &#10;l: initialize Ys by solving miny. llf — Dsysll} -F -y'll.yslll; &#10;initialize Yb by solving minyb llf — I)bybll; -F &#10;2: &#10;while lobjo — objll &gt; Th do &#10;3: &#10;calculate Yb by solving Equation (9) with Ys fixed; &#10;4: &#10;calculate by solving Equation (9) with Yb fixed; &#10;6: &#10;7: &#10;ObjO e obi 1 ; &#10;8: &#10;calculate the current value objl of the objective function &#10;9: &#10;(Equation (9)); &#10;Objl objl; &#10;end while &#10;concatenate Ys and Yb and input them to an SVM•, &#10;12: &#10;return the classification label. &#10;13: ">
            <a:extLst>
              <a:ext uri="{FF2B5EF4-FFF2-40B4-BE49-F238E27FC236}">
                <a16:creationId xmlns:a16="http://schemas.microsoft.com/office/drawing/2014/main" id="{02797574-16B7-47EC-80FC-C1A61D525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869" y="41303"/>
            <a:ext cx="5569131" cy="6816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9740A3-5494-4416-816E-7A352343C240}"/>
              </a:ext>
            </a:extLst>
          </p:cNvPr>
          <p:cNvSpPr/>
          <p:nvPr/>
        </p:nvSpPr>
        <p:spPr>
          <a:xfrm>
            <a:off x="-361406" y="1022981"/>
            <a:ext cx="7075715" cy="6475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输入：图像块</a:t>
            </a:r>
            <a:r>
              <a:rPr lang="en-US" altLang="zh-CN" sz="2800" dirty="0"/>
              <a:t>f</a:t>
            </a:r>
            <a:r>
              <a:rPr lang="zh-CN" altLang="en-US" sz="2800" dirty="0"/>
              <a:t>由滑动窗口（</a:t>
            </a:r>
            <a:r>
              <a:rPr lang="en-US" altLang="zh-CN" sz="2800" dirty="0"/>
              <a:t>16*16</a:t>
            </a:r>
            <a:r>
              <a:rPr lang="zh-CN" altLang="en-US" sz="2800" dirty="0"/>
              <a:t>）获得；</a:t>
            </a:r>
            <a:r>
              <a:rPr lang="en-US" altLang="zh-CN" sz="2800" dirty="0"/>
              <a:t>Db</a:t>
            </a:r>
            <a:r>
              <a:rPr lang="zh-CN" altLang="en-US" sz="2800" dirty="0"/>
              <a:t>、</a:t>
            </a:r>
            <a:r>
              <a:rPr lang="en-US" altLang="zh-CN" sz="2800" dirty="0"/>
              <a:t>Ds</a:t>
            </a:r>
            <a:r>
              <a:rPr lang="zh-CN" altLang="en-US" sz="2800" dirty="0"/>
              <a:t>：</a:t>
            </a:r>
            <a:r>
              <a:rPr lang="en-US" altLang="zh-CN" sz="2800" dirty="0"/>
              <a:t>768*500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主要需要解决带</a:t>
            </a:r>
            <a:r>
              <a:rPr lang="en-US" altLang="zh-CN" sz="2800" dirty="0"/>
              <a:t>L1</a:t>
            </a:r>
            <a:r>
              <a:rPr lang="zh-CN" altLang="en-US" sz="2800" dirty="0"/>
              <a:t>正则项的最优化问题，当做</a:t>
            </a:r>
            <a:r>
              <a:rPr lang="en-US" altLang="zh-CN" sz="2800" dirty="0"/>
              <a:t>lasso</a:t>
            </a:r>
            <a:r>
              <a:rPr lang="zh-CN" altLang="en-US" sz="2800" dirty="0"/>
              <a:t>问题求解，用</a:t>
            </a:r>
            <a:r>
              <a:rPr lang="en-US" altLang="zh-CN" sz="2800" dirty="0" err="1"/>
              <a:t>sklearn</a:t>
            </a:r>
            <a:r>
              <a:rPr lang="en-US" altLang="zh-CN" sz="2800" dirty="0"/>
              <a:t>. </a:t>
            </a:r>
            <a:r>
              <a:rPr lang="en-US" altLang="zh-CN" sz="2800" dirty="0" err="1"/>
              <a:t>MultiTaskLasso</a:t>
            </a:r>
            <a:r>
              <a:rPr lang="zh-CN" altLang="en-US" sz="2800" dirty="0"/>
              <a:t>解决。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多任务回归：</a:t>
            </a:r>
            <a:endParaRPr lang="en-US" altLang="zh-CN" sz="2800" dirty="0"/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X</a:t>
            </a:r>
            <a:r>
              <a:rPr lang="zh-CN" altLang="en-US" sz="2800" dirty="0"/>
              <a:t>：字典（</a:t>
            </a:r>
            <a:r>
              <a:rPr lang="en-US" altLang="zh-CN" sz="2800" dirty="0"/>
              <a:t>768*500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Y</a:t>
            </a:r>
            <a:r>
              <a:rPr lang="zh-CN" altLang="en-US" sz="2800" dirty="0"/>
              <a:t>：</a:t>
            </a:r>
            <a:r>
              <a:rPr lang="en-US" altLang="zh-CN" sz="2800" dirty="0"/>
              <a:t>f</a:t>
            </a:r>
            <a:r>
              <a:rPr lang="zh-CN" altLang="en-US" sz="2800" dirty="0"/>
              <a:t>（</a:t>
            </a:r>
            <a:r>
              <a:rPr lang="en-US" altLang="zh-CN" sz="2800" dirty="0"/>
              <a:t>768*1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正则化系数的选取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534815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后续安排：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1203962"/>
            <a:ext cx="9592098" cy="5829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学习烟雾字典：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稀疏编码：求解</a:t>
            </a:r>
            <a:r>
              <a:rPr lang="en-US" altLang="zh-CN" sz="2800" dirty="0"/>
              <a:t>lasso</a:t>
            </a:r>
            <a:r>
              <a:rPr lang="zh-CN" altLang="en-US" sz="2800" dirty="0"/>
              <a:t>问题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SVM</a:t>
            </a:r>
            <a:r>
              <a:rPr lang="zh-CN" altLang="en-US" sz="2800" dirty="0"/>
              <a:t>分类：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训练：给定烟雾、非烟字典，分别得到</a:t>
            </a:r>
            <a:r>
              <a:rPr lang="en-US" altLang="zh-CN" sz="2800" dirty="0"/>
              <a:t>5000</a:t>
            </a:r>
            <a:r>
              <a:rPr lang="zh-CN" altLang="en-US" sz="2800" dirty="0"/>
              <a:t>烟雾块、</a:t>
            </a:r>
            <a:r>
              <a:rPr lang="en-US" altLang="zh-CN" sz="2800" dirty="0"/>
              <a:t>5000</a:t>
            </a:r>
            <a:r>
              <a:rPr lang="zh-CN" altLang="en-US" sz="2800" dirty="0"/>
              <a:t>非烟图像块的稀疏系数，训练</a:t>
            </a:r>
            <a:r>
              <a:rPr lang="en-US" altLang="zh-CN" sz="2800" dirty="0"/>
              <a:t>SVM</a:t>
            </a:r>
            <a:r>
              <a:rPr lang="zh-CN" altLang="en-US" sz="2800" dirty="0"/>
              <a:t>（假定烟雾块的非烟系数为</a:t>
            </a:r>
            <a:r>
              <a:rPr lang="en-US" altLang="zh-CN" sz="2800" dirty="0"/>
              <a:t>0</a:t>
            </a:r>
            <a:r>
              <a:rPr lang="zh-CN" altLang="en-US" sz="2800" dirty="0"/>
              <a:t>，非烟块的烟雾系数为</a:t>
            </a:r>
            <a:r>
              <a:rPr lang="en-US" altLang="zh-CN" sz="2800" dirty="0"/>
              <a:t>0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测试：对于</a:t>
            </a:r>
            <a:r>
              <a:rPr lang="en-US" altLang="zh-CN" sz="2800" dirty="0"/>
              <a:t>500</a:t>
            </a:r>
            <a:r>
              <a:rPr lang="zh-CN" altLang="en-US" sz="2800" dirty="0"/>
              <a:t>个有烟和无烟图像块，得到烟雾和非烟雾稀疏系数，按照混合系数级联导入</a:t>
            </a:r>
            <a:r>
              <a:rPr lang="en-US" altLang="zh-CN" sz="2800" dirty="0"/>
              <a:t>SVM</a:t>
            </a:r>
            <a:r>
              <a:rPr lang="zh-CN" altLang="en-US" sz="2800" dirty="0"/>
              <a:t>进行判断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75846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7330</TotalTime>
  <Words>356</Words>
  <Application>Microsoft Office PowerPoint</Application>
  <PresentationFormat>宽屏</PresentationFormat>
  <Paragraphs>35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微软雅黑</vt:lpstr>
      <vt:lpstr>Segoe UI</vt:lpstr>
      <vt:lpstr>Rockwell</vt:lpstr>
      <vt:lpstr>等线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t xx</cp:lastModifiedBy>
  <cp:revision>2836</cp:revision>
  <dcterms:created xsi:type="dcterms:W3CDTF">2015-08-18T02:51:00Z</dcterms:created>
  <dcterms:modified xsi:type="dcterms:W3CDTF">2020-04-09T03:54:04Z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2052-10.8.2.6949</vt:lpwstr>
  </property>
</Properties>
</file>