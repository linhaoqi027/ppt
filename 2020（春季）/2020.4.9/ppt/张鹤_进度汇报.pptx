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461" r:id="rId2"/>
    <p:sldId id="367" r:id="rId3"/>
    <p:sldId id="462" r:id="rId4"/>
    <p:sldId id="464" r:id="rId5"/>
    <p:sldId id="463" r:id="rId6"/>
    <p:sldId id="465" r:id="rId7"/>
    <p:sldId id="467" r:id="rId8"/>
    <p:sldId id="353" r:id="rId9"/>
  </p:sldIdLst>
  <p:sldSz cx="12192000" cy="6858000"/>
  <p:notesSz cx="6858000" cy="9144000"/>
  <p:embeddedFontLst>
    <p:embeddedFont>
      <p:font typeface="等线" panose="02010600030101010101" pitchFamily="2" charset="-122"/>
      <p:regular r:id="rId12"/>
      <p:bold r:id="rId13"/>
    </p:embeddedFont>
    <p:embeddedFont>
      <p:font typeface="Rockwell" panose="02060603020205020403" pitchFamily="18" charset="0"/>
      <p:regular r:id="rId14"/>
      <p:bold r:id="rId15"/>
      <p:italic r:id="rId16"/>
      <p:boldItalic r:id="rId17"/>
    </p:embeddedFont>
    <p:embeddedFont>
      <p:font typeface="Segoe UI" panose="020B0502040204020203" pitchFamily="34" charset="0"/>
      <p:regular r:id="rId18"/>
      <p:bold r:id="rId19"/>
      <p:italic r:id="rId20"/>
      <p:boldItalic r:id="rId21"/>
    </p:embeddedFont>
    <p:embeddedFont>
      <p:font typeface="微软雅黑" panose="020B0503020204020204" pitchFamily="34" charset="-122"/>
      <p:regular r:id="rId22"/>
      <p:bold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23">
          <p15:clr>
            <a:srgbClr val="A4A3A4"/>
          </p15:clr>
        </p15:guide>
        <p15:guide id="2" orient="horz" pos="2160">
          <p15:clr>
            <a:srgbClr val="A4A3A4"/>
          </p15:clr>
        </p15:guide>
        <p15:guide id="3" orient="horz" pos="232">
          <p15:clr>
            <a:srgbClr val="A4A3A4"/>
          </p15:clr>
        </p15:guide>
        <p15:guide id="4" orient="horz" pos="4088">
          <p15:clr>
            <a:srgbClr val="A4A3A4"/>
          </p15:clr>
        </p15:guide>
        <p15:guide id="5" pos="57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A" initials="C" lastIdx="1" clrIdx="0"/>
  <p:cmAuthor id="2" name="zh" initials="z" lastIdx="1" clrIdx="1">
    <p:extLst>
      <p:ext uri="{19B8F6BF-5375-455C-9EA6-DF929625EA0E}">
        <p15:presenceInfo xmlns:p15="http://schemas.microsoft.com/office/powerpoint/2012/main" userId="zh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  <a:srgbClr val="CC00FF"/>
    <a:srgbClr val="3333FF"/>
    <a:srgbClr val="FF0000"/>
    <a:srgbClr val="FF6600"/>
    <a:srgbClr val="0000FF"/>
    <a:srgbClr val="660066"/>
    <a:srgbClr val="6600FF"/>
    <a:srgbClr val="0033CC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73" autoAdjust="0"/>
    <p:restoredTop sz="76355" autoAdjust="0"/>
  </p:normalViewPr>
  <p:slideViewPr>
    <p:cSldViewPr snapToGrid="0" snapToObjects="1">
      <p:cViewPr varScale="1">
        <p:scale>
          <a:sx n="67" d="100"/>
          <a:sy n="67" d="100"/>
        </p:scale>
        <p:origin x="456" y="48"/>
      </p:cViewPr>
      <p:guideLst>
        <p:guide pos="3823"/>
        <p:guide orient="horz" pos="2160"/>
        <p:guide orient="horz" pos="232"/>
        <p:guide orient="horz" pos="4088"/>
        <p:guide pos="574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66" d="100"/>
          <a:sy n="66" d="100"/>
        </p:scale>
        <p:origin x="3330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zh\Desktop\&#25968;&#25454;&#35760;&#24405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zh\Desktop\&#25968;&#25454;&#35760;&#24405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/>
              <a:t>SSE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 defTabSz="914400">
            <a:defRPr lang="zh-CN"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'[数据记录.xlsx]2-20类，归一化+随机选择+收敛'!$B$75:$L$75</c:f>
              <c:numCache>
                <c:formatCode>General</c:formatCode>
                <c:ptCount val="11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16</c:v>
                </c:pt>
                <c:pt idx="9">
                  <c:v>18</c:v>
                </c:pt>
                <c:pt idx="10">
                  <c:v>20</c:v>
                </c:pt>
              </c:numCache>
            </c:numRef>
          </c:xVal>
          <c:yVal>
            <c:numRef>
              <c:f>'[数据记录.xlsx]2-20类，归一化+随机选择+收敛'!$B$76:$L$76</c:f>
              <c:numCache>
                <c:formatCode>General</c:formatCode>
                <c:ptCount val="11"/>
                <c:pt idx="0">
                  <c:v>28.25609541</c:v>
                </c:pt>
                <c:pt idx="1">
                  <c:v>13.470842072015399</c:v>
                </c:pt>
                <c:pt idx="2">
                  <c:v>11.373433439999999</c:v>
                </c:pt>
                <c:pt idx="3">
                  <c:v>8.8611569350000003</c:v>
                </c:pt>
                <c:pt idx="4">
                  <c:v>4.5656709969999998</c:v>
                </c:pt>
                <c:pt idx="5">
                  <c:v>3.290291667</c:v>
                </c:pt>
                <c:pt idx="6">
                  <c:v>2.7447721679999999</c:v>
                </c:pt>
                <c:pt idx="7">
                  <c:v>2.1837118809999998</c:v>
                </c:pt>
                <c:pt idx="8">
                  <c:v>1.450859898</c:v>
                </c:pt>
                <c:pt idx="9">
                  <c:v>0.80279098100000001</c:v>
                </c:pt>
                <c:pt idx="10">
                  <c:v>0.95140367599999998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B691-422D-A1E5-F972C0DA21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82661601"/>
        <c:axId val="715607854"/>
      </c:scatterChart>
      <c:valAx>
        <c:axId val="78266160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15607854"/>
        <c:crosses val="autoZero"/>
        <c:crossBetween val="midCat"/>
      </c:valAx>
      <c:valAx>
        <c:axId val="71560785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82661601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/>
              <a:t>time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 defTabSz="914400">
            <a:defRPr lang="zh-CN"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'[数据记录.xlsx]2-20类，归一化+随机选择+收敛'!$B$75:$L$75</c:f>
              <c:numCache>
                <c:formatCode>General</c:formatCode>
                <c:ptCount val="11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16</c:v>
                </c:pt>
                <c:pt idx="9">
                  <c:v>18</c:v>
                </c:pt>
                <c:pt idx="10">
                  <c:v>20</c:v>
                </c:pt>
              </c:numCache>
            </c:numRef>
          </c:xVal>
          <c:yVal>
            <c:numRef>
              <c:f>'[数据记录.xlsx]2-20类，归一化+随机选择+收敛'!$B$77:$L$77</c:f>
              <c:numCache>
                <c:formatCode>General</c:formatCode>
                <c:ptCount val="11"/>
                <c:pt idx="0">
                  <c:v>2.9269934000000001E-2</c:v>
                </c:pt>
                <c:pt idx="1">
                  <c:v>3.3773720264434801E-2</c:v>
                </c:pt>
                <c:pt idx="2">
                  <c:v>2.8769195000000001E-2</c:v>
                </c:pt>
                <c:pt idx="3">
                  <c:v>4.9034058999999998E-2</c:v>
                </c:pt>
                <c:pt idx="4">
                  <c:v>3.4522414000000001E-2</c:v>
                </c:pt>
                <c:pt idx="5">
                  <c:v>3.6024630000000002E-2</c:v>
                </c:pt>
                <c:pt idx="6">
                  <c:v>4.0027261000000001E-2</c:v>
                </c:pt>
                <c:pt idx="7">
                  <c:v>3.3647239000000002E-2</c:v>
                </c:pt>
                <c:pt idx="8">
                  <c:v>3.9526819999999997E-2</c:v>
                </c:pt>
                <c:pt idx="9">
                  <c:v>3.7150203999999999E-2</c:v>
                </c:pt>
                <c:pt idx="10">
                  <c:v>4.1027725000000001E-2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912E-44B9-991B-BB9B0C2691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21295761"/>
        <c:axId val="403116053"/>
      </c:scatterChart>
      <c:valAx>
        <c:axId val="42129576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03116053"/>
        <c:crosses val="autoZero"/>
        <c:crossBetween val="midCat"/>
      </c:valAx>
      <c:valAx>
        <c:axId val="40311605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21295761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2E08C6-A8D6-4426-B0F6-8365D5E90C3D}" type="datetimeFigureOut">
              <a:rPr lang="zh-CN" altLang="en-US" smtClean="0"/>
              <a:t>2020/4/8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35310C-31F2-4F7E-95AC-1A51EFB82A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FCA7BF-183C-46C8-9282-AFD276260CB2}" type="datetimeFigureOut">
              <a:rPr lang="zh-CN" altLang="en-US" smtClean="0"/>
              <a:t>2020/4/8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E2F600-D6BF-48F3-BE94-005CF5FB96E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928303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E2F600-D6BF-48F3-BE94-005CF5FB96E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08223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E2F600-D6BF-48F3-BE94-005CF5FB96EE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27694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E2F600-D6BF-48F3-BE94-005CF5FB96E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21296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E2F600-D6BF-48F3-BE94-005CF5FB96E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7488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61489" t="25058" r="12143" b="25081"/>
          <a:stretch>
            <a:fillRect/>
          </a:stretch>
        </p:blipFill>
        <p:spPr>
          <a:xfrm>
            <a:off x="3882314" y="1181451"/>
            <a:ext cx="4495104" cy="4495104"/>
          </a:xfrm>
          <a:prstGeom prst="ellipse">
            <a:avLst/>
          </a:prstGeom>
        </p:spPr>
      </p:pic>
      <p:cxnSp>
        <p:nvCxnSpPr>
          <p:cNvPr id="6" name="直接连接符 5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t="22049" r="54675" b="21936"/>
          <a:stretch>
            <a:fillRect/>
          </a:stretch>
        </p:blipFill>
        <p:spPr>
          <a:xfrm>
            <a:off x="952455" y="-12701"/>
            <a:ext cx="10492980" cy="68580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t="15838" r="78197" b="16675"/>
          <a:stretch>
            <a:fillRect/>
          </a:stretch>
        </p:blipFill>
        <p:spPr>
          <a:xfrm>
            <a:off x="8015258" y="-12700"/>
            <a:ext cx="4189442" cy="6858000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/>
          <a:srcRect t="15838" r="78197" b="16675"/>
          <a:stretch>
            <a:fillRect/>
          </a:stretch>
        </p:blipFill>
        <p:spPr>
          <a:xfrm flipH="1">
            <a:off x="0" y="-12700"/>
            <a:ext cx="4189442" cy="6858000"/>
          </a:xfrm>
          <a:prstGeom prst="rect">
            <a:avLst/>
          </a:prstGeom>
        </p:spPr>
      </p:pic>
      <p:cxnSp>
        <p:nvCxnSpPr>
          <p:cNvPr id="3" name="直接连接符 2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54115" t="20375" r="25555" b="20378"/>
          <a:stretch>
            <a:fillRect/>
          </a:stretch>
        </p:blipFill>
        <p:spPr>
          <a:xfrm>
            <a:off x="7739212" y="-4813"/>
            <a:ext cx="4452788" cy="6862813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54115" t="20375" r="25555" b="20378"/>
          <a:stretch>
            <a:fillRect/>
          </a:stretch>
        </p:blipFill>
        <p:spPr>
          <a:xfrm>
            <a:off x="7739212" y="0"/>
            <a:ext cx="4452788" cy="686281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977391" y="1468486"/>
            <a:ext cx="8115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 smtClean="0">
                <a:solidFill>
                  <a:srgbClr val="00B050"/>
                </a:solidFill>
                <a:latin typeface="Rockwell" panose="02060603020205020403" pitchFamily="18" charset="0"/>
              </a:rPr>
              <a:t>工作汇报</a:t>
            </a:r>
            <a:endParaRPr lang="en-US" altLang="zh-CN" sz="5400" b="1" dirty="0">
              <a:solidFill>
                <a:srgbClr val="00B050"/>
              </a:solidFill>
              <a:latin typeface="Rockwell" panose="02060603020205020403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617710" y="4754245"/>
            <a:ext cx="22580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/>
              <a:t>    </a:t>
            </a:r>
            <a:r>
              <a:rPr lang="en-US" altLang="zh-CN" sz="3200" b="1" dirty="0"/>
              <a:t> </a:t>
            </a:r>
            <a:r>
              <a:rPr lang="zh-CN" altLang="en-US" sz="3200" b="1" dirty="0" smtClean="0">
                <a:latin typeface="+mn-ea"/>
              </a:rPr>
              <a:t>张鹤</a:t>
            </a:r>
            <a:endParaRPr lang="en-US" altLang="zh-CN" sz="3200" b="1" dirty="0" smtClean="0">
              <a:latin typeface="+mn-ea"/>
            </a:endParaRPr>
          </a:p>
          <a:p>
            <a:r>
              <a:rPr lang="en-US" altLang="zh-CN" sz="3200" b="1" dirty="0" smtClean="0">
                <a:latin typeface="+mn-ea"/>
              </a:rPr>
              <a:t>2020.4.9</a:t>
            </a:r>
            <a:endParaRPr lang="zh-CN" altLang="en-US" sz="32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5393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https://ieeexplore.ieee.org/mediastore_new/IEEE/content/media/8359997/8363198/8363717/8363717-fig-2-source-large.gif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268730" y="1451610"/>
            <a:ext cx="938403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算法思路：</a:t>
            </a:r>
            <a:endParaRPr lang="en-US" altLang="zh-CN" dirty="0" smtClean="0"/>
          </a:p>
          <a:p>
            <a:r>
              <a:rPr lang="en-US" altLang="zh-CN" dirty="0" smtClean="0"/>
              <a:t>1.</a:t>
            </a:r>
            <a:r>
              <a:rPr lang="zh-CN" altLang="en-US" dirty="0" smtClean="0"/>
              <a:t>读取</a:t>
            </a:r>
            <a:r>
              <a:rPr lang="en-US" altLang="zh-CN" dirty="0" smtClean="0"/>
              <a:t>wine</a:t>
            </a:r>
            <a:r>
              <a:rPr lang="zh-CN" altLang="en-US" dirty="0" smtClean="0"/>
              <a:t>数据集</a:t>
            </a:r>
            <a:endParaRPr lang="en-US" altLang="zh-CN" dirty="0" smtClean="0"/>
          </a:p>
          <a:p>
            <a:r>
              <a:rPr lang="en-US" altLang="zh-CN" dirty="0" smtClean="0"/>
              <a:t>2.</a:t>
            </a:r>
            <a:r>
              <a:rPr lang="zh-CN" altLang="en-US" dirty="0" smtClean="0"/>
              <a:t>取第</a:t>
            </a:r>
            <a:r>
              <a:rPr lang="en-US" altLang="zh-CN" dirty="0" smtClean="0"/>
              <a:t>0</a:t>
            </a:r>
            <a:r>
              <a:rPr lang="zh-CN" altLang="en-US" dirty="0" smtClean="0"/>
              <a:t>列为</a:t>
            </a:r>
            <a:r>
              <a:rPr lang="en-US" altLang="zh-CN" dirty="0" smtClean="0"/>
              <a:t>y</a:t>
            </a:r>
            <a:r>
              <a:rPr lang="zh-CN" altLang="en-US" dirty="0" smtClean="0"/>
              <a:t>训练集，第</a:t>
            </a:r>
            <a:r>
              <a:rPr lang="en-US" altLang="zh-CN" dirty="0" smtClean="0"/>
              <a:t>1</a:t>
            </a:r>
            <a:r>
              <a:rPr lang="zh-CN" altLang="en-US" dirty="0" smtClean="0"/>
              <a:t>列到第</a:t>
            </a:r>
            <a:r>
              <a:rPr lang="en-US" altLang="zh-CN" dirty="0" smtClean="0"/>
              <a:t>177</a:t>
            </a:r>
            <a:r>
              <a:rPr lang="zh-CN" altLang="en-US" dirty="0" smtClean="0"/>
              <a:t>列为</a:t>
            </a:r>
            <a:r>
              <a:rPr lang="en-US" altLang="zh-CN" dirty="0" smtClean="0"/>
              <a:t>x</a:t>
            </a:r>
            <a:r>
              <a:rPr lang="zh-CN" altLang="en-US" dirty="0" smtClean="0"/>
              <a:t>训练集</a:t>
            </a:r>
            <a:endParaRPr lang="en-US" altLang="zh-CN" dirty="0" smtClean="0"/>
          </a:p>
          <a:p>
            <a:r>
              <a:rPr lang="en-US" altLang="zh-CN" dirty="0" smtClean="0"/>
              <a:t>3.</a:t>
            </a:r>
            <a:r>
              <a:rPr lang="zh-CN" altLang="en-US" dirty="0" smtClean="0"/>
              <a:t>对</a:t>
            </a:r>
            <a:r>
              <a:rPr lang="en-US" altLang="zh-CN" dirty="0" smtClean="0"/>
              <a:t>x</a:t>
            </a:r>
            <a:r>
              <a:rPr lang="zh-CN" altLang="en-US" dirty="0" smtClean="0"/>
              <a:t>训练集预处理（归一化）</a:t>
            </a:r>
            <a:endParaRPr lang="en-US" altLang="zh-CN" dirty="0" smtClean="0"/>
          </a:p>
          <a:p>
            <a:r>
              <a:rPr lang="en-US" altLang="zh-CN" dirty="0" smtClean="0"/>
              <a:t>4.</a:t>
            </a:r>
            <a:r>
              <a:rPr lang="zh-CN" altLang="en-US" dirty="0"/>
              <a:t>初始化类心</a:t>
            </a:r>
            <a:r>
              <a:rPr lang="zh-CN" altLang="en-US" dirty="0" smtClean="0"/>
              <a:t>方式：</a:t>
            </a:r>
            <a:endParaRPr lang="en-US" altLang="zh-CN" dirty="0" smtClean="0"/>
          </a:p>
          <a:p>
            <a:r>
              <a:rPr lang="en-US" altLang="zh-CN" dirty="0" smtClean="0"/>
              <a:t>	a.  </a:t>
            </a:r>
            <a:r>
              <a:rPr lang="zh-CN" altLang="en-US" dirty="0" smtClean="0"/>
              <a:t>随机</a:t>
            </a:r>
            <a:endParaRPr lang="en-US" altLang="zh-CN" dirty="0" smtClean="0"/>
          </a:p>
          <a:p>
            <a:r>
              <a:rPr lang="en-US" altLang="zh-CN" dirty="0" smtClean="0"/>
              <a:t>	b.  k</a:t>
            </a:r>
            <a:r>
              <a:rPr lang="zh-CN" altLang="en-US" dirty="0" smtClean="0"/>
              <a:t>次，选取</a:t>
            </a:r>
            <a:r>
              <a:rPr lang="en-US" altLang="zh-CN" dirty="0" smtClean="0"/>
              <a:t>178/k</a:t>
            </a:r>
            <a:r>
              <a:rPr lang="zh-CN" altLang="en-US" dirty="0" smtClean="0"/>
              <a:t>个数据，取平均值（数据量大的时候速度更快，数据接近）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 smtClean="0"/>
              <a:t>输入：</a:t>
            </a:r>
            <a:r>
              <a:rPr lang="en-US" altLang="zh-CN" dirty="0" err="1" smtClean="0"/>
              <a:t>train_x</a:t>
            </a:r>
            <a:r>
              <a:rPr lang="zh-CN" altLang="en-US" dirty="0" smtClean="0"/>
              <a:t>， 聚类数</a:t>
            </a:r>
            <a:r>
              <a:rPr lang="en-US" altLang="zh-CN" dirty="0" smtClean="0"/>
              <a:t>k</a:t>
            </a:r>
            <a:r>
              <a:rPr lang="zh-CN" altLang="en-US" dirty="0" smtClean="0"/>
              <a:t>，初始化类心方式</a:t>
            </a:r>
            <a:endParaRPr lang="en-US" altLang="zh-CN" dirty="0" smtClean="0"/>
          </a:p>
          <a:p>
            <a:r>
              <a:rPr lang="en-US" altLang="zh-CN" dirty="0"/>
              <a:t>	</a:t>
            </a:r>
            <a:r>
              <a:rPr lang="en-US" altLang="zh-CN" dirty="0" smtClean="0"/>
              <a:t>a.  </a:t>
            </a:r>
            <a:r>
              <a:rPr lang="zh-CN" altLang="en-US" dirty="0" smtClean="0"/>
              <a:t>循环</a:t>
            </a:r>
            <a:r>
              <a:rPr lang="en-US" altLang="zh-CN" dirty="0" smtClean="0"/>
              <a:t>178</a:t>
            </a:r>
            <a:r>
              <a:rPr lang="zh-CN" altLang="en-US" dirty="0" smtClean="0"/>
              <a:t>次，求每个点到</a:t>
            </a:r>
            <a:r>
              <a:rPr lang="en-US" altLang="zh-CN" dirty="0" smtClean="0"/>
              <a:t>k</a:t>
            </a:r>
            <a:r>
              <a:rPr lang="zh-CN" altLang="en-US" dirty="0" smtClean="0"/>
              <a:t>个类心的欧式距离，返回距离最小的变量值，用来划</a:t>
            </a:r>
            <a:r>
              <a:rPr lang="en-US" altLang="zh-CN" dirty="0" smtClean="0"/>
              <a:t>	</a:t>
            </a:r>
            <a:r>
              <a:rPr lang="zh-CN" altLang="en-US" dirty="0" smtClean="0"/>
              <a:t>给最近的类</a:t>
            </a:r>
            <a:endParaRPr lang="en-US" altLang="zh-CN" dirty="0" smtClean="0"/>
          </a:p>
          <a:p>
            <a:r>
              <a:rPr lang="en-US" altLang="zh-CN" dirty="0"/>
              <a:t>	</a:t>
            </a:r>
            <a:r>
              <a:rPr lang="en-US" altLang="zh-CN" dirty="0" smtClean="0"/>
              <a:t>b.  </a:t>
            </a:r>
            <a:r>
              <a:rPr lang="zh-CN" altLang="en-US" dirty="0" smtClean="0"/>
              <a:t>循环</a:t>
            </a:r>
            <a:r>
              <a:rPr lang="en-US" altLang="zh-CN" dirty="0" smtClean="0"/>
              <a:t>k</a:t>
            </a:r>
            <a:r>
              <a:rPr lang="zh-CN" altLang="en-US" dirty="0" smtClean="0"/>
              <a:t>次，把属于同一类的数据集求平均值，赋值给新的类心</a:t>
            </a:r>
            <a:endParaRPr lang="en-US" altLang="zh-CN" dirty="0" smtClean="0"/>
          </a:p>
          <a:p>
            <a:r>
              <a:rPr lang="en-US" altLang="zh-CN" dirty="0"/>
              <a:t>	</a:t>
            </a:r>
            <a:r>
              <a:rPr lang="en-US" altLang="zh-CN" dirty="0" smtClean="0"/>
              <a:t>c.  </a:t>
            </a:r>
            <a:r>
              <a:rPr lang="zh-CN" altLang="en-US" dirty="0" smtClean="0"/>
              <a:t>判断新的类心与原来类心的欧氏距离，若差值大于阈值（我设置的是</a:t>
            </a:r>
            <a:r>
              <a:rPr lang="en-US" altLang="zh-CN" dirty="0" smtClean="0"/>
              <a:t>0</a:t>
            </a:r>
            <a:r>
              <a:rPr lang="zh-CN" altLang="en-US" dirty="0" smtClean="0"/>
              <a:t>），循环</a:t>
            </a:r>
            <a:r>
              <a:rPr lang="en-US" altLang="zh-CN" dirty="0" smtClean="0"/>
              <a:t>		     </a:t>
            </a:r>
            <a:r>
              <a:rPr lang="en-US" altLang="zh-CN" dirty="0" err="1" smtClean="0"/>
              <a:t>abc</a:t>
            </a:r>
            <a:r>
              <a:rPr lang="zh-CN" altLang="en-US" dirty="0" smtClean="0"/>
              <a:t>操作</a:t>
            </a:r>
            <a:endParaRPr lang="en-US" altLang="zh-CN" dirty="0" smtClean="0"/>
          </a:p>
          <a:p>
            <a:r>
              <a:rPr lang="en-US" altLang="zh-CN" dirty="0"/>
              <a:t>	</a:t>
            </a:r>
            <a:r>
              <a:rPr lang="en-US" altLang="zh-CN" dirty="0" smtClean="0"/>
              <a:t>d.  </a:t>
            </a:r>
            <a:r>
              <a:rPr lang="zh-CN" altLang="en-US" dirty="0" smtClean="0"/>
              <a:t>否则，退出循环，计算</a:t>
            </a:r>
            <a:r>
              <a:rPr lang="en-US" altLang="zh-CN" dirty="0" smtClean="0"/>
              <a:t>b</a:t>
            </a:r>
            <a:r>
              <a:rPr lang="zh-CN" altLang="en-US" dirty="0" smtClean="0"/>
              <a:t>完成次数（迭代次数），计算最后一次划分属于同一类</a:t>
            </a:r>
            <a:r>
              <a:rPr lang="en-US" altLang="zh-CN" dirty="0" smtClean="0"/>
              <a:t>	</a:t>
            </a:r>
            <a:r>
              <a:rPr lang="zh-CN" altLang="en-US" dirty="0" smtClean="0"/>
              <a:t>心的数据与该类心的距离平方和（簇内平方和 </a:t>
            </a:r>
            <a:r>
              <a:rPr lang="en-US" altLang="zh-CN" dirty="0" smtClean="0"/>
              <a:t>SSE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zh-CN" altLang="en-US" dirty="0" smtClean="0"/>
              <a:t>输出：类心位置，分类，迭代次数，</a:t>
            </a:r>
            <a:r>
              <a:rPr lang="en-US" altLang="zh-CN" dirty="0" smtClean="0"/>
              <a:t>SSE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405890" y="422910"/>
            <a:ext cx="8046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C-</a:t>
            </a:r>
            <a:r>
              <a:rPr lang="zh-CN" altLang="en-US" dirty="0" smtClean="0"/>
              <a:t>均值算法</a:t>
            </a:r>
            <a:r>
              <a:rPr lang="en-US" altLang="zh-CN" dirty="0" smtClean="0"/>
              <a:t>——k-means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405890" y="422910"/>
            <a:ext cx="8046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出现问题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405890" y="2034540"/>
            <a:ext cx="938403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得到的分类是随机的，不一定是（</a:t>
            </a:r>
            <a:r>
              <a:rPr lang="en-US" altLang="zh-CN" dirty="0" smtClean="0"/>
              <a:t>1 2 3 </a:t>
            </a:r>
            <a:r>
              <a:rPr lang="zh-CN" altLang="en-US" dirty="0" smtClean="0"/>
              <a:t>类顺序排）</a:t>
            </a:r>
            <a:endParaRPr lang="en-US" altLang="zh-CN" dirty="0" smtClean="0"/>
          </a:p>
          <a:p>
            <a:r>
              <a:rPr lang="en-US" altLang="zh-CN" dirty="0"/>
              <a:t>[1 1 1 1 1 1 1 1 1 1 1 1 1 1 1 1 1 1 1 1 1 1 1 1 1 1 1 1 1 1 1 1 1 1 1 1 1</a:t>
            </a:r>
          </a:p>
          <a:p>
            <a:r>
              <a:rPr lang="en-US" altLang="zh-CN" dirty="0"/>
              <a:t> 1 1 1 1 1 1 1 1 1 1 1 1 1 1 1 1 1 1 1 1 1 1 3 2 2 3 3 3 3 3 3 2 3 2 3 3 1</a:t>
            </a:r>
          </a:p>
          <a:p>
            <a:r>
              <a:rPr lang="en-US" altLang="zh-CN" dirty="0"/>
              <a:t> 3 3 3 3 3 3 3 3 3 2 3 3 3 3 3 3 3 3 3 3 3 1 3 3 3 3 3 3 3 3 3 3 3 3 3 3 3</a:t>
            </a:r>
          </a:p>
          <a:p>
            <a:r>
              <a:rPr lang="en-US" altLang="zh-CN" dirty="0"/>
              <a:t> 3 3 3 3 3 3 3 2 3 3 3 3 3 3 3 3 3 3 3 2 2 2 2 2 2 2 2 2 2 2 2 2 2 2 2 2 2</a:t>
            </a:r>
          </a:p>
          <a:p>
            <a:r>
              <a:rPr lang="en-US" altLang="zh-CN" dirty="0"/>
              <a:t> 2 2 2 2 2 2 2 2 2 2 2 2 2 2 2 2 2 2 2 2 2 2 2 2 2 2 2 2 2 2</a:t>
            </a:r>
            <a:r>
              <a:rPr lang="en-US" altLang="zh-CN" dirty="0" smtClean="0"/>
              <a:t>]</a:t>
            </a:r>
          </a:p>
          <a:p>
            <a:endParaRPr lang="en-US" altLang="zh-CN" dirty="0" smtClean="0"/>
          </a:p>
          <a:p>
            <a:r>
              <a:rPr lang="zh-CN" altLang="en-US" dirty="0" smtClean="0"/>
              <a:t>原始数据集：</a:t>
            </a:r>
            <a:r>
              <a:rPr lang="en-US" altLang="zh-CN" dirty="0" smtClean="0"/>
              <a:t>59 </a:t>
            </a:r>
            <a:r>
              <a:rPr lang="zh-CN" altLang="en-US" dirty="0" smtClean="0"/>
              <a:t>个 </a:t>
            </a:r>
            <a:r>
              <a:rPr lang="en-US" altLang="zh-CN" dirty="0" smtClean="0"/>
              <a:t>1      </a:t>
            </a:r>
            <a:r>
              <a:rPr lang="zh-CN" altLang="en-US" dirty="0" smtClean="0"/>
              <a:t>，</a:t>
            </a:r>
            <a:r>
              <a:rPr lang="en-US" altLang="zh-CN" dirty="0" smtClean="0"/>
              <a:t>71 </a:t>
            </a:r>
            <a:r>
              <a:rPr lang="zh-CN" altLang="en-US" dirty="0"/>
              <a:t>个 </a:t>
            </a:r>
            <a:r>
              <a:rPr lang="en-US" altLang="zh-CN" dirty="0"/>
              <a:t>2 </a:t>
            </a:r>
            <a:r>
              <a:rPr lang="en-US" altLang="zh-CN" dirty="0" smtClean="0"/>
              <a:t>        </a:t>
            </a:r>
            <a:r>
              <a:rPr lang="zh-CN" altLang="en-US" dirty="0" smtClean="0"/>
              <a:t>，</a:t>
            </a:r>
            <a:r>
              <a:rPr lang="en-US" altLang="zh-CN" dirty="0"/>
              <a:t>48 </a:t>
            </a:r>
            <a:r>
              <a:rPr lang="zh-CN" altLang="en-US" dirty="0"/>
              <a:t>个 </a:t>
            </a:r>
            <a:r>
              <a:rPr lang="en-US" altLang="zh-CN" dirty="0" smtClean="0"/>
              <a:t>3</a:t>
            </a:r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zh-CN" altLang="en-US" dirty="0" smtClean="0"/>
              <a:t>解决方法：众数</a:t>
            </a:r>
            <a:endParaRPr lang="en-US" altLang="zh-CN" dirty="0" smtClean="0"/>
          </a:p>
          <a:p>
            <a:r>
              <a:rPr lang="zh-CN" altLang="en-US" dirty="0" smtClean="0"/>
              <a:t>把算法得到的数据集，按照众数大小分配</a:t>
            </a:r>
            <a:r>
              <a:rPr lang="en-US" altLang="zh-CN" dirty="0" smtClean="0"/>
              <a:t>1 2 3</a:t>
            </a:r>
            <a:r>
              <a:rPr lang="zh-CN" altLang="en-US" dirty="0" smtClean="0"/>
              <a:t>类，同理，把原始标签按照众数分配 </a:t>
            </a:r>
            <a:r>
              <a:rPr lang="en-US" altLang="zh-CN" dirty="0" smtClean="0"/>
              <a:t>1 2 3</a:t>
            </a:r>
            <a:r>
              <a:rPr lang="zh-CN" altLang="en-US" dirty="0" smtClean="0"/>
              <a:t>类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568553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405890" y="422910"/>
            <a:ext cx="8046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设计实验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2103120" y="2152456"/>
            <a:ext cx="938403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 smtClean="0"/>
              <a:t>1.</a:t>
            </a:r>
            <a:r>
              <a:rPr lang="zh-CN" altLang="en-US" sz="2400" dirty="0" smtClean="0"/>
              <a:t>对比有无预处理（归一化）对实验数据的影响</a:t>
            </a:r>
            <a:endParaRPr lang="en-US" altLang="zh-CN" sz="2400" dirty="0" smtClean="0"/>
          </a:p>
          <a:p>
            <a:pPr>
              <a:lnSpc>
                <a:spcPct val="150000"/>
              </a:lnSpc>
            </a:pPr>
            <a:r>
              <a:rPr lang="en-US" altLang="zh-CN" sz="2400" dirty="0" smtClean="0"/>
              <a:t>2.</a:t>
            </a:r>
            <a:r>
              <a:rPr lang="zh-CN" altLang="en-US" sz="2400" dirty="0" smtClean="0"/>
              <a:t>对比不同初始类心选择对实验数据的影响</a:t>
            </a:r>
            <a:endParaRPr lang="en-US" altLang="zh-CN" sz="2400" dirty="0" smtClean="0"/>
          </a:p>
          <a:p>
            <a:pPr>
              <a:lnSpc>
                <a:spcPct val="150000"/>
              </a:lnSpc>
            </a:pPr>
            <a:r>
              <a:rPr lang="en-US" altLang="zh-CN" sz="2400" dirty="0" smtClean="0"/>
              <a:t>3.</a:t>
            </a:r>
            <a:r>
              <a:rPr lang="zh-CN" altLang="en-US" sz="2400" dirty="0" smtClean="0"/>
              <a:t>分不同类，对簇内平方和的影响</a:t>
            </a:r>
            <a:endParaRPr lang="en-US" altLang="zh-CN" sz="2400" dirty="0" smtClean="0"/>
          </a:p>
          <a:p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8655996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1405890" y="422910"/>
            <a:ext cx="8046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实验分析</a:t>
            </a:r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2625090" y="4383316"/>
            <a:ext cx="16383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13.47084207</a:t>
            </a:r>
          </a:p>
          <a:p>
            <a:r>
              <a:rPr lang="en-US" altLang="zh-CN" dirty="0">
                <a:solidFill>
                  <a:srgbClr val="009900"/>
                </a:solidFill>
              </a:rPr>
              <a:t>0.94662921</a:t>
            </a:r>
          </a:p>
          <a:p>
            <a:r>
              <a:rPr lang="en-US" altLang="zh-CN" dirty="0"/>
              <a:t>0.03377372</a:t>
            </a:r>
          </a:p>
          <a:p>
            <a:r>
              <a:rPr lang="en-US" altLang="zh-CN" dirty="0"/>
              <a:t>6</a:t>
            </a:r>
          </a:p>
        </p:txBody>
      </p:sp>
      <p:sp>
        <p:nvSpPr>
          <p:cNvPr id="14" name="矩形 13"/>
          <p:cNvSpPr/>
          <p:nvPr/>
        </p:nvSpPr>
        <p:spPr>
          <a:xfrm>
            <a:off x="4263390" y="4377512"/>
            <a:ext cx="155448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13.88465508</a:t>
            </a:r>
          </a:p>
          <a:p>
            <a:r>
              <a:rPr lang="en-US" altLang="zh-CN" dirty="0">
                <a:solidFill>
                  <a:srgbClr val="009900"/>
                </a:solidFill>
              </a:rPr>
              <a:t>0.948033705</a:t>
            </a:r>
          </a:p>
          <a:p>
            <a:r>
              <a:rPr lang="en-US" altLang="zh-CN" dirty="0"/>
              <a:t>0.024766862</a:t>
            </a:r>
          </a:p>
          <a:p>
            <a:r>
              <a:rPr lang="en-US" altLang="zh-CN" dirty="0"/>
              <a:t>6</a:t>
            </a:r>
          </a:p>
        </p:txBody>
      </p:sp>
      <p:sp>
        <p:nvSpPr>
          <p:cNvPr id="15" name="矩形 14"/>
          <p:cNvSpPr/>
          <p:nvPr/>
        </p:nvSpPr>
        <p:spPr>
          <a:xfrm>
            <a:off x="1215390" y="4371708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/>
              <a:t>SSE</a:t>
            </a:r>
          </a:p>
          <a:p>
            <a:r>
              <a:rPr lang="en-US" altLang="zh-CN" dirty="0"/>
              <a:t>accuracy</a:t>
            </a:r>
          </a:p>
          <a:p>
            <a:r>
              <a:rPr lang="en-US" altLang="zh-CN" dirty="0"/>
              <a:t>time</a:t>
            </a:r>
          </a:p>
          <a:p>
            <a:r>
              <a:rPr lang="zh-CN" altLang="en-US" dirty="0"/>
              <a:t>迭代次数</a:t>
            </a:r>
          </a:p>
        </p:txBody>
      </p:sp>
      <p:sp>
        <p:nvSpPr>
          <p:cNvPr id="16" name="矩形 15"/>
          <p:cNvSpPr/>
          <p:nvPr/>
        </p:nvSpPr>
        <p:spPr>
          <a:xfrm>
            <a:off x="2625090" y="1824388"/>
            <a:ext cx="334137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13.47084207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0.94662921</a:t>
            </a:r>
          </a:p>
          <a:p>
            <a:r>
              <a:rPr lang="en-US" altLang="zh-CN" dirty="0"/>
              <a:t>0.03377372</a:t>
            </a:r>
          </a:p>
          <a:p>
            <a:r>
              <a:rPr lang="en-US" altLang="zh-CN" dirty="0"/>
              <a:t>6</a:t>
            </a:r>
          </a:p>
        </p:txBody>
      </p:sp>
      <p:sp>
        <p:nvSpPr>
          <p:cNvPr id="19" name="矩形 18"/>
          <p:cNvSpPr/>
          <p:nvPr/>
        </p:nvSpPr>
        <p:spPr>
          <a:xfrm>
            <a:off x="4263390" y="1812780"/>
            <a:ext cx="170307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474018.1664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0.70224719</a:t>
            </a:r>
          </a:p>
          <a:p>
            <a:r>
              <a:rPr lang="en-US" altLang="zh-CN" dirty="0"/>
              <a:t>0.020142913</a:t>
            </a:r>
          </a:p>
          <a:p>
            <a:r>
              <a:rPr lang="en-US" altLang="zh-CN" dirty="0"/>
              <a:t>4.5</a:t>
            </a:r>
          </a:p>
        </p:txBody>
      </p:sp>
      <p:sp>
        <p:nvSpPr>
          <p:cNvPr id="20" name="矩形 19"/>
          <p:cNvSpPr/>
          <p:nvPr/>
        </p:nvSpPr>
        <p:spPr>
          <a:xfrm>
            <a:off x="1215390" y="1824387"/>
            <a:ext cx="14097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SSE</a:t>
            </a:r>
          </a:p>
          <a:p>
            <a:r>
              <a:rPr lang="en-US" altLang="zh-CN" dirty="0"/>
              <a:t>accuracy</a:t>
            </a:r>
          </a:p>
          <a:p>
            <a:r>
              <a:rPr lang="en-US" altLang="zh-CN" dirty="0"/>
              <a:t>time</a:t>
            </a:r>
          </a:p>
          <a:p>
            <a:r>
              <a:rPr lang="zh-CN" altLang="en-US" dirty="0"/>
              <a:t>迭代次数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7311390" y="1970888"/>
            <a:ext cx="3417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四组数据取平均</a:t>
            </a:r>
            <a:endParaRPr lang="en-US" altLang="zh-CN" dirty="0" smtClean="0"/>
          </a:p>
          <a:p>
            <a:r>
              <a:rPr lang="zh-CN" altLang="en-US" dirty="0" smtClean="0"/>
              <a:t>可以对比得到，预处理化情况下正确率更高</a:t>
            </a:r>
            <a:endParaRPr lang="zh-CN" altLang="en-US" dirty="0"/>
          </a:p>
        </p:txBody>
      </p:sp>
      <p:sp>
        <p:nvSpPr>
          <p:cNvPr id="24" name="文本框 23"/>
          <p:cNvSpPr txBox="1"/>
          <p:nvPr/>
        </p:nvSpPr>
        <p:spPr>
          <a:xfrm>
            <a:off x="2625090" y="1517163"/>
            <a:ext cx="1638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预处理</a:t>
            </a:r>
            <a:r>
              <a:rPr lang="en-US" altLang="zh-CN" dirty="0" smtClean="0"/>
              <a:t>+</a:t>
            </a:r>
            <a:r>
              <a:rPr lang="zh-CN" altLang="en-US" dirty="0" smtClean="0"/>
              <a:t>随机</a:t>
            </a:r>
            <a:endParaRPr lang="zh-CN" altLang="en-US" dirty="0"/>
          </a:p>
        </p:txBody>
      </p:sp>
      <p:sp>
        <p:nvSpPr>
          <p:cNvPr id="25" name="文本框 24"/>
          <p:cNvSpPr txBox="1"/>
          <p:nvPr/>
        </p:nvSpPr>
        <p:spPr>
          <a:xfrm>
            <a:off x="4295774" y="1509543"/>
            <a:ext cx="17849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无预处理</a:t>
            </a:r>
            <a:r>
              <a:rPr lang="en-US" altLang="zh-CN" dirty="0" smtClean="0"/>
              <a:t>+</a:t>
            </a:r>
            <a:r>
              <a:rPr lang="zh-CN" altLang="en-US" dirty="0" smtClean="0"/>
              <a:t>随机</a:t>
            </a:r>
            <a:endParaRPr lang="zh-CN" altLang="en-US" dirty="0"/>
          </a:p>
        </p:txBody>
      </p:sp>
      <p:sp>
        <p:nvSpPr>
          <p:cNvPr id="26" name="文本框 25"/>
          <p:cNvSpPr txBox="1"/>
          <p:nvPr/>
        </p:nvSpPr>
        <p:spPr>
          <a:xfrm>
            <a:off x="2625090" y="4013983"/>
            <a:ext cx="1638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随机选择</a:t>
            </a:r>
            <a:endParaRPr lang="zh-CN" altLang="en-US" dirty="0"/>
          </a:p>
        </p:txBody>
      </p:sp>
      <p:sp>
        <p:nvSpPr>
          <p:cNvPr id="27" name="文本框 26"/>
          <p:cNvSpPr txBox="1"/>
          <p:nvPr/>
        </p:nvSpPr>
        <p:spPr>
          <a:xfrm>
            <a:off x="4295775" y="3987503"/>
            <a:ext cx="1638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平均</a:t>
            </a:r>
            <a:endParaRPr lang="zh-CN" altLang="en-US" dirty="0"/>
          </a:p>
        </p:txBody>
      </p:sp>
      <p:sp>
        <p:nvSpPr>
          <p:cNvPr id="28" name="文本框 27"/>
          <p:cNvSpPr txBox="1"/>
          <p:nvPr/>
        </p:nvSpPr>
        <p:spPr>
          <a:xfrm>
            <a:off x="7311390" y="4013983"/>
            <a:ext cx="341757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四组数据取平均</a:t>
            </a:r>
            <a:endParaRPr lang="en-US" altLang="zh-CN" dirty="0" smtClean="0"/>
          </a:p>
          <a:p>
            <a:r>
              <a:rPr lang="zh-CN" altLang="en-US" dirty="0" smtClean="0"/>
              <a:t>数据量大的情况下，平均所用时间更短</a:t>
            </a:r>
            <a:endParaRPr lang="en-US" altLang="zh-CN" dirty="0" smtClean="0"/>
          </a:p>
          <a:p>
            <a:r>
              <a:rPr lang="zh-CN" altLang="en-US" dirty="0" smtClean="0"/>
              <a:t>在</a:t>
            </a:r>
            <a:r>
              <a:rPr lang="en-US" altLang="zh-CN" dirty="0" smtClean="0"/>
              <a:t>wine</a:t>
            </a:r>
            <a:r>
              <a:rPr lang="zh-CN" altLang="en-US" dirty="0" smtClean="0"/>
              <a:t>数据集下，类心距离比较近反而效果会更好一点？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936350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图表 2"/>
          <p:cNvGraphicFramePr/>
          <p:nvPr>
            <p:extLst>
              <p:ext uri="{D42A27DB-BD31-4B8C-83A1-F6EECF244321}">
                <p14:modId xmlns:p14="http://schemas.microsoft.com/office/powerpoint/2010/main" val="3629974014"/>
              </p:ext>
            </p:extLst>
          </p:nvPr>
        </p:nvGraphicFramePr>
        <p:xfrm>
          <a:off x="1129664" y="3361562"/>
          <a:ext cx="4836796" cy="29020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图表 3"/>
          <p:cNvGraphicFramePr/>
          <p:nvPr>
            <p:extLst>
              <p:ext uri="{D42A27DB-BD31-4B8C-83A1-F6EECF244321}">
                <p14:modId xmlns:p14="http://schemas.microsoft.com/office/powerpoint/2010/main" val="1375165148"/>
              </p:ext>
            </p:extLst>
          </p:nvPr>
        </p:nvGraphicFramePr>
        <p:xfrm>
          <a:off x="6366509" y="3383281"/>
          <a:ext cx="4801712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147" y="1676594"/>
            <a:ext cx="11773853" cy="910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331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405890" y="422910"/>
            <a:ext cx="8046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/>
              <a:t>Sklearn_KMeans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34239"/>
            <a:ext cx="6238875" cy="24288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212" y="4329112"/>
            <a:ext cx="5286375" cy="14001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9107" y="4500562"/>
            <a:ext cx="1457325" cy="1228725"/>
          </a:xfrm>
          <a:prstGeom prst="rect">
            <a:avLst/>
          </a:prstGeom>
        </p:spPr>
      </p:pic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6578918"/>
              </p:ext>
            </p:extLst>
          </p:nvPr>
        </p:nvGraphicFramePr>
        <p:xfrm>
          <a:off x="6902767" y="1466218"/>
          <a:ext cx="5178743" cy="25968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78743">
                  <a:extLst>
                    <a:ext uri="{9D8B030D-6E8A-4147-A177-3AD203B41FA5}">
                      <a16:colId xmlns:a16="http://schemas.microsoft.com/office/drawing/2014/main" val="682747860"/>
                    </a:ext>
                  </a:extLst>
                </a:gridCol>
              </a:tblGrid>
              <a:tr h="288544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u="none" strike="noStrike" dirty="0">
                          <a:effectLst/>
                        </a:rPr>
                        <a:t>[[0.544689   0.47844053 0.56013612 0.53833177 0.31146245 0.24476489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400" marR="8400" marT="8400" marB="0" anchor="ctr"/>
                </a:tc>
                <a:extLst>
                  <a:ext uri="{0D108BD9-81ED-4DB2-BD59-A6C34878D82A}">
                    <a16:rowId xmlns:a16="http://schemas.microsoft.com/office/drawing/2014/main" val="191712322"/>
                  </a:ext>
                </a:extLst>
              </a:tr>
              <a:tr h="288544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u="none" strike="noStrike">
                          <a:effectLst/>
                        </a:rPr>
                        <a:t>  </a:t>
                      </a:r>
                      <a:r>
                        <a:rPr lang="en-US" altLang="zh-CN" sz="1200" u="none" strike="noStrike">
                          <a:effectLst/>
                        </a:rPr>
                        <a:t>0.10713464 0.61852487 0.22827646 0.4826404  0.19254989 0.16090576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400" marR="8400" marT="8400" marB="0" anchor="ctr"/>
                </a:tc>
                <a:extLst>
                  <a:ext uri="{0D108BD9-81ED-4DB2-BD59-A6C34878D82A}">
                    <a16:rowId xmlns:a16="http://schemas.microsoft.com/office/drawing/2014/main" val="2466622298"/>
                  </a:ext>
                </a:extLst>
              </a:tr>
              <a:tr h="288544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u="none" strike="noStrike" dirty="0">
                          <a:effectLst/>
                        </a:rPr>
                        <a:t>  </a:t>
                      </a:r>
                      <a:r>
                        <a:rPr lang="en-US" altLang="zh-CN" sz="1200" u="none" strike="noStrike" dirty="0">
                          <a:effectLst/>
                        </a:rPr>
                        <a:t>0.24739982]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400" marR="8400" marT="8400" marB="0" anchor="ctr"/>
                </a:tc>
                <a:extLst>
                  <a:ext uri="{0D108BD9-81ED-4DB2-BD59-A6C34878D82A}">
                    <a16:rowId xmlns:a16="http://schemas.microsoft.com/office/drawing/2014/main" val="4155277173"/>
                  </a:ext>
                </a:extLst>
              </a:tr>
              <a:tr h="288544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u="none" strike="noStrike">
                          <a:effectLst/>
                        </a:rPr>
                        <a:t> </a:t>
                      </a:r>
                      <a:r>
                        <a:rPr lang="en-US" altLang="zh-CN" sz="1200" u="none" strike="noStrike">
                          <a:effectLst/>
                        </a:rPr>
                        <a:t>[0.31566416 0.24330259 0.47330447 0.49762723 0.2494824  0.45495348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400" marR="8400" marT="8400" marB="0" anchor="ctr"/>
                </a:tc>
                <a:extLst>
                  <a:ext uri="{0D108BD9-81ED-4DB2-BD59-A6C34878D82A}">
                    <a16:rowId xmlns:a16="http://schemas.microsoft.com/office/drawing/2014/main" val="2780103882"/>
                  </a:ext>
                </a:extLst>
              </a:tr>
              <a:tr h="288544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u="none" strike="noStrike">
                          <a:effectLst/>
                        </a:rPr>
                        <a:t>  </a:t>
                      </a:r>
                      <a:r>
                        <a:rPr lang="en-US" altLang="zh-CN" sz="1200" u="none" strike="noStrike">
                          <a:effectLst/>
                        </a:rPr>
                        <a:t>0.38399973 0.41090147 0.3973762  0.14956119 0.47038328 0.58968545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400" marR="8400" marT="8400" marB="0" anchor="ctr"/>
                </a:tc>
                <a:extLst>
                  <a:ext uri="{0D108BD9-81ED-4DB2-BD59-A6C34878D82A}">
                    <a16:rowId xmlns:a16="http://schemas.microsoft.com/office/drawing/2014/main" val="1370169064"/>
                  </a:ext>
                </a:extLst>
              </a:tr>
              <a:tr h="288544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u="none" strike="noStrike">
                          <a:effectLst/>
                        </a:rPr>
                        <a:t>  </a:t>
                      </a:r>
                      <a:r>
                        <a:rPr lang="en-US" altLang="zh-CN" sz="1200" u="none" strike="noStrike">
                          <a:effectLst/>
                        </a:rPr>
                        <a:t>0.15846976]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400" marR="8400" marT="8400" marB="0" anchor="ctr"/>
                </a:tc>
                <a:extLst>
                  <a:ext uri="{0D108BD9-81ED-4DB2-BD59-A6C34878D82A}">
                    <a16:rowId xmlns:a16="http://schemas.microsoft.com/office/drawing/2014/main" val="1225840976"/>
                  </a:ext>
                </a:extLst>
              </a:tr>
              <a:tr h="288544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u="none" strike="noStrike">
                          <a:effectLst/>
                        </a:rPr>
                        <a:t> </a:t>
                      </a:r>
                      <a:r>
                        <a:rPr lang="en-US" altLang="zh-CN" sz="1200" u="none" strike="noStrike">
                          <a:effectLst/>
                        </a:rPr>
                        <a:t>[0.7077193  0.24189723 0.58636364 0.34424399 0.4115942  0.64327586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400" marR="8400" marT="8400" marB="0" anchor="ctr"/>
                </a:tc>
                <a:extLst>
                  <a:ext uri="{0D108BD9-81ED-4DB2-BD59-A6C34878D82A}">
                    <a16:rowId xmlns:a16="http://schemas.microsoft.com/office/drawing/2014/main" val="3765657743"/>
                  </a:ext>
                </a:extLst>
              </a:tr>
              <a:tr h="288544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u="none" strike="noStrike">
                          <a:effectLst/>
                        </a:rPr>
                        <a:t>  </a:t>
                      </a:r>
                      <a:r>
                        <a:rPr lang="en-US" altLang="zh-CN" sz="1200" u="none" strike="noStrike">
                          <a:effectLst/>
                        </a:rPr>
                        <a:t>0.55587201 0.29937107 0.47865405 0.35688282 0.48116531 0.69133089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400" marR="8400" marT="8400" marB="0" anchor="ctr"/>
                </a:tc>
                <a:extLst>
                  <a:ext uri="{0D108BD9-81ED-4DB2-BD59-A6C34878D82A}">
                    <a16:rowId xmlns:a16="http://schemas.microsoft.com/office/drawing/2014/main" val="4064898851"/>
                  </a:ext>
                </a:extLst>
              </a:tr>
              <a:tr h="288544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u="none" strike="noStrike" dirty="0">
                          <a:effectLst/>
                        </a:rPr>
                        <a:t>  </a:t>
                      </a:r>
                      <a:r>
                        <a:rPr lang="en-US" altLang="zh-CN" sz="1200" u="none" strike="noStrike" dirty="0">
                          <a:effectLst/>
                        </a:rPr>
                        <a:t>0.59901331]]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400" marR="8400" marT="8400" marB="0" anchor="ctr"/>
                </a:tc>
                <a:extLst>
                  <a:ext uri="{0D108BD9-81ED-4DB2-BD59-A6C34878D82A}">
                    <a16:rowId xmlns:a16="http://schemas.microsoft.com/office/drawing/2014/main" val="21230466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43815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884109" y="2570521"/>
            <a:ext cx="380136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cap="none" spc="0" dirty="0" smtClean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92D050"/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You!</a:t>
            </a:r>
            <a:endParaRPr lang="zh-CN" altLang="en-US" sz="5400" b="1" cap="none" spc="0" dirty="0">
              <a:ln w="12700">
                <a:solidFill>
                  <a:schemeClr val="accent1"/>
                </a:solidFill>
                <a:prstDash val="solid"/>
              </a:ln>
              <a:solidFill>
                <a:srgbClr val="92D050"/>
              </a:solid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36">
      <a:majorFont>
        <a:latin typeface="Segoe UI"/>
        <a:ea typeface="宋体"/>
        <a:cs typeface=""/>
      </a:majorFont>
      <a:minorFont>
        <a:latin typeface="Segoe UI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8010</TotalTime>
  <Words>492</Words>
  <Application>Microsoft Office PowerPoint</Application>
  <PresentationFormat>宽屏</PresentationFormat>
  <Paragraphs>86</Paragraphs>
  <Slides>8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4" baseType="lpstr">
      <vt:lpstr>等线</vt:lpstr>
      <vt:lpstr>Rockwell</vt:lpstr>
      <vt:lpstr>Segoe UI</vt:lpstr>
      <vt:lpstr>微软雅黑</vt:lpstr>
      <vt:lpstr>Arial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OfficePLUS</dc:creator>
  <cp:lastModifiedBy>zh</cp:lastModifiedBy>
  <cp:revision>1512</cp:revision>
  <dcterms:created xsi:type="dcterms:W3CDTF">2015-08-18T02:51:00Z</dcterms:created>
  <dcterms:modified xsi:type="dcterms:W3CDTF">2020-04-09T07:22:32Z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2052-10.8.2.6949</vt:lpwstr>
  </property>
</Properties>
</file>