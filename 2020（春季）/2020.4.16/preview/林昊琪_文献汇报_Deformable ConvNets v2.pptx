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0" autoAdjust="0"/>
    <p:restoredTop sz="94660"/>
  </p:normalViewPr>
  <p:slideViewPr>
    <p:cSldViewPr snapToGrid="0">
      <p:cViewPr varScale="1">
        <p:scale>
          <a:sx n="87" d="100"/>
          <a:sy n="87" d="100"/>
        </p:scale>
        <p:origin x="389"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F2B24-82D8-41F0-AADA-2D285D7E39C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552431D-7E16-4CE5-85BF-95D0DFD8FD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8354152-ED9E-42B2-A34A-ED18675B09AD}"/>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5" name="页脚占位符 4">
            <a:extLst>
              <a:ext uri="{FF2B5EF4-FFF2-40B4-BE49-F238E27FC236}">
                <a16:creationId xmlns:a16="http://schemas.microsoft.com/office/drawing/2014/main" id="{12CF5AA1-15BE-4581-8824-52F7D2FB5D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D6AD2A1-D168-44FE-A54D-074B3A1B4AFC}"/>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2002543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FA18C8-EF48-4DBC-A543-3219081B6C9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17220B5-B4D1-4779-A99F-CE77024A78F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AABC63-1683-4BB3-8767-1E24A5263BF9}"/>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5" name="页脚占位符 4">
            <a:extLst>
              <a:ext uri="{FF2B5EF4-FFF2-40B4-BE49-F238E27FC236}">
                <a16:creationId xmlns:a16="http://schemas.microsoft.com/office/drawing/2014/main" id="{1962AAF4-FDA3-43F6-A6BF-6D2A6D3011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AE4D73-C2E3-45AD-AF5B-969FBC21C261}"/>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1066609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34AD6-E857-45E4-AA40-C2000AFDD08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1F55990-5CC8-4216-B640-5D5909F055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3EEA2FA-8011-4DF1-A1A7-D743CECC24DE}"/>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5" name="页脚占位符 4">
            <a:extLst>
              <a:ext uri="{FF2B5EF4-FFF2-40B4-BE49-F238E27FC236}">
                <a16:creationId xmlns:a16="http://schemas.microsoft.com/office/drawing/2014/main" id="{8844044F-A30C-4558-8814-477B322FFC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31554B-8E93-4C6B-9436-120DA61E92B1}"/>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1126525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60ED3F-4EFD-4A54-8F4D-6D681FE9D8D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08E987A-491D-4E50-9EB8-487ACFC1795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86CA655-1056-4696-ACD5-8DC1CF065C3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809797-933B-446F-B7C7-C545C9907216}"/>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6" name="页脚占位符 5">
            <a:extLst>
              <a:ext uri="{FF2B5EF4-FFF2-40B4-BE49-F238E27FC236}">
                <a16:creationId xmlns:a16="http://schemas.microsoft.com/office/drawing/2014/main" id="{5138A6FA-8DDF-43BC-BED5-E9BB571AD17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F086018-DEC4-482E-9E86-E4BCE1B5EBB0}"/>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1343107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DE09D-38AC-4635-9975-336BCE71162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57623DC-5565-4080-9BC9-62BA1DF082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D8AC6EA-3BCA-4D89-B719-B680CE43604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3262EC5-EF8B-46C8-A6F6-191F7321E4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3368DAE-B793-4783-92FB-B4D9E45BF92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1839DE6-73B5-4C5B-A8D5-6ED41E115D35}"/>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8" name="页脚占位符 7">
            <a:extLst>
              <a:ext uri="{FF2B5EF4-FFF2-40B4-BE49-F238E27FC236}">
                <a16:creationId xmlns:a16="http://schemas.microsoft.com/office/drawing/2014/main" id="{19512722-B74F-44B5-AFDA-E5A5CBA08BC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E3FD01D-131F-4B3E-8356-85EEF2BFC1F3}"/>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671539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5A476C-3584-4CB9-90A0-F18F1437766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CBDEDCC-A60C-4C89-AD85-37184518A389}"/>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4" name="页脚占位符 3">
            <a:extLst>
              <a:ext uri="{FF2B5EF4-FFF2-40B4-BE49-F238E27FC236}">
                <a16:creationId xmlns:a16="http://schemas.microsoft.com/office/drawing/2014/main" id="{B36BF44D-F3C3-4DCE-8E50-B59C99BB058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11BF062-2BC5-4896-B259-F299450FF97E}"/>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2327280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54711AE-6303-4419-A581-C235A98D6082}"/>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3" name="页脚占位符 2">
            <a:extLst>
              <a:ext uri="{FF2B5EF4-FFF2-40B4-BE49-F238E27FC236}">
                <a16:creationId xmlns:a16="http://schemas.microsoft.com/office/drawing/2014/main" id="{3AB5AD70-B984-4B31-B262-C6155EF1D3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36097A9-90A3-4F3F-90BE-1CEE7310C1B9}"/>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3471686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AFE2A9-2545-4CD5-96BE-69E5518198E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3492C7D-E8EF-4C45-9E4B-7332D87533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5AB44FE-119E-4C1C-925B-C418BC357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F7AAF8A-FBE1-4B79-AFB6-9E62C60B18EB}"/>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6" name="页脚占位符 5">
            <a:extLst>
              <a:ext uri="{FF2B5EF4-FFF2-40B4-BE49-F238E27FC236}">
                <a16:creationId xmlns:a16="http://schemas.microsoft.com/office/drawing/2014/main" id="{25DC5D1A-CE9B-4CC4-92C5-809109D896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022E113-10CC-4547-8FD2-98084EB0F6E4}"/>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1102842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B1DC0-B0C7-4FBE-A728-EB3CC6E6995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119D671-2E42-49C8-A0E1-1CB3E6839B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76A3148-DE43-40B7-B331-D8E04E9A50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2EF8C10-AC4D-49DC-AB53-402BCBD7C615}"/>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6" name="页脚占位符 5">
            <a:extLst>
              <a:ext uri="{FF2B5EF4-FFF2-40B4-BE49-F238E27FC236}">
                <a16:creationId xmlns:a16="http://schemas.microsoft.com/office/drawing/2014/main" id="{87B098CD-4F0D-412D-A672-0B1119C75B9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68AD7C7-7207-4186-BBD0-C59C05BBCB9B}"/>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3751793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8C2C44-E09D-445E-8069-922F20CB2C5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48BE493-AAED-43A1-9E42-1B62E8B1017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B6582A-8E31-4ACF-923D-995A0028213D}"/>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5" name="页脚占位符 4">
            <a:extLst>
              <a:ext uri="{FF2B5EF4-FFF2-40B4-BE49-F238E27FC236}">
                <a16:creationId xmlns:a16="http://schemas.microsoft.com/office/drawing/2014/main" id="{4D4ADEAF-EC1F-4D00-AB63-51636E6FE0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8295142-60E5-4684-B811-C287A6C4821A}"/>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2158492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9F0A2D4-2773-4628-BE7A-C12A07539C2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227477D-00AE-48E3-8EFE-D0FC192E6C3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2006ACD-664B-4D22-80D7-D5402312B193}"/>
              </a:ext>
            </a:extLst>
          </p:cNvPr>
          <p:cNvSpPr>
            <a:spLocks noGrp="1"/>
          </p:cNvSpPr>
          <p:nvPr>
            <p:ph type="dt" sz="half" idx="10"/>
          </p:nvPr>
        </p:nvSpPr>
        <p:spPr/>
        <p:txBody>
          <a:bodyPr/>
          <a:lstStyle/>
          <a:p>
            <a:fld id="{AD4D31C7-601F-4CC5-B80E-6F9772DF8731}" type="datetimeFigureOut">
              <a:rPr lang="zh-CN" altLang="en-US" smtClean="0"/>
              <a:t>2020/4/16</a:t>
            </a:fld>
            <a:endParaRPr lang="zh-CN" altLang="en-US"/>
          </a:p>
        </p:txBody>
      </p:sp>
      <p:sp>
        <p:nvSpPr>
          <p:cNvPr id="5" name="页脚占位符 4">
            <a:extLst>
              <a:ext uri="{FF2B5EF4-FFF2-40B4-BE49-F238E27FC236}">
                <a16:creationId xmlns:a16="http://schemas.microsoft.com/office/drawing/2014/main" id="{C6F5021C-4E0A-48A6-9A0D-9D12EADFBF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439CE0-20F6-49AC-B610-E0F84BBEE31E}"/>
              </a:ext>
            </a:extLst>
          </p:cNvPr>
          <p:cNvSpPr>
            <a:spLocks noGrp="1"/>
          </p:cNvSpPr>
          <p:nvPr>
            <p:ph type="sldNum" sz="quarter" idx="12"/>
          </p:nvPr>
        </p:nvSpPr>
        <p:spPr/>
        <p:txBody>
          <a:body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511521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E5B7EE0-AD60-4ACA-A89E-BC9ADCE840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754084F-0A04-41A8-ACB2-21EDC3773D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A90E55-128F-4AFD-9036-E23E4D3E47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D31C7-601F-4CC5-B80E-6F9772DF8731}" type="datetimeFigureOut">
              <a:rPr lang="zh-CN" altLang="en-US" smtClean="0"/>
              <a:t>2020/4/16</a:t>
            </a:fld>
            <a:endParaRPr lang="zh-CN" altLang="en-US"/>
          </a:p>
        </p:txBody>
      </p:sp>
      <p:sp>
        <p:nvSpPr>
          <p:cNvPr id="5" name="页脚占位符 4">
            <a:extLst>
              <a:ext uri="{FF2B5EF4-FFF2-40B4-BE49-F238E27FC236}">
                <a16:creationId xmlns:a16="http://schemas.microsoft.com/office/drawing/2014/main" id="{4EDDDDCF-3715-4DD7-A41C-8A339B90B0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222BE4B-C1A3-4D12-9A17-85A99BB9B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981A83-B405-4156-99CE-E3B249E8CFA3}" type="slidenum">
              <a:rPr lang="zh-CN" altLang="en-US" smtClean="0"/>
              <a:t>‹#›</a:t>
            </a:fld>
            <a:endParaRPr lang="zh-CN" altLang="en-US"/>
          </a:p>
        </p:txBody>
      </p:sp>
    </p:spTree>
    <p:extLst>
      <p:ext uri="{BB962C8B-B14F-4D97-AF65-F5344CB8AC3E}">
        <p14:creationId xmlns:p14="http://schemas.microsoft.com/office/powerpoint/2010/main" val="3339242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2A5BB0-7C90-49FA-9361-F7B1AF0DB998}"/>
              </a:ext>
            </a:extLst>
          </p:cNvPr>
          <p:cNvSpPr>
            <a:spLocks noGrp="1"/>
          </p:cNvSpPr>
          <p:nvPr>
            <p:ph type="ctrTitle"/>
          </p:nvPr>
        </p:nvSpPr>
        <p:spPr>
          <a:xfrm>
            <a:off x="1524000" y="158130"/>
            <a:ext cx="8314394" cy="1540041"/>
          </a:xfrm>
        </p:spPr>
        <p:txBody>
          <a:bodyPr>
            <a:normAutofit fontScale="90000"/>
          </a:bodyPr>
          <a:lstStyle/>
          <a:p>
            <a:r>
              <a:rPr lang="en-US" altLang="zh-CN" b="1" dirty="0"/>
              <a:t>Deformable </a:t>
            </a:r>
            <a:r>
              <a:rPr lang="en-US" altLang="zh-CN" b="1" dirty="0" err="1"/>
              <a:t>ConvNets</a:t>
            </a:r>
            <a:r>
              <a:rPr lang="en-US" altLang="zh-CN" b="1" dirty="0"/>
              <a:t> v2</a:t>
            </a:r>
            <a:br>
              <a:rPr lang="en-US" altLang="zh-CN" b="1" dirty="0"/>
            </a:br>
            <a:endParaRPr lang="zh-CN" altLang="en-US" dirty="0"/>
          </a:p>
        </p:txBody>
      </p:sp>
      <p:sp>
        <p:nvSpPr>
          <p:cNvPr id="3" name="副标题 2">
            <a:extLst>
              <a:ext uri="{FF2B5EF4-FFF2-40B4-BE49-F238E27FC236}">
                <a16:creationId xmlns:a16="http://schemas.microsoft.com/office/drawing/2014/main" id="{819740EB-6B95-4DBD-B22C-3CC947A22BA9}"/>
              </a:ext>
            </a:extLst>
          </p:cNvPr>
          <p:cNvSpPr>
            <a:spLocks noGrp="1"/>
          </p:cNvSpPr>
          <p:nvPr>
            <p:ph type="subTitle" idx="1"/>
          </p:nvPr>
        </p:nvSpPr>
        <p:spPr>
          <a:xfrm>
            <a:off x="946483" y="1134406"/>
            <a:ext cx="10761961" cy="5493275"/>
          </a:xfrm>
        </p:spPr>
        <p:txBody>
          <a:bodyPr>
            <a:normAutofit/>
          </a:bodyPr>
          <a:lstStyle/>
          <a:p>
            <a:pPr algn="l"/>
            <a:r>
              <a:rPr lang="zh-CN" altLang="en-US" dirty="0"/>
              <a:t>主要贡献：</a:t>
            </a:r>
            <a:endParaRPr lang="en-US" altLang="zh-CN" dirty="0"/>
          </a:p>
          <a:p>
            <a:pPr algn="l"/>
            <a:r>
              <a:rPr lang="en-US" altLang="zh-CN" dirty="0"/>
              <a:t>1</a:t>
            </a:r>
            <a:r>
              <a:rPr lang="zh-CN" altLang="en-US" dirty="0"/>
              <a:t>、在特征提取网络的更多层中引入可变形卷积结构，从后面的实验来看，这个操作虽然简单，但是效果提升非常明显，只不过在</a:t>
            </a:r>
            <a:r>
              <a:rPr lang="en-US" altLang="zh-CN" dirty="0"/>
              <a:t>v1</a:t>
            </a:r>
            <a:r>
              <a:rPr lang="zh-CN" altLang="en-US" dirty="0"/>
              <a:t>论文中使用</a:t>
            </a:r>
            <a:r>
              <a:rPr lang="en-US" altLang="zh-CN" dirty="0"/>
              <a:t>PASCAL VOC</a:t>
            </a:r>
            <a:r>
              <a:rPr lang="zh-CN" altLang="en-US" dirty="0"/>
              <a:t>数据集，所以难以观察到这部分提升。</a:t>
            </a:r>
            <a:endParaRPr lang="en-US" altLang="zh-CN" dirty="0"/>
          </a:p>
          <a:p>
            <a:pPr algn="l"/>
            <a:endParaRPr lang="en-US" altLang="zh-CN" dirty="0"/>
          </a:p>
          <a:p>
            <a:pPr algn="l"/>
            <a:r>
              <a:rPr lang="en-US" altLang="zh-CN" dirty="0"/>
              <a:t>2</a:t>
            </a:r>
            <a:r>
              <a:rPr lang="zh-CN" altLang="en-US" dirty="0"/>
              <a:t>、改进</a:t>
            </a:r>
            <a:r>
              <a:rPr lang="en-US" altLang="zh-CN" dirty="0"/>
              <a:t>deformable</a:t>
            </a:r>
            <a:r>
              <a:rPr lang="zh-CN" altLang="en-US" dirty="0"/>
              <a:t>结构，我们知道不管是</a:t>
            </a:r>
            <a:r>
              <a:rPr lang="en-US" altLang="zh-CN" dirty="0"/>
              <a:t>deformable convolution</a:t>
            </a:r>
            <a:r>
              <a:rPr lang="zh-CN" altLang="en-US" dirty="0"/>
              <a:t>还是</a:t>
            </a:r>
            <a:r>
              <a:rPr lang="en-US" altLang="zh-CN" dirty="0"/>
              <a:t>deformable </a:t>
            </a:r>
            <a:r>
              <a:rPr lang="en-US" altLang="zh-CN" dirty="0" err="1"/>
              <a:t>RoI</a:t>
            </a:r>
            <a:r>
              <a:rPr lang="en-US" altLang="zh-CN" dirty="0"/>
              <a:t> pooling</a:t>
            </a:r>
            <a:r>
              <a:rPr lang="zh-CN" altLang="en-US" dirty="0"/>
              <a:t>，主要通过引入</a:t>
            </a:r>
            <a:r>
              <a:rPr lang="en-US" altLang="zh-CN" dirty="0"/>
              <a:t>offset</a:t>
            </a:r>
            <a:r>
              <a:rPr lang="zh-CN" altLang="en-US" dirty="0"/>
              <a:t>，使得特征提取过程能够更加集中于有效信息区域，而这篇论文在</a:t>
            </a:r>
            <a:r>
              <a:rPr lang="en-US" altLang="zh-CN" dirty="0"/>
              <a:t>v1</a:t>
            </a:r>
            <a:r>
              <a:rPr lang="zh-CN" altLang="en-US" dirty="0"/>
              <a:t>的基础上引入了</a:t>
            </a:r>
            <a:r>
              <a:rPr lang="en-US" altLang="zh-CN" dirty="0"/>
              <a:t>modulation</a:t>
            </a:r>
            <a:r>
              <a:rPr lang="zh-CN" altLang="en-US" dirty="0"/>
              <a:t>，</a:t>
            </a:r>
            <a:r>
              <a:rPr lang="en-US" altLang="zh-CN" dirty="0"/>
              <a:t>modulation</a:t>
            </a:r>
            <a:r>
              <a:rPr lang="zh-CN" altLang="en-US" dirty="0"/>
              <a:t>简单而言就是权重，通过分配不同权重给经过</a:t>
            </a:r>
            <a:r>
              <a:rPr lang="en-US" altLang="zh-CN" dirty="0"/>
              <a:t>offset</a:t>
            </a:r>
            <a:r>
              <a:rPr lang="zh-CN" altLang="en-US" dirty="0"/>
              <a:t>修正后的区域，实现更加准确的特征提取。</a:t>
            </a:r>
            <a:endParaRPr lang="en-US" altLang="zh-CN" dirty="0"/>
          </a:p>
          <a:p>
            <a:pPr algn="l"/>
            <a:endParaRPr lang="zh-CN" altLang="en-US" dirty="0"/>
          </a:p>
        </p:txBody>
      </p:sp>
    </p:spTree>
    <p:extLst>
      <p:ext uri="{BB962C8B-B14F-4D97-AF65-F5344CB8AC3E}">
        <p14:creationId xmlns:p14="http://schemas.microsoft.com/office/powerpoint/2010/main" val="104124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968AF7-B372-4728-93B5-020A6C837AF7}"/>
              </a:ext>
            </a:extLst>
          </p:cNvPr>
          <p:cNvSpPr>
            <a:spLocks noGrp="1"/>
          </p:cNvSpPr>
          <p:nvPr>
            <p:ph type="title"/>
          </p:nvPr>
        </p:nvSpPr>
        <p:spPr>
          <a:xfrm>
            <a:off x="838200" y="365125"/>
            <a:ext cx="10515600" cy="872409"/>
          </a:xfrm>
        </p:spPr>
        <p:txBody>
          <a:bodyPr/>
          <a:lstStyle/>
          <a:p>
            <a:r>
              <a:rPr lang="zh-CN" altLang="en-US" dirty="0"/>
              <a:t>分析可变性卷积的行为</a:t>
            </a:r>
          </a:p>
        </p:txBody>
      </p:sp>
      <p:sp>
        <p:nvSpPr>
          <p:cNvPr id="3" name="内容占位符 2">
            <a:extLst>
              <a:ext uri="{FF2B5EF4-FFF2-40B4-BE49-F238E27FC236}">
                <a16:creationId xmlns:a16="http://schemas.microsoft.com/office/drawing/2014/main" id="{8DAB9AD1-093F-4A60-A34F-FD992C06D70B}"/>
              </a:ext>
            </a:extLst>
          </p:cNvPr>
          <p:cNvSpPr>
            <a:spLocks noGrp="1"/>
          </p:cNvSpPr>
          <p:nvPr>
            <p:ph idx="1"/>
          </p:nvPr>
        </p:nvSpPr>
        <p:spPr>
          <a:xfrm>
            <a:off x="838200" y="1237534"/>
            <a:ext cx="10515600" cy="4939429"/>
          </a:xfrm>
        </p:spPr>
        <p:txBody>
          <a:bodyPr>
            <a:normAutofit/>
          </a:bodyPr>
          <a:lstStyle/>
          <a:p>
            <a:r>
              <a:rPr lang="en-US" altLang="zh-CN" sz="1600" dirty="0"/>
              <a:t>1.</a:t>
            </a:r>
            <a:r>
              <a:rPr lang="zh-CN" altLang="en-US" sz="1600" dirty="0"/>
              <a:t>有效感受野（</a:t>
            </a:r>
            <a:r>
              <a:rPr lang="en-US" altLang="zh-CN" sz="1600" dirty="0"/>
              <a:t>Effective receptive fields</a:t>
            </a:r>
            <a:r>
              <a:rPr lang="zh-CN" altLang="en-US" sz="1600" dirty="0"/>
              <a:t>）：网络中每个节点都会计算</a:t>
            </a:r>
            <a:r>
              <a:rPr lang="en-US" altLang="zh-CN" sz="1600" dirty="0"/>
              <a:t>feature map</a:t>
            </a:r>
            <a:r>
              <a:rPr lang="zh-CN" altLang="en-US" sz="1600" dirty="0"/>
              <a:t>的一个像素点，而这个点就有它自己的感受野，但不是感受野中的所有像素对这个点的响应的贡献都是相同的，大小与卷积核权重有关，因此文中用有效感受野来表示这种贡献的差异。</a:t>
            </a:r>
          </a:p>
        </p:txBody>
      </p:sp>
      <p:pic>
        <p:nvPicPr>
          <p:cNvPr id="1026" name="Picture 2">
            <a:extLst>
              <a:ext uri="{FF2B5EF4-FFF2-40B4-BE49-F238E27FC236}">
                <a16:creationId xmlns:a16="http://schemas.microsoft.com/office/drawing/2014/main" id="{37A42B20-89E5-4586-A37A-F4BC629B4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931" y="2025965"/>
            <a:ext cx="7560204" cy="3518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54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0E2D1B-9395-4CF1-B07A-EAA3C8AF9115}"/>
              </a:ext>
            </a:extLst>
          </p:cNvPr>
          <p:cNvSpPr>
            <a:spLocks noGrp="1"/>
          </p:cNvSpPr>
          <p:nvPr>
            <p:ph idx="1"/>
          </p:nvPr>
        </p:nvSpPr>
        <p:spPr>
          <a:xfrm>
            <a:off x="575733" y="191558"/>
            <a:ext cx="10515600" cy="4351338"/>
          </a:xfrm>
        </p:spPr>
        <p:txBody>
          <a:bodyPr>
            <a:normAutofit/>
          </a:bodyPr>
          <a:lstStyle/>
          <a:p>
            <a:pPr marL="0" indent="0">
              <a:buNone/>
            </a:pPr>
            <a:r>
              <a:rPr lang="en-US" altLang="zh-CN" sz="1600" dirty="0"/>
              <a:t>2.</a:t>
            </a:r>
            <a:r>
              <a:rPr lang="zh-CN" altLang="en-US" sz="1600" dirty="0"/>
              <a:t>有效采样</a:t>
            </a:r>
            <a:r>
              <a:rPr lang="en-US" altLang="zh-CN" sz="1600" dirty="0"/>
              <a:t>/bin</a:t>
            </a:r>
            <a:r>
              <a:rPr lang="zh-CN" altLang="en-US" sz="1600" dirty="0"/>
              <a:t>位置（</a:t>
            </a:r>
            <a:r>
              <a:rPr lang="en-US" altLang="zh-CN" sz="1600" dirty="0"/>
              <a:t>Effective sampling/bin locations</a:t>
            </a:r>
            <a:r>
              <a:rPr lang="zh-CN" altLang="en-US" sz="1600" dirty="0"/>
              <a:t>）：对于卷积核的采样点和</a:t>
            </a:r>
            <a:r>
              <a:rPr lang="en-US" altLang="zh-CN" sz="1600" dirty="0" err="1"/>
              <a:t>RoIpooling</a:t>
            </a:r>
            <a:r>
              <a:rPr lang="zh-CN" altLang="en-US" sz="1600" dirty="0"/>
              <a:t>的</a:t>
            </a:r>
            <a:r>
              <a:rPr lang="en-US" altLang="zh-CN" sz="1600" dirty="0"/>
              <a:t>bin</a:t>
            </a:r>
            <a:r>
              <a:rPr lang="zh-CN" altLang="en-US" sz="1600" dirty="0"/>
              <a:t>的位置进行可是有助于理解</a:t>
            </a:r>
            <a:r>
              <a:rPr lang="en-US" altLang="zh-CN" sz="1600" dirty="0"/>
              <a:t>DCN</a:t>
            </a:r>
            <a:r>
              <a:rPr lang="zh-CN" altLang="en-US" sz="1600" dirty="0"/>
              <a:t>，有效位置在反应采样点位置的基础上还反应了每个位置的贡献。也就是有效的计算区域。简而言之就是几个卷积层叠加后从输出中的某个点往前推算出参与该点计算的特征点区域。</a:t>
            </a:r>
          </a:p>
        </p:txBody>
      </p:sp>
      <p:grpSp>
        <p:nvGrpSpPr>
          <p:cNvPr id="8" name="组合 7">
            <a:extLst>
              <a:ext uri="{FF2B5EF4-FFF2-40B4-BE49-F238E27FC236}">
                <a16:creationId xmlns:a16="http://schemas.microsoft.com/office/drawing/2014/main" id="{AD136C5D-ECA1-4D6C-A365-3638ADDC9CB4}"/>
              </a:ext>
            </a:extLst>
          </p:cNvPr>
          <p:cNvGrpSpPr/>
          <p:nvPr/>
        </p:nvGrpSpPr>
        <p:grpSpPr>
          <a:xfrm>
            <a:off x="661440" y="1026545"/>
            <a:ext cx="4714957" cy="2136042"/>
            <a:chOff x="640815" y="1404680"/>
            <a:chExt cx="4997707" cy="2241665"/>
          </a:xfrm>
        </p:grpSpPr>
        <p:pic>
          <p:nvPicPr>
            <p:cNvPr id="5" name="图片 4">
              <a:extLst>
                <a:ext uri="{FF2B5EF4-FFF2-40B4-BE49-F238E27FC236}">
                  <a16:creationId xmlns:a16="http://schemas.microsoft.com/office/drawing/2014/main" id="{31540CF8-D8B6-4800-86DE-FE8EBFEDBED2}"/>
                </a:ext>
              </a:extLst>
            </p:cNvPr>
            <p:cNvPicPr>
              <a:picLocks noChangeAspect="1"/>
            </p:cNvPicPr>
            <p:nvPr/>
          </p:nvPicPr>
          <p:blipFill>
            <a:blip r:embed="rId2"/>
            <a:stretch>
              <a:fillRect/>
            </a:stretch>
          </p:blipFill>
          <p:spPr>
            <a:xfrm>
              <a:off x="640815" y="1404680"/>
              <a:ext cx="4997707" cy="1174810"/>
            </a:xfrm>
            <a:prstGeom prst="rect">
              <a:avLst/>
            </a:prstGeom>
          </p:spPr>
        </p:pic>
        <p:pic>
          <p:nvPicPr>
            <p:cNvPr id="6" name="图片 5">
              <a:extLst>
                <a:ext uri="{FF2B5EF4-FFF2-40B4-BE49-F238E27FC236}">
                  <a16:creationId xmlns:a16="http://schemas.microsoft.com/office/drawing/2014/main" id="{DE780037-8F0E-4AAF-BA37-744DD5F54C7F}"/>
                </a:ext>
              </a:extLst>
            </p:cNvPr>
            <p:cNvPicPr>
              <a:picLocks noChangeAspect="1"/>
            </p:cNvPicPr>
            <p:nvPr/>
          </p:nvPicPr>
          <p:blipFill>
            <a:blip r:embed="rId3"/>
            <a:stretch>
              <a:fillRect/>
            </a:stretch>
          </p:blipFill>
          <p:spPr>
            <a:xfrm>
              <a:off x="819124" y="2579490"/>
              <a:ext cx="4737343" cy="1066855"/>
            </a:xfrm>
            <a:prstGeom prst="rect">
              <a:avLst/>
            </a:prstGeom>
          </p:spPr>
        </p:pic>
      </p:grpSp>
      <p:sp>
        <p:nvSpPr>
          <p:cNvPr id="7" name="矩形 6">
            <a:extLst>
              <a:ext uri="{FF2B5EF4-FFF2-40B4-BE49-F238E27FC236}">
                <a16:creationId xmlns:a16="http://schemas.microsoft.com/office/drawing/2014/main" id="{C3DAC469-2354-4452-B1EA-DE990C3EACEA}"/>
              </a:ext>
            </a:extLst>
          </p:cNvPr>
          <p:cNvSpPr/>
          <p:nvPr/>
        </p:nvSpPr>
        <p:spPr>
          <a:xfrm>
            <a:off x="661440" y="3167743"/>
            <a:ext cx="11356389" cy="1200329"/>
          </a:xfrm>
          <a:prstGeom prst="rect">
            <a:avLst/>
          </a:prstGeom>
        </p:spPr>
        <p:txBody>
          <a:bodyPr wrap="square">
            <a:spAutoFit/>
          </a:bodyPr>
          <a:lstStyle/>
          <a:p>
            <a:r>
              <a:rPr lang="zh-CN" altLang="en-US" dirty="0"/>
              <a:t>3.错误边界显著性区域（Error-bounded saliency regions）：最近关于图像显著性的研究表明，对于网络的每个节点的响应，不是图像上所有的区域对其都有影响，去掉一些不重要的区域，节点的响应可以保持不变。根据这一性质，文章将每个节点的support region限制到了最小的可以和整幅图产生相同的响应的区域，并称之为错误边界显著性区域。</a:t>
            </a:r>
          </a:p>
        </p:txBody>
      </p:sp>
      <p:pic>
        <p:nvPicPr>
          <p:cNvPr id="9" name="图片 8">
            <a:extLst>
              <a:ext uri="{FF2B5EF4-FFF2-40B4-BE49-F238E27FC236}">
                <a16:creationId xmlns:a16="http://schemas.microsoft.com/office/drawing/2014/main" id="{A1C9BBC6-65C2-46BE-B6B2-152A0B90132F}"/>
              </a:ext>
            </a:extLst>
          </p:cNvPr>
          <p:cNvPicPr>
            <a:picLocks noChangeAspect="1"/>
          </p:cNvPicPr>
          <p:nvPr/>
        </p:nvPicPr>
        <p:blipFill>
          <a:blip r:embed="rId4"/>
          <a:stretch>
            <a:fillRect/>
          </a:stretch>
        </p:blipFill>
        <p:spPr>
          <a:xfrm>
            <a:off x="781219" y="4294331"/>
            <a:ext cx="4816499" cy="2585623"/>
          </a:xfrm>
          <a:prstGeom prst="rect">
            <a:avLst/>
          </a:prstGeom>
        </p:spPr>
      </p:pic>
    </p:spTree>
    <p:extLst>
      <p:ext uri="{BB962C8B-B14F-4D97-AF65-F5344CB8AC3E}">
        <p14:creationId xmlns:p14="http://schemas.microsoft.com/office/powerpoint/2010/main" val="1671370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4924C1-61EB-4F36-81F9-845D1D628DC6}"/>
              </a:ext>
            </a:extLst>
          </p:cNvPr>
          <p:cNvSpPr>
            <a:spLocks noGrp="1"/>
          </p:cNvSpPr>
          <p:nvPr>
            <p:ph type="title"/>
          </p:nvPr>
        </p:nvSpPr>
        <p:spPr>
          <a:xfrm>
            <a:off x="838200" y="365126"/>
            <a:ext cx="10515600" cy="776156"/>
          </a:xfrm>
        </p:spPr>
        <p:txBody>
          <a:bodyPr/>
          <a:lstStyle/>
          <a:p>
            <a:r>
              <a:rPr lang="zh-CN" altLang="en-US" dirty="0"/>
              <a:t>改进</a:t>
            </a:r>
          </a:p>
        </p:txBody>
      </p:sp>
      <p:sp>
        <p:nvSpPr>
          <p:cNvPr id="3" name="内容占位符 2">
            <a:extLst>
              <a:ext uri="{FF2B5EF4-FFF2-40B4-BE49-F238E27FC236}">
                <a16:creationId xmlns:a16="http://schemas.microsoft.com/office/drawing/2014/main" id="{B8C9CFCD-844F-4BC8-901F-AE5C49E1E5BD}"/>
              </a:ext>
            </a:extLst>
          </p:cNvPr>
          <p:cNvSpPr>
            <a:spLocks noGrp="1"/>
          </p:cNvSpPr>
          <p:nvPr>
            <p:ph idx="1"/>
          </p:nvPr>
        </p:nvSpPr>
        <p:spPr>
          <a:xfrm>
            <a:off x="838200" y="1141282"/>
            <a:ext cx="10515600" cy="5035681"/>
          </a:xfrm>
        </p:spPr>
        <p:txBody>
          <a:bodyPr>
            <a:normAutofit/>
          </a:bodyPr>
          <a:lstStyle/>
          <a:p>
            <a:r>
              <a:rPr lang="zh-CN" altLang="en-US" sz="1600" dirty="0"/>
              <a:t>作者发现可变形的</a:t>
            </a:r>
            <a:r>
              <a:rPr lang="en-US" altLang="zh-CN" sz="1600" dirty="0"/>
              <a:t>conv</a:t>
            </a:r>
            <a:r>
              <a:rPr lang="zh-CN" altLang="en-US" sz="1600" dirty="0"/>
              <a:t>层可以在具有挑战性的基准上有效地对几何变换进行建模，受此启发，作者大胆地用更多的可变形的</a:t>
            </a:r>
            <a:r>
              <a:rPr lang="en-US" altLang="zh-CN" sz="1600" dirty="0"/>
              <a:t>conv</a:t>
            </a:r>
            <a:r>
              <a:rPr lang="zh-CN" altLang="en-US" sz="1600" dirty="0"/>
              <a:t>层替换传统</a:t>
            </a:r>
            <a:r>
              <a:rPr lang="en-US" altLang="zh-CN" sz="1600" dirty="0"/>
              <a:t>conv</a:t>
            </a:r>
            <a:r>
              <a:rPr lang="zh-CN" altLang="en-US" sz="1600" dirty="0"/>
              <a:t>层。希望通过叠加更多的可变形</a:t>
            </a:r>
            <a:r>
              <a:rPr lang="en-US" altLang="zh-CN" sz="1600" dirty="0"/>
              <a:t>conv</a:t>
            </a:r>
            <a:r>
              <a:rPr lang="zh-CN" altLang="en-US" sz="1600" dirty="0"/>
              <a:t>层，进一步增强整个网络的几何变换建模能力。本文中，可变形卷积被应用到了</a:t>
            </a:r>
            <a:r>
              <a:rPr lang="en-US" altLang="zh-CN" sz="1600" dirty="0"/>
              <a:t>ResNet-50</a:t>
            </a:r>
            <a:r>
              <a:rPr lang="zh-CN" altLang="en-US" sz="1600" dirty="0"/>
              <a:t>中</a:t>
            </a:r>
            <a:r>
              <a:rPr lang="en-US" altLang="zh-CN" sz="1600" dirty="0"/>
              <a:t>conv3, conv4, and conv5 </a:t>
            </a:r>
            <a:r>
              <a:rPr lang="zh-CN" altLang="en-US" sz="1600" dirty="0"/>
              <a:t>阶段中的全部</a:t>
            </a:r>
            <a:r>
              <a:rPr lang="en-US" altLang="zh-CN" sz="1600" dirty="0"/>
              <a:t>3×3</a:t>
            </a:r>
            <a:r>
              <a:rPr lang="zh-CN" altLang="en-US" sz="1600" dirty="0"/>
              <a:t>卷积层中。因此网络中有</a:t>
            </a:r>
            <a:r>
              <a:rPr lang="en-US" altLang="zh-CN" sz="1600" dirty="0"/>
              <a:t>12</a:t>
            </a:r>
            <a:r>
              <a:rPr lang="zh-CN" altLang="en-US" sz="1600" dirty="0"/>
              <a:t>层可变形卷积。相比之下，</a:t>
            </a:r>
            <a:r>
              <a:rPr lang="en-US" altLang="zh-CN" sz="1600" dirty="0"/>
              <a:t>v1</a:t>
            </a:r>
            <a:r>
              <a:rPr lang="zh-CN" altLang="en-US" sz="1600" dirty="0"/>
              <a:t>版本中只使用了三层可变形卷积，全部处于</a:t>
            </a:r>
            <a:r>
              <a:rPr lang="en-US" altLang="zh-CN" sz="1600" dirty="0"/>
              <a:t>conv5</a:t>
            </a:r>
            <a:r>
              <a:rPr lang="zh-CN" altLang="en-US" sz="1600" dirty="0"/>
              <a:t>阶段。（用于深层）</a:t>
            </a:r>
            <a:endParaRPr lang="en-US" altLang="zh-CN" sz="1600" dirty="0"/>
          </a:p>
          <a:p>
            <a:r>
              <a:rPr lang="zh-CN" altLang="en-US" sz="1600" dirty="0"/>
              <a:t>由于不同的位置对检测的贡献是不同的，所以将这个思想引入到</a:t>
            </a:r>
            <a:r>
              <a:rPr lang="en-US" altLang="zh-CN" sz="1600" dirty="0"/>
              <a:t>v1</a:t>
            </a:r>
            <a:r>
              <a:rPr lang="zh-CN" altLang="en-US" sz="1600" dirty="0"/>
              <a:t>版本中的</a:t>
            </a:r>
            <a:r>
              <a:rPr lang="en-US" altLang="zh-CN" sz="1600" dirty="0"/>
              <a:t>deformable convolution</a:t>
            </a:r>
            <a:r>
              <a:rPr lang="zh-CN" altLang="en-US" sz="1600" dirty="0"/>
              <a:t>和</a:t>
            </a:r>
            <a:r>
              <a:rPr lang="en-US" altLang="zh-CN" sz="1600" dirty="0"/>
              <a:t>deformable </a:t>
            </a:r>
            <a:r>
              <a:rPr lang="en-US" altLang="zh-CN" sz="1600" dirty="0" err="1"/>
              <a:t>RoI</a:t>
            </a:r>
            <a:r>
              <a:rPr lang="en-US" altLang="zh-CN" sz="1600" dirty="0"/>
              <a:t> pooling</a:t>
            </a:r>
            <a:r>
              <a:rPr lang="zh-CN" altLang="en-US" sz="1600" dirty="0"/>
              <a:t>中，将他们修改为</a:t>
            </a:r>
            <a:r>
              <a:rPr lang="en-US" altLang="zh-CN" sz="1600" dirty="0"/>
              <a:t>modulated deformable convolution</a:t>
            </a:r>
            <a:r>
              <a:rPr lang="zh-CN" altLang="en-US" sz="1600" dirty="0"/>
              <a:t>和</a:t>
            </a:r>
            <a:r>
              <a:rPr lang="en-US" altLang="zh-CN" sz="1600" dirty="0"/>
              <a:t>modulated deformable </a:t>
            </a:r>
            <a:r>
              <a:rPr lang="en-US" altLang="zh-CN" sz="1600" dirty="0" err="1"/>
              <a:t>RoI</a:t>
            </a:r>
            <a:r>
              <a:rPr lang="en-US" altLang="zh-CN" sz="1600" dirty="0"/>
              <a:t> pooling</a:t>
            </a:r>
            <a:r>
              <a:rPr lang="zh-CN" altLang="en-US" sz="1600" dirty="0"/>
              <a:t>。</a:t>
            </a:r>
            <a:endParaRPr lang="en-US" altLang="zh-CN" sz="1600" dirty="0"/>
          </a:p>
          <a:p>
            <a:r>
              <a:rPr lang="en-US" altLang="zh-CN" sz="1600" dirty="0"/>
              <a:t>modulated deformable convolution</a:t>
            </a:r>
          </a:p>
          <a:p>
            <a:endParaRPr lang="en-US" altLang="zh-CN" sz="1600" dirty="0"/>
          </a:p>
          <a:p>
            <a:endParaRPr lang="en-US" altLang="zh-CN" sz="1600" dirty="0"/>
          </a:p>
          <a:p>
            <a:r>
              <a:rPr lang="en-US" altLang="zh-CN" sz="1600" dirty="0"/>
              <a:t>modulated deformable convolution</a:t>
            </a:r>
            <a:endParaRPr lang="zh-CN" altLang="en-US" sz="1600" dirty="0"/>
          </a:p>
        </p:txBody>
      </p:sp>
      <p:pic>
        <p:nvPicPr>
          <p:cNvPr id="4" name="图片 3">
            <a:extLst>
              <a:ext uri="{FF2B5EF4-FFF2-40B4-BE49-F238E27FC236}">
                <a16:creationId xmlns:a16="http://schemas.microsoft.com/office/drawing/2014/main" id="{8EA747A2-C910-4C06-9B05-FB895C027C20}"/>
              </a:ext>
            </a:extLst>
          </p:cNvPr>
          <p:cNvPicPr>
            <a:picLocks noChangeAspect="1"/>
          </p:cNvPicPr>
          <p:nvPr/>
        </p:nvPicPr>
        <p:blipFill>
          <a:blip r:embed="rId2"/>
          <a:stretch>
            <a:fillRect/>
          </a:stretch>
        </p:blipFill>
        <p:spPr>
          <a:xfrm>
            <a:off x="496541" y="2983075"/>
            <a:ext cx="4667490" cy="781090"/>
          </a:xfrm>
          <a:prstGeom prst="rect">
            <a:avLst/>
          </a:prstGeom>
        </p:spPr>
      </p:pic>
      <p:pic>
        <p:nvPicPr>
          <p:cNvPr id="5" name="图片 4">
            <a:extLst>
              <a:ext uri="{FF2B5EF4-FFF2-40B4-BE49-F238E27FC236}">
                <a16:creationId xmlns:a16="http://schemas.microsoft.com/office/drawing/2014/main" id="{4F36F44B-99C3-4332-8221-4BC41E44D7FD}"/>
              </a:ext>
            </a:extLst>
          </p:cNvPr>
          <p:cNvPicPr>
            <a:picLocks noChangeAspect="1"/>
          </p:cNvPicPr>
          <p:nvPr/>
        </p:nvPicPr>
        <p:blipFill>
          <a:blip r:embed="rId3"/>
          <a:stretch>
            <a:fillRect/>
          </a:stretch>
        </p:blipFill>
        <p:spPr>
          <a:xfrm>
            <a:off x="496541" y="3968207"/>
            <a:ext cx="4476980" cy="736638"/>
          </a:xfrm>
          <a:prstGeom prst="rect">
            <a:avLst/>
          </a:prstGeom>
        </p:spPr>
      </p:pic>
    </p:spTree>
    <p:extLst>
      <p:ext uri="{BB962C8B-B14F-4D97-AF65-F5344CB8AC3E}">
        <p14:creationId xmlns:p14="http://schemas.microsoft.com/office/powerpoint/2010/main" val="2820946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A90B57-6E34-492E-8676-FEC9D0E5E692}"/>
              </a:ext>
            </a:extLst>
          </p:cNvPr>
          <p:cNvSpPr>
            <a:spLocks noGrp="1"/>
          </p:cNvSpPr>
          <p:nvPr>
            <p:ph type="title"/>
          </p:nvPr>
        </p:nvSpPr>
        <p:spPr>
          <a:xfrm>
            <a:off x="838200" y="365125"/>
            <a:ext cx="9687713" cy="789907"/>
          </a:xfrm>
        </p:spPr>
        <p:txBody>
          <a:bodyPr/>
          <a:lstStyle/>
          <a:p>
            <a:r>
              <a:rPr lang="zh-CN" altLang="en-US" dirty="0"/>
              <a:t>实验结果</a:t>
            </a:r>
          </a:p>
        </p:txBody>
      </p:sp>
      <p:pic>
        <p:nvPicPr>
          <p:cNvPr id="4" name="内容占位符 3">
            <a:extLst>
              <a:ext uri="{FF2B5EF4-FFF2-40B4-BE49-F238E27FC236}">
                <a16:creationId xmlns:a16="http://schemas.microsoft.com/office/drawing/2014/main" id="{6338C59B-3146-4189-B693-9BB134908DD9}"/>
              </a:ext>
            </a:extLst>
          </p:cNvPr>
          <p:cNvPicPr>
            <a:picLocks noGrp="1" noChangeAspect="1"/>
          </p:cNvPicPr>
          <p:nvPr>
            <p:ph idx="1"/>
          </p:nvPr>
        </p:nvPicPr>
        <p:blipFill>
          <a:blip r:embed="rId2"/>
          <a:stretch>
            <a:fillRect/>
          </a:stretch>
        </p:blipFill>
        <p:spPr>
          <a:xfrm>
            <a:off x="838200" y="1155032"/>
            <a:ext cx="9150820" cy="2267067"/>
          </a:xfrm>
          <a:prstGeom prst="rect">
            <a:avLst/>
          </a:prstGeom>
        </p:spPr>
      </p:pic>
    </p:spTree>
    <p:extLst>
      <p:ext uri="{BB962C8B-B14F-4D97-AF65-F5344CB8AC3E}">
        <p14:creationId xmlns:p14="http://schemas.microsoft.com/office/powerpoint/2010/main" val="1483897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BBF8A-A83E-4EDC-A27C-590D337CC818}"/>
              </a:ext>
            </a:extLst>
          </p:cNvPr>
          <p:cNvSpPr>
            <a:spLocks noGrp="1"/>
          </p:cNvSpPr>
          <p:nvPr>
            <p:ph type="title"/>
          </p:nvPr>
        </p:nvSpPr>
        <p:spPr/>
        <p:txBody>
          <a:bodyPr/>
          <a:lstStyle/>
          <a:p>
            <a:r>
              <a:rPr lang="en-US" altLang="zh-CN" dirty="0"/>
              <a:t>Self-attention </a:t>
            </a:r>
            <a:r>
              <a:rPr lang="zh-CN" altLang="en-US" dirty="0"/>
              <a:t>位置注意力</a:t>
            </a:r>
          </a:p>
        </p:txBody>
      </p:sp>
      <p:pic>
        <p:nvPicPr>
          <p:cNvPr id="4" name="内容占位符 3">
            <a:extLst>
              <a:ext uri="{FF2B5EF4-FFF2-40B4-BE49-F238E27FC236}">
                <a16:creationId xmlns:a16="http://schemas.microsoft.com/office/drawing/2014/main" id="{B6852649-A84A-474D-AA5F-562D18B7B7A0}"/>
              </a:ext>
            </a:extLst>
          </p:cNvPr>
          <p:cNvPicPr>
            <a:picLocks noGrp="1" noChangeAspect="1"/>
          </p:cNvPicPr>
          <p:nvPr>
            <p:ph idx="1"/>
          </p:nvPr>
        </p:nvPicPr>
        <p:blipFill>
          <a:blip r:embed="rId2"/>
          <a:stretch>
            <a:fillRect/>
          </a:stretch>
        </p:blipFill>
        <p:spPr>
          <a:xfrm>
            <a:off x="185631" y="1333178"/>
            <a:ext cx="5402583" cy="3857720"/>
          </a:xfrm>
          <a:prstGeom prst="rect">
            <a:avLst/>
          </a:prstGeom>
        </p:spPr>
      </p:pic>
      <p:pic>
        <p:nvPicPr>
          <p:cNvPr id="6" name="图片 5" descr="社交网络的地图&#10;&#10;描述已自动生成">
            <a:extLst>
              <a:ext uri="{FF2B5EF4-FFF2-40B4-BE49-F238E27FC236}">
                <a16:creationId xmlns:a16="http://schemas.microsoft.com/office/drawing/2014/main" id="{93B1B051-6418-4DB2-BA67-8A7FB046326D}"/>
              </a:ext>
            </a:extLst>
          </p:cNvPr>
          <p:cNvPicPr>
            <a:picLocks noChangeAspect="1"/>
          </p:cNvPicPr>
          <p:nvPr/>
        </p:nvPicPr>
        <p:blipFill rotWithShape="1">
          <a:blip r:embed="rId3">
            <a:extLst>
              <a:ext uri="{28A0092B-C50C-407E-A947-70E740481C1C}">
                <a14:useLocalDpi xmlns:a14="http://schemas.microsoft.com/office/drawing/2010/main" val="0"/>
              </a:ext>
            </a:extLst>
          </a:blip>
          <a:srcRect l="2502" t="10700" r="2903" b="22305"/>
          <a:stretch/>
        </p:blipFill>
        <p:spPr>
          <a:xfrm>
            <a:off x="6240783" y="1416546"/>
            <a:ext cx="4709504" cy="4447257"/>
          </a:xfrm>
          <a:prstGeom prst="rect">
            <a:avLst/>
          </a:prstGeom>
        </p:spPr>
      </p:pic>
    </p:spTree>
    <p:extLst>
      <p:ext uri="{BB962C8B-B14F-4D97-AF65-F5344CB8AC3E}">
        <p14:creationId xmlns:p14="http://schemas.microsoft.com/office/powerpoint/2010/main" val="1191554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D99EB8E8-1E89-4D80-8499-62F7EC2A5D88}"/>
              </a:ext>
            </a:extLst>
          </p:cNvPr>
          <p:cNvSpPr/>
          <p:nvPr/>
        </p:nvSpPr>
        <p:spPr>
          <a:xfrm>
            <a:off x="1079405" y="1485039"/>
            <a:ext cx="2014430" cy="20144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C59E35C7-E509-4157-9C93-94F8BC3DE03B}"/>
              </a:ext>
            </a:extLst>
          </p:cNvPr>
          <p:cNvSpPr/>
          <p:nvPr/>
        </p:nvSpPr>
        <p:spPr>
          <a:xfrm>
            <a:off x="1079405" y="1485039"/>
            <a:ext cx="206256" cy="20625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DAFC6975-1ED3-427C-9082-510579834A2F}"/>
              </a:ext>
            </a:extLst>
          </p:cNvPr>
          <p:cNvSpPr txBox="1"/>
          <p:nvPr/>
        </p:nvSpPr>
        <p:spPr>
          <a:xfrm>
            <a:off x="955651" y="1115707"/>
            <a:ext cx="4530750" cy="369332"/>
          </a:xfrm>
          <a:prstGeom prst="rect">
            <a:avLst/>
          </a:prstGeom>
          <a:noFill/>
        </p:spPr>
        <p:txBody>
          <a:bodyPr wrap="square" rtlCol="0">
            <a:spAutoFit/>
          </a:bodyPr>
          <a:lstStyle/>
          <a:p>
            <a:r>
              <a:rPr lang="en-US" altLang="zh-CN" dirty="0"/>
              <a:t>1X1</a:t>
            </a:r>
            <a:r>
              <a:rPr lang="zh-CN" altLang="en-US" dirty="0"/>
              <a:t>卷积卷遍历整个</a:t>
            </a:r>
            <a:r>
              <a:rPr lang="en-US" altLang="zh-CN" dirty="0"/>
              <a:t>feature map</a:t>
            </a:r>
            <a:endParaRPr lang="zh-CN" altLang="en-US" dirty="0"/>
          </a:p>
        </p:txBody>
      </p:sp>
      <p:sp>
        <p:nvSpPr>
          <p:cNvPr id="8" name="文本框 7">
            <a:extLst>
              <a:ext uri="{FF2B5EF4-FFF2-40B4-BE49-F238E27FC236}">
                <a16:creationId xmlns:a16="http://schemas.microsoft.com/office/drawing/2014/main" id="{144680B7-CF83-4E09-8586-2476CC4645C8}"/>
              </a:ext>
            </a:extLst>
          </p:cNvPr>
          <p:cNvSpPr txBox="1"/>
          <p:nvPr/>
        </p:nvSpPr>
        <p:spPr>
          <a:xfrm>
            <a:off x="955651" y="563765"/>
            <a:ext cx="6308137" cy="369332"/>
          </a:xfrm>
          <a:prstGeom prst="rect">
            <a:avLst/>
          </a:prstGeom>
          <a:noFill/>
        </p:spPr>
        <p:txBody>
          <a:bodyPr wrap="none" rtlCol="0">
            <a:spAutoFit/>
          </a:bodyPr>
          <a:lstStyle/>
          <a:p>
            <a:r>
              <a:rPr lang="zh-CN" altLang="en-US" dirty="0"/>
              <a:t>卷积内的数值和感受野内的数值越接近，响应越大，越相似</a:t>
            </a:r>
          </a:p>
        </p:txBody>
      </p:sp>
      <p:sp>
        <p:nvSpPr>
          <p:cNvPr id="9" name="文本框 8">
            <a:extLst>
              <a:ext uri="{FF2B5EF4-FFF2-40B4-BE49-F238E27FC236}">
                <a16:creationId xmlns:a16="http://schemas.microsoft.com/office/drawing/2014/main" id="{7C412A98-D682-457C-9C00-03C958F6061D}"/>
              </a:ext>
            </a:extLst>
          </p:cNvPr>
          <p:cNvSpPr txBox="1"/>
          <p:nvPr/>
        </p:nvSpPr>
        <p:spPr>
          <a:xfrm>
            <a:off x="3355092" y="1938256"/>
            <a:ext cx="1656223" cy="369332"/>
          </a:xfrm>
          <a:prstGeom prst="rect">
            <a:avLst/>
          </a:prstGeom>
          <a:noFill/>
        </p:spPr>
        <p:txBody>
          <a:bodyPr wrap="none" rtlCol="0">
            <a:spAutoFit/>
          </a:bodyPr>
          <a:lstStyle/>
          <a:p>
            <a:r>
              <a:rPr lang="en-US" altLang="zh-CN" dirty="0" err="1"/>
              <a:t>softmax</a:t>
            </a:r>
            <a:r>
              <a:rPr lang="zh-CN" altLang="en-US" dirty="0"/>
              <a:t>归一化</a:t>
            </a:r>
          </a:p>
        </p:txBody>
      </p:sp>
      <p:cxnSp>
        <p:nvCxnSpPr>
          <p:cNvPr id="11" name="直接箭头连接符 10">
            <a:extLst>
              <a:ext uri="{FF2B5EF4-FFF2-40B4-BE49-F238E27FC236}">
                <a16:creationId xmlns:a16="http://schemas.microsoft.com/office/drawing/2014/main" id="{C5C1BA67-9E9A-4CBB-A717-1464472BB633}"/>
              </a:ext>
            </a:extLst>
          </p:cNvPr>
          <p:cNvCxnSpPr/>
          <p:nvPr/>
        </p:nvCxnSpPr>
        <p:spPr>
          <a:xfrm>
            <a:off x="3217589" y="2433817"/>
            <a:ext cx="2090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16C86C11-64AA-492D-BD11-A67E09451A18}"/>
              </a:ext>
            </a:extLst>
          </p:cNvPr>
          <p:cNvSpPr/>
          <p:nvPr/>
        </p:nvSpPr>
        <p:spPr>
          <a:xfrm>
            <a:off x="5486401" y="1485039"/>
            <a:ext cx="2014430" cy="201443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F4EB229-8093-4401-B899-49D908AE2436}"/>
              </a:ext>
            </a:extLst>
          </p:cNvPr>
          <p:cNvSpPr/>
          <p:nvPr/>
        </p:nvSpPr>
        <p:spPr>
          <a:xfrm>
            <a:off x="8574506" y="1485039"/>
            <a:ext cx="2014430" cy="20144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C3F749F3-BB0E-4D6C-B73E-7B41602810F3}"/>
              </a:ext>
            </a:extLst>
          </p:cNvPr>
          <p:cNvSpPr txBox="1"/>
          <p:nvPr/>
        </p:nvSpPr>
        <p:spPr>
          <a:xfrm>
            <a:off x="7714503" y="2193186"/>
            <a:ext cx="646331" cy="369332"/>
          </a:xfrm>
          <a:prstGeom prst="rect">
            <a:avLst/>
          </a:prstGeom>
          <a:noFill/>
        </p:spPr>
        <p:txBody>
          <a:bodyPr wrap="none" rtlCol="0">
            <a:spAutoFit/>
          </a:bodyPr>
          <a:lstStyle/>
          <a:p>
            <a:r>
              <a:rPr lang="zh-CN" altLang="en-US" dirty="0"/>
              <a:t>点乘</a:t>
            </a:r>
          </a:p>
        </p:txBody>
      </p:sp>
      <p:sp>
        <p:nvSpPr>
          <p:cNvPr id="16" name="矩形 15">
            <a:extLst>
              <a:ext uri="{FF2B5EF4-FFF2-40B4-BE49-F238E27FC236}">
                <a16:creationId xmlns:a16="http://schemas.microsoft.com/office/drawing/2014/main" id="{CAD73626-34EF-45E2-83DE-F49DE585613A}"/>
              </a:ext>
            </a:extLst>
          </p:cNvPr>
          <p:cNvSpPr/>
          <p:nvPr/>
        </p:nvSpPr>
        <p:spPr>
          <a:xfrm>
            <a:off x="7158217" y="4655647"/>
            <a:ext cx="2014430" cy="201443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cxnSp>
        <p:nvCxnSpPr>
          <p:cNvPr id="18" name="直接箭头连接符 17">
            <a:extLst>
              <a:ext uri="{FF2B5EF4-FFF2-40B4-BE49-F238E27FC236}">
                <a16:creationId xmlns:a16="http://schemas.microsoft.com/office/drawing/2014/main" id="{2721A1B1-A8D8-43EC-A132-2DC7032A2B2F}"/>
              </a:ext>
            </a:extLst>
          </p:cNvPr>
          <p:cNvCxnSpPr/>
          <p:nvPr/>
        </p:nvCxnSpPr>
        <p:spPr>
          <a:xfrm>
            <a:off x="8174598" y="3733227"/>
            <a:ext cx="0" cy="715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0B76CC38-86AD-430C-88F6-791A4C5474F0}"/>
              </a:ext>
            </a:extLst>
          </p:cNvPr>
          <p:cNvSpPr/>
          <p:nvPr/>
        </p:nvSpPr>
        <p:spPr>
          <a:xfrm>
            <a:off x="7152489" y="4664031"/>
            <a:ext cx="206256" cy="206256"/>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C0F1896-D984-4E0D-83EA-453969754C76}"/>
              </a:ext>
            </a:extLst>
          </p:cNvPr>
          <p:cNvSpPr txBox="1"/>
          <p:nvPr/>
        </p:nvSpPr>
        <p:spPr>
          <a:xfrm>
            <a:off x="840125" y="4241988"/>
            <a:ext cx="4945585" cy="369332"/>
          </a:xfrm>
          <a:prstGeom prst="rect">
            <a:avLst/>
          </a:prstGeom>
          <a:noFill/>
        </p:spPr>
        <p:txBody>
          <a:bodyPr wrap="none" rtlCol="0">
            <a:spAutoFit/>
          </a:bodyPr>
          <a:lstStyle/>
          <a:p>
            <a:r>
              <a:rPr lang="zh-CN" altLang="en-US" dirty="0"/>
              <a:t>与位置    相似的点越多，  的响应值也就越大。</a:t>
            </a:r>
          </a:p>
        </p:txBody>
      </p:sp>
      <p:sp>
        <p:nvSpPr>
          <p:cNvPr id="21" name="矩形 20">
            <a:extLst>
              <a:ext uri="{FF2B5EF4-FFF2-40B4-BE49-F238E27FC236}">
                <a16:creationId xmlns:a16="http://schemas.microsoft.com/office/drawing/2014/main" id="{839EA777-2919-42E9-BDB5-4D0459222BC3}"/>
              </a:ext>
            </a:extLst>
          </p:cNvPr>
          <p:cNvSpPr/>
          <p:nvPr/>
        </p:nvSpPr>
        <p:spPr>
          <a:xfrm>
            <a:off x="3355092" y="4323526"/>
            <a:ext cx="206256" cy="206256"/>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C6604FC-AD42-47D4-A32F-A6E2CC5038C9}"/>
              </a:ext>
            </a:extLst>
          </p:cNvPr>
          <p:cNvSpPr/>
          <p:nvPr/>
        </p:nvSpPr>
        <p:spPr>
          <a:xfrm>
            <a:off x="1644317" y="4323526"/>
            <a:ext cx="206256" cy="20625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31487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图片包含 桌子, 雪, 房间, 滑雪&#10;&#10;描述已自动生成">
            <a:extLst>
              <a:ext uri="{FF2B5EF4-FFF2-40B4-BE49-F238E27FC236}">
                <a16:creationId xmlns:a16="http://schemas.microsoft.com/office/drawing/2014/main" id="{34385E7E-0F7A-436F-A767-BBC854299A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973" y="3934082"/>
            <a:ext cx="2806763" cy="2877720"/>
          </a:xfrm>
        </p:spPr>
      </p:pic>
      <p:sp>
        <p:nvSpPr>
          <p:cNvPr id="6" name="文本框 5">
            <a:extLst>
              <a:ext uri="{FF2B5EF4-FFF2-40B4-BE49-F238E27FC236}">
                <a16:creationId xmlns:a16="http://schemas.microsoft.com/office/drawing/2014/main" id="{12322CC1-65F0-4401-86BC-F7A684A20361}"/>
              </a:ext>
            </a:extLst>
          </p:cNvPr>
          <p:cNvSpPr txBox="1"/>
          <p:nvPr/>
        </p:nvSpPr>
        <p:spPr>
          <a:xfrm>
            <a:off x="914399" y="3836489"/>
            <a:ext cx="2262158" cy="369332"/>
          </a:xfrm>
          <a:prstGeom prst="rect">
            <a:avLst/>
          </a:prstGeom>
          <a:noFill/>
        </p:spPr>
        <p:txBody>
          <a:bodyPr wrap="none" rtlCol="0">
            <a:spAutoFit/>
          </a:bodyPr>
          <a:lstStyle/>
          <a:p>
            <a:r>
              <a:rPr lang="zh-CN" altLang="en-US" dirty="0"/>
              <a:t>想象这是一张烟雾图</a:t>
            </a:r>
          </a:p>
        </p:txBody>
      </p:sp>
      <p:cxnSp>
        <p:nvCxnSpPr>
          <p:cNvPr id="8" name="直接箭头连接符 7">
            <a:extLst>
              <a:ext uri="{FF2B5EF4-FFF2-40B4-BE49-F238E27FC236}">
                <a16:creationId xmlns:a16="http://schemas.microsoft.com/office/drawing/2014/main" id="{6F79B6EA-89B4-4E6C-A0D5-0F804E4A0B36}"/>
              </a:ext>
            </a:extLst>
          </p:cNvPr>
          <p:cNvCxnSpPr/>
          <p:nvPr/>
        </p:nvCxnSpPr>
        <p:spPr>
          <a:xfrm>
            <a:off x="5391601" y="4689012"/>
            <a:ext cx="15194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68F5986-2904-40C3-8F8C-6CEA5D58E51F}"/>
              </a:ext>
            </a:extLst>
          </p:cNvPr>
          <p:cNvSpPr txBox="1"/>
          <p:nvPr/>
        </p:nvSpPr>
        <p:spPr>
          <a:xfrm>
            <a:off x="6911018" y="4036969"/>
            <a:ext cx="5017433" cy="923330"/>
          </a:xfrm>
          <a:prstGeom prst="rect">
            <a:avLst/>
          </a:prstGeom>
          <a:noFill/>
        </p:spPr>
        <p:txBody>
          <a:bodyPr wrap="square" rtlCol="0">
            <a:spAutoFit/>
          </a:bodyPr>
          <a:lstStyle/>
          <a:p>
            <a:r>
              <a:rPr lang="zh-CN" altLang="en-US" dirty="0"/>
              <a:t>在深层做</a:t>
            </a:r>
            <a:r>
              <a:rPr lang="en-US" altLang="zh-CN" dirty="0"/>
              <a:t>Non local</a:t>
            </a:r>
            <a:r>
              <a:rPr lang="zh-CN" altLang="en-US" dirty="0"/>
              <a:t>，我认为前面几层的网络已经提取了烟雾的纹理信息。在深层做</a:t>
            </a:r>
            <a:r>
              <a:rPr lang="en-US" altLang="zh-CN" dirty="0"/>
              <a:t>Non-local</a:t>
            </a:r>
            <a:r>
              <a:rPr lang="zh-CN" altLang="en-US" dirty="0"/>
              <a:t>是将有烟雾纹理特征的区域进一步增强。</a:t>
            </a:r>
          </a:p>
        </p:txBody>
      </p:sp>
      <p:sp>
        <p:nvSpPr>
          <p:cNvPr id="13" name="矩形 12">
            <a:extLst>
              <a:ext uri="{FF2B5EF4-FFF2-40B4-BE49-F238E27FC236}">
                <a16:creationId xmlns:a16="http://schemas.microsoft.com/office/drawing/2014/main" id="{6D11BDD1-0171-4BEC-A1B7-FE5CCC46F503}"/>
              </a:ext>
            </a:extLst>
          </p:cNvPr>
          <p:cNvSpPr/>
          <p:nvPr/>
        </p:nvSpPr>
        <p:spPr>
          <a:xfrm>
            <a:off x="5171595" y="1100327"/>
            <a:ext cx="6096000" cy="1477328"/>
          </a:xfrm>
          <a:prstGeom prst="rect">
            <a:avLst/>
          </a:prstGeom>
        </p:spPr>
        <p:txBody>
          <a:bodyPr>
            <a:spAutoFit/>
          </a:bodyPr>
          <a:lstStyle/>
          <a:p>
            <a:r>
              <a:rPr lang="zh-CN" altLang="en-US" dirty="0"/>
              <a:t>可以看出，待计算的像素位置是</a:t>
            </a:r>
            <a:r>
              <a:rPr lang="en-US" altLang="zh-CN" dirty="0"/>
              <a:t>p</a:t>
            </a:r>
            <a:r>
              <a:rPr lang="zh-CN" altLang="en-US" dirty="0"/>
              <a:t>，故先构造</a:t>
            </a:r>
            <a:r>
              <a:rPr lang="en-US" altLang="zh-CN" dirty="0"/>
              <a:t>block</a:t>
            </a:r>
            <a:r>
              <a:rPr lang="zh-CN" altLang="en-US" dirty="0"/>
              <a:t>，然后计算其他位置</a:t>
            </a:r>
            <a:r>
              <a:rPr lang="en-US" altLang="zh-CN" dirty="0"/>
              <a:t>block</a:t>
            </a:r>
            <a:r>
              <a:rPr lang="zh-CN" altLang="en-US" dirty="0"/>
              <a:t>和当前</a:t>
            </a:r>
            <a:r>
              <a:rPr lang="en-US" altLang="zh-CN" dirty="0"/>
              <a:t>block</a:t>
            </a:r>
            <a:r>
              <a:rPr lang="zh-CN" altLang="en-US" dirty="0"/>
              <a:t>的相关性，可以看出</a:t>
            </a:r>
            <a:r>
              <a:rPr lang="en-US" altLang="zh-CN" dirty="0"/>
              <a:t>q1</a:t>
            </a:r>
            <a:r>
              <a:rPr lang="zh-CN" altLang="en-US" dirty="0"/>
              <a:t>和</a:t>
            </a:r>
            <a:r>
              <a:rPr lang="en-US" altLang="zh-CN" dirty="0"/>
              <a:t>q2</a:t>
            </a:r>
            <a:r>
              <a:rPr lang="zh-CN" altLang="en-US" dirty="0"/>
              <a:t>区域和</a:t>
            </a:r>
            <a:r>
              <a:rPr lang="en-US" altLang="zh-CN" dirty="0"/>
              <a:t>p</a:t>
            </a:r>
            <a:r>
              <a:rPr lang="zh-CN" altLang="en-US" dirty="0"/>
              <a:t>非常相似，故计算时候给予一个大权重，而</a:t>
            </a:r>
            <a:r>
              <a:rPr lang="en-US" altLang="zh-CN" dirty="0"/>
              <a:t>q3</a:t>
            </a:r>
            <a:r>
              <a:rPr lang="zh-CN" altLang="en-US" dirty="0"/>
              <a:t>给予一个小的权重。这样的做法可以突出共性</a:t>
            </a:r>
            <a:r>
              <a:rPr lang="en-US" altLang="zh-CN" dirty="0"/>
              <a:t>(</a:t>
            </a:r>
            <a:r>
              <a:rPr lang="zh-CN" altLang="en-US" dirty="0"/>
              <a:t>关心的区域</a:t>
            </a:r>
            <a:r>
              <a:rPr lang="en-US" altLang="zh-CN" dirty="0"/>
              <a:t>)</a:t>
            </a:r>
            <a:r>
              <a:rPr lang="zh-CN" altLang="en-US" dirty="0"/>
              <a:t>，消除差异</a:t>
            </a:r>
            <a:r>
              <a:rPr lang="en-US" altLang="zh-CN" dirty="0"/>
              <a:t>(</a:t>
            </a:r>
            <a:r>
              <a:rPr lang="zh-CN" altLang="en-US" dirty="0"/>
              <a:t>通常是噪声</a:t>
            </a:r>
            <a:r>
              <a:rPr lang="en-US" altLang="zh-CN" dirty="0"/>
              <a:t>)</a:t>
            </a:r>
            <a:r>
              <a:rPr lang="zh-CN" altLang="en-US" dirty="0"/>
              <a:t>。</a:t>
            </a:r>
          </a:p>
        </p:txBody>
      </p:sp>
      <p:cxnSp>
        <p:nvCxnSpPr>
          <p:cNvPr id="14" name="直接箭头连接符 13">
            <a:extLst>
              <a:ext uri="{FF2B5EF4-FFF2-40B4-BE49-F238E27FC236}">
                <a16:creationId xmlns:a16="http://schemas.microsoft.com/office/drawing/2014/main" id="{D777B159-E7D9-4F25-B89C-D97C3E15CFA7}"/>
              </a:ext>
            </a:extLst>
          </p:cNvPr>
          <p:cNvCxnSpPr/>
          <p:nvPr/>
        </p:nvCxnSpPr>
        <p:spPr>
          <a:xfrm>
            <a:off x="3297987" y="1707999"/>
            <a:ext cx="15194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1A673AE0-6B68-418C-BED8-5F9D2EE587F0}"/>
              </a:ext>
            </a:extLst>
          </p:cNvPr>
          <p:cNvPicPr>
            <a:picLocks noChangeAspect="1"/>
          </p:cNvPicPr>
          <p:nvPr/>
        </p:nvPicPr>
        <p:blipFill>
          <a:blip r:embed="rId3"/>
          <a:stretch>
            <a:fillRect/>
          </a:stretch>
        </p:blipFill>
        <p:spPr>
          <a:xfrm>
            <a:off x="703346" y="511462"/>
            <a:ext cx="2594641" cy="2515415"/>
          </a:xfrm>
          <a:prstGeom prst="rect">
            <a:avLst/>
          </a:prstGeom>
        </p:spPr>
      </p:pic>
      <p:pic>
        <p:nvPicPr>
          <p:cNvPr id="3" name="图片 2" descr="图片包含 游戏机, 镜子, 男人, 关&#10;&#10;描述已自动生成">
            <a:extLst>
              <a:ext uri="{FF2B5EF4-FFF2-40B4-BE49-F238E27FC236}">
                <a16:creationId xmlns:a16="http://schemas.microsoft.com/office/drawing/2014/main" id="{4F82E135-0208-48BA-A6DD-C6C18BBD575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881015" y="5811802"/>
            <a:ext cx="1334599" cy="1067680"/>
          </a:xfrm>
          <a:prstGeom prst="rect">
            <a:avLst/>
          </a:prstGeom>
        </p:spPr>
      </p:pic>
      <p:pic>
        <p:nvPicPr>
          <p:cNvPr id="12" name="图片 11" descr="图片包含 游戏机, 镜子, 男人, 关&#10;&#10;描述已自动生成">
            <a:extLst>
              <a:ext uri="{FF2B5EF4-FFF2-40B4-BE49-F238E27FC236}">
                <a16:creationId xmlns:a16="http://schemas.microsoft.com/office/drawing/2014/main" id="{DCF71990-26B6-4702-820C-F90F08316FC3}"/>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3865489" y="2977803"/>
            <a:ext cx="1358841" cy="1087073"/>
          </a:xfrm>
          <a:prstGeom prst="rect">
            <a:avLst/>
          </a:prstGeom>
        </p:spPr>
      </p:pic>
      <p:pic>
        <p:nvPicPr>
          <p:cNvPr id="16" name="图片 15" descr="图片包含 游戏机, 镜子, 男人, 关&#10;&#10;描述已自动生成">
            <a:extLst>
              <a:ext uri="{FF2B5EF4-FFF2-40B4-BE49-F238E27FC236}">
                <a16:creationId xmlns:a16="http://schemas.microsoft.com/office/drawing/2014/main" id="{DD73EDA8-F36B-4756-88AE-6181345BA30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871815" y="4465024"/>
            <a:ext cx="1334600" cy="1067680"/>
          </a:xfrm>
          <a:prstGeom prst="rect">
            <a:avLst/>
          </a:prstGeom>
        </p:spPr>
      </p:pic>
      <p:cxnSp>
        <p:nvCxnSpPr>
          <p:cNvPr id="7" name="直接箭头连接符 6">
            <a:extLst>
              <a:ext uri="{FF2B5EF4-FFF2-40B4-BE49-F238E27FC236}">
                <a16:creationId xmlns:a16="http://schemas.microsoft.com/office/drawing/2014/main" id="{8CD8308F-9DED-42D3-9235-2E5047429F1A}"/>
              </a:ext>
            </a:extLst>
          </p:cNvPr>
          <p:cNvCxnSpPr>
            <a:endCxn id="16" idx="2"/>
          </p:cNvCxnSpPr>
          <p:nvPr/>
        </p:nvCxnSpPr>
        <p:spPr>
          <a:xfrm flipV="1">
            <a:off x="4539115" y="5532704"/>
            <a:ext cx="0" cy="529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AC1C0A3D-A4D6-4E39-95AF-C0AC9EF55E20}"/>
              </a:ext>
            </a:extLst>
          </p:cNvPr>
          <p:cNvCxnSpPr>
            <a:stCxn id="16" idx="0"/>
            <a:endCxn id="12" idx="2"/>
          </p:cNvCxnSpPr>
          <p:nvPr/>
        </p:nvCxnSpPr>
        <p:spPr>
          <a:xfrm flipV="1">
            <a:off x="4539115" y="4064876"/>
            <a:ext cx="5795" cy="400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1BE37B93-1B78-4F8B-BB8D-0F1D110309B4}"/>
              </a:ext>
            </a:extLst>
          </p:cNvPr>
          <p:cNvSpPr/>
          <p:nvPr/>
        </p:nvSpPr>
        <p:spPr>
          <a:xfrm>
            <a:off x="4684030" y="6087534"/>
            <a:ext cx="210684" cy="23948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5B1990B-6805-4EEE-9306-A1F2F972C596}"/>
              </a:ext>
            </a:extLst>
          </p:cNvPr>
          <p:cNvSpPr/>
          <p:nvPr/>
        </p:nvSpPr>
        <p:spPr>
          <a:xfrm>
            <a:off x="4396163" y="6079063"/>
            <a:ext cx="210684" cy="23948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3698C29C-16EA-4121-86A6-F97A8A2341FB}"/>
              </a:ext>
            </a:extLst>
          </p:cNvPr>
          <p:cNvSpPr/>
          <p:nvPr/>
        </p:nvSpPr>
        <p:spPr>
          <a:xfrm>
            <a:off x="4489498" y="3265714"/>
            <a:ext cx="103128" cy="10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8BD999FD-B774-4177-BE3E-32B97D2BFA71}"/>
              </a:ext>
            </a:extLst>
          </p:cNvPr>
          <p:cNvSpPr/>
          <p:nvPr/>
        </p:nvSpPr>
        <p:spPr>
          <a:xfrm>
            <a:off x="4745027" y="3266862"/>
            <a:ext cx="103128" cy="1031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9125024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713</Words>
  <Application>Microsoft Office PowerPoint</Application>
  <PresentationFormat>宽屏</PresentationFormat>
  <Paragraphs>26</Paragraphs>
  <Slides>8</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等线</vt:lpstr>
      <vt:lpstr>等线 Light</vt:lpstr>
      <vt:lpstr>Arial</vt:lpstr>
      <vt:lpstr>Office 主题​​</vt:lpstr>
      <vt:lpstr>Deformable ConvNets v2 </vt:lpstr>
      <vt:lpstr>分析可变性卷积的行为</vt:lpstr>
      <vt:lpstr>PowerPoint 演示文稿</vt:lpstr>
      <vt:lpstr>改进</vt:lpstr>
      <vt:lpstr>实验结果</vt:lpstr>
      <vt:lpstr>Self-attention 位置注意力</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Deformable ConvNets v2</dc:title>
  <dc:creator>林 昊琪</dc:creator>
  <cp:lastModifiedBy>zh</cp:lastModifiedBy>
  <cp:revision>13</cp:revision>
  <dcterms:created xsi:type="dcterms:W3CDTF">2020-04-16T01:11:31Z</dcterms:created>
  <dcterms:modified xsi:type="dcterms:W3CDTF">2020-04-16T07:59:23Z</dcterms:modified>
</cp:coreProperties>
</file>