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0"/>
  </p:notesMasterIdLst>
  <p:sldIdLst>
    <p:sldId id="273" r:id="rId2"/>
    <p:sldId id="274" r:id="rId3"/>
    <p:sldId id="309" r:id="rId4"/>
    <p:sldId id="311" r:id="rId5"/>
    <p:sldId id="312" r:id="rId6"/>
    <p:sldId id="314" r:id="rId7"/>
    <p:sldId id="313" r:id="rId8"/>
    <p:sldId id="308" r:id="rId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7055" autoAdjust="0"/>
  </p:normalViewPr>
  <p:slideViewPr>
    <p:cSldViewPr>
      <p:cViewPr varScale="1">
        <p:scale>
          <a:sx n="84" d="100"/>
          <a:sy n="84" d="100"/>
        </p:scale>
        <p:origin x="-142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7E7FD1-329C-442A-865F-606706CC9DFF}" type="datetimeFigureOut">
              <a:rPr lang="zh-CN" altLang="en-US" smtClean="0"/>
              <a:t>2020/4/16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F01851-CD6B-47E8-9DA1-B8AF7902D4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389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2020/4/16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png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png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9.png"/><Relationship Id="rId4" Type="http://schemas.openxmlformats.org/officeDocument/2006/relationships/image" Target="../media/image3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.png"/><Relationship Id="rId4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文献汇报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7448872" cy="1752600"/>
          </a:xfrm>
        </p:spPr>
        <p:txBody>
          <a:bodyPr>
            <a:normAutofit/>
          </a:bodyPr>
          <a:lstStyle/>
          <a:p>
            <a:r>
              <a:rPr lang="zh-CN" altLang="en-US" sz="2400" dirty="0" smtClean="0"/>
              <a:t>                                                      </a:t>
            </a:r>
            <a:endParaRPr lang="en-US" altLang="zh-CN" sz="2400" dirty="0" smtClean="0"/>
          </a:p>
          <a:p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                                              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高铭阳</a:t>
            </a:r>
            <a:endParaRPr lang="en-US" altLang="zh-CN" sz="2400" dirty="0" smtClean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                                                     </a:t>
            </a:r>
            <a:r>
              <a:rPr lang="en-US" altLang="zh-CN" sz="240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2020.04.16</a:t>
            </a:r>
            <a:endParaRPr lang="zh-CN" altLang="en-US" sz="2400" dirty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0231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408" y="260648"/>
            <a:ext cx="6537840" cy="2059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04" y="2708920"/>
            <a:ext cx="9001125" cy="361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158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132601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Method</a:t>
            </a:r>
            <a:endParaRPr lang="zh-CN" altLang="en-US" sz="2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62011" y="692696"/>
            <a:ext cx="855845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    视频</a:t>
            </a:r>
            <a:r>
              <a:rPr lang="zh-CN" altLang="en-US" dirty="0"/>
              <a:t>目标检测的问题在于视频中的运动模糊、遮挡和极端视角等情况会使得静态图像检测器出问题，但是视频提供了丰富的时空和运动信息，应当学习去利用这些信息，使得视频目标检测器更加鲁棒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/>
              <a:t> </a:t>
            </a:r>
            <a:r>
              <a:rPr lang="zh-CN" altLang="en-US" dirty="0" smtClean="0"/>
              <a:t>        </a:t>
            </a:r>
            <a:r>
              <a:rPr lang="en-US" altLang="zh-CN" dirty="0" smtClean="0"/>
              <a:t>FGFA</a:t>
            </a:r>
            <a:r>
              <a:rPr lang="zh-CN" altLang="en-US" dirty="0" smtClean="0"/>
              <a:t>等方法通过</a:t>
            </a:r>
            <a:r>
              <a:rPr lang="zh-CN" altLang="en-US" dirty="0"/>
              <a:t>预测帧间的平移，将帧与帧之间的特征集成起来。然而这些方法处理的是固定长度窗口的图像，不能建模较长的</a:t>
            </a:r>
            <a:r>
              <a:rPr lang="zh-CN" altLang="en-US" dirty="0" smtClean="0"/>
              <a:t>依赖性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         为了</a:t>
            </a:r>
            <a:r>
              <a:rPr lang="zh-CN" altLang="en-US" dirty="0"/>
              <a:t>解决这些问题，我们提出</a:t>
            </a:r>
            <a:r>
              <a:rPr lang="en-US" altLang="zh-CN" dirty="0"/>
              <a:t>Spatial-Temporal Memory Network(STMN)</a:t>
            </a:r>
            <a:r>
              <a:rPr lang="zh-CN" altLang="en-US" dirty="0"/>
              <a:t>，用一个网络统一建模长时间的外观和运动。他的核心为</a:t>
            </a:r>
            <a:r>
              <a:rPr lang="en-US" altLang="zh-CN" dirty="0"/>
              <a:t>Spatial-Temporal Memory Module</a:t>
            </a:r>
            <a:r>
              <a:rPr lang="zh-CN" altLang="en-US" dirty="0"/>
              <a:t>，一种卷积递归</a:t>
            </a:r>
            <a:r>
              <a:rPr lang="zh-CN" altLang="en-US" dirty="0" smtClean="0"/>
              <a:t>计算，和</a:t>
            </a:r>
            <a:r>
              <a:rPr lang="en-US" altLang="zh-CN" dirty="0" err="1" smtClean="0"/>
              <a:t>ConvGRU</a:t>
            </a:r>
            <a:r>
              <a:rPr lang="zh-CN" altLang="en-US" dirty="0" smtClean="0"/>
              <a:t>基本一样。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    </a:t>
            </a:r>
            <a:r>
              <a:rPr lang="zh-CN" altLang="en-US" dirty="0" smtClean="0"/>
              <a:t>为了</a:t>
            </a:r>
            <a:r>
              <a:rPr lang="zh-CN" altLang="en-US" dirty="0"/>
              <a:t>实现帧间的像素级对齐，本文提出</a:t>
            </a:r>
            <a:r>
              <a:rPr lang="en-US" altLang="zh-CN" dirty="0" err="1"/>
              <a:t>MatchTran</a:t>
            </a:r>
            <a:r>
              <a:rPr lang="zh-CN" altLang="en-US" dirty="0"/>
              <a:t>模块显式建模帧间的</a:t>
            </a:r>
            <a:r>
              <a:rPr lang="zh-CN" altLang="en-US" dirty="0" smtClean="0"/>
              <a:t>平移。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4125965"/>
              </p:ext>
            </p:extLst>
          </p:nvPr>
        </p:nvGraphicFramePr>
        <p:xfrm>
          <a:off x="5165725" y="2382838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Equation" r:id="rId3" imgW="114120" imgH="177480" progId="Equation.DSMT4">
                  <p:embed/>
                </p:oleObj>
              </mc:Choice>
              <mc:Fallback>
                <p:oleObj name="Equation" r:id="rId3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65725" y="2382838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10" name="Picture 3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90" y="4077072"/>
            <a:ext cx="8648700" cy="221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429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132601"/>
            <a:ext cx="6840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STMM</a:t>
            </a:r>
            <a:endParaRPr lang="zh-CN" altLang="en-US" sz="2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311033" y="3717032"/>
            <a:ext cx="855845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与</a:t>
            </a:r>
            <a:r>
              <a:rPr lang="en-US" altLang="zh-CN" dirty="0" err="1"/>
              <a:t>ConvGRU</a:t>
            </a:r>
            <a:r>
              <a:rPr lang="zh-CN" altLang="en-US" dirty="0"/>
              <a:t>的不同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     </a:t>
            </a:r>
            <a:r>
              <a:rPr lang="zh-CN" altLang="en-US" dirty="0" smtClean="0"/>
              <a:t>视频</a:t>
            </a:r>
            <a:r>
              <a:rPr lang="zh-CN" altLang="en-US" dirty="0"/>
              <a:t>目标检测训练的过程中的一个现实的问题就是，由于视频具有冗余性，使得数据的多样化和图像数据集没法比，所以希望能够迁移图像数据集中的训练结果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         本文</a:t>
            </a:r>
            <a:r>
              <a:rPr lang="zh-CN" altLang="en-US" dirty="0"/>
              <a:t>用</a:t>
            </a:r>
            <a:r>
              <a:rPr lang="en-US" altLang="zh-CN" dirty="0"/>
              <a:t>R-FCN</a:t>
            </a:r>
            <a:r>
              <a:rPr lang="zh-CN" altLang="en-US" dirty="0"/>
              <a:t>初始化网络，将</a:t>
            </a:r>
            <a:r>
              <a:rPr lang="en-US" altLang="zh-CN" dirty="0"/>
              <a:t>Position-Sensitive ROI pooling</a:t>
            </a:r>
            <a:r>
              <a:rPr lang="zh-CN" altLang="en-US" dirty="0"/>
              <a:t>的前一个卷积层替换为本文的</a:t>
            </a:r>
            <a:r>
              <a:rPr lang="en-US" altLang="zh-CN" dirty="0"/>
              <a:t>STMM</a:t>
            </a:r>
            <a:r>
              <a:rPr lang="zh-CN" altLang="en-US" dirty="0"/>
              <a:t>，由于</a:t>
            </a:r>
            <a:r>
              <a:rPr lang="en-US" altLang="zh-CN" dirty="0"/>
              <a:t>R-FCN</a:t>
            </a:r>
            <a:r>
              <a:rPr lang="zh-CN" altLang="en-US" dirty="0"/>
              <a:t>的激活函数</a:t>
            </a:r>
            <a:r>
              <a:rPr lang="en-US" altLang="zh-CN" dirty="0" err="1"/>
              <a:t>ReLU</a:t>
            </a:r>
            <a:r>
              <a:rPr lang="zh-CN" altLang="en-US" dirty="0"/>
              <a:t>的输出均为非负，而传统</a:t>
            </a:r>
            <a:r>
              <a:rPr lang="en-US" altLang="zh-CN" dirty="0" err="1"/>
              <a:t>ConvGRU</a:t>
            </a:r>
            <a:r>
              <a:rPr lang="zh-CN" altLang="en-US" dirty="0" smtClean="0"/>
              <a:t>的</a:t>
            </a:r>
            <a:r>
              <a:rPr lang="en-US" altLang="zh-CN" dirty="0" err="1" smtClean="0"/>
              <a:t>tanh</a:t>
            </a:r>
            <a:r>
              <a:rPr lang="zh-CN" altLang="en-US" dirty="0"/>
              <a:t>函数的输出为</a:t>
            </a:r>
            <a:r>
              <a:rPr lang="en-US" altLang="zh-CN" dirty="0"/>
              <a:t>[-1,1]</a:t>
            </a:r>
            <a:r>
              <a:rPr lang="zh-CN" altLang="en-US" dirty="0"/>
              <a:t>，这样是不匹配的，所以这里将</a:t>
            </a:r>
            <a:r>
              <a:rPr lang="en-US" altLang="zh-CN" dirty="0"/>
              <a:t>GRU</a:t>
            </a:r>
            <a:r>
              <a:rPr lang="zh-CN" altLang="en-US" dirty="0"/>
              <a:t>的激活函数改为</a:t>
            </a:r>
            <a:r>
              <a:rPr lang="en-US" altLang="zh-CN" dirty="0" err="1"/>
              <a:t>ReLU</a:t>
            </a:r>
            <a:r>
              <a:rPr lang="zh-CN" altLang="en-US" dirty="0"/>
              <a:t>，同时</a:t>
            </a:r>
            <a:r>
              <a:rPr lang="en-US" altLang="zh-CN" dirty="0"/>
              <a:t>STMM</a:t>
            </a:r>
            <a:r>
              <a:rPr lang="zh-CN" altLang="en-US" dirty="0"/>
              <a:t>的卷积层用替换出去的卷积层的参数进行初始化。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5443427"/>
              </p:ext>
            </p:extLst>
          </p:nvPr>
        </p:nvGraphicFramePr>
        <p:xfrm>
          <a:off x="5165725" y="2382838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3" name="Equation" r:id="rId3" imgW="114120" imgH="177480" progId="Equation.DSMT4">
                  <p:embed/>
                </p:oleObj>
              </mc:Choice>
              <mc:Fallback>
                <p:oleObj name="Equation" r:id="rId3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65725" y="2382838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57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08720"/>
            <a:ext cx="8705850" cy="186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7165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132601"/>
            <a:ext cx="6840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Spatial-temporal memory alignment</a:t>
            </a:r>
            <a:r>
              <a:rPr lang="en-US" altLang="zh-CN" sz="2000" dirty="0"/>
              <a:t> </a:t>
            </a:r>
            <a:endParaRPr lang="zh-CN" altLang="en-US" sz="2000" b="1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418758"/>
              </p:ext>
            </p:extLst>
          </p:nvPr>
        </p:nvGraphicFramePr>
        <p:xfrm>
          <a:off x="5165725" y="2382838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9" name="Equation" r:id="rId3" imgW="114120" imgH="177480" progId="Equation.DSMT4">
                  <p:embed/>
                </p:oleObj>
              </mc:Choice>
              <mc:Fallback>
                <p:oleObj name="Equation" r:id="rId3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65725" y="2382838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82" name="Picture 1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980728"/>
            <a:ext cx="8515350" cy="222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83" name="Picture 1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5046861"/>
            <a:ext cx="58959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84" name="Picture 1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9629" y="3843338"/>
            <a:ext cx="5734050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652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132601"/>
            <a:ext cx="6840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Spatial-temporal memory alignment</a:t>
            </a:r>
            <a:r>
              <a:rPr lang="en-US" altLang="zh-CN" sz="2000" dirty="0"/>
              <a:t> </a:t>
            </a:r>
            <a:endParaRPr lang="zh-CN" altLang="en-US" sz="2000" b="1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3346966"/>
              </p:ext>
            </p:extLst>
          </p:nvPr>
        </p:nvGraphicFramePr>
        <p:xfrm>
          <a:off x="5165725" y="2382838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Equation" r:id="rId3" imgW="114120" imgH="177480" progId="Equation.DSMT4">
                  <p:embed/>
                </p:oleObj>
              </mc:Choice>
              <mc:Fallback>
                <p:oleObj name="Equation" r:id="rId3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65725" y="2382838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81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700808"/>
            <a:ext cx="8534400" cy="346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78713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132601"/>
            <a:ext cx="6840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总体框架</a:t>
            </a:r>
            <a:endParaRPr lang="zh-CN" altLang="en-US" sz="2000" b="1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3800762"/>
              </p:ext>
            </p:extLst>
          </p:nvPr>
        </p:nvGraphicFramePr>
        <p:xfrm>
          <a:off x="5165725" y="2382838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" name="Equation" r:id="rId3" imgW="114120" imgH="177480" progId="Equation.DSMT4">
                  <p:embed/>
                </p:oleObj>
              </mc:Choice>
              <mc:Fallback>
                <p:oleObj name="Equation" r:id="rId3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65725" y="2382838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1484784"/>
            <a:ext cx="9001125" cy="361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0567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7504" y="330334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Experiments</a:t>
            </a:r>
            <a:r>
              <a:rPr lang="en-US" altLang="zh-CN" sz="2000" dirty="0"/>
              <a:t> </a:t>
            </a:r>
            <a:endParaRPr lang="zh-CN" altLang="en-US" sz="2000" b="1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664" y="836712"/>
            <a:ext cx="7128792" cy="3469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75" y="4725144"/>
            <a:ext cx="7454770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885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3173</TotalTime>
  <Words>305</Words>
  <Application>Microsoft Office PowerPoint</Application>
  <PresentationFormat>全屏显示(4:3)</PresentationFormat>
  <Paragraphs>20</Paragraphs>
  <Slides>8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0" baseType="lpstr">
      <vt:lpstr>Office 主题</vt:lpstr>
      <vt:lpstr>Equation</vt:lpstr>
      <vt:lpstr>文献汇报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Ming Yang</dc:creator>
  <cp:lastModifiedBy>Ming Yang</cp:lastModifiedBy>
  <cp:revision>125</cp:revision>
  <dcterms:created xsi:type="dcterms:W3CDTF">2019-01-07T15:21:41Z</dcterms:created>
  <dcterms:modified xsi:type="dcterms:W3CDTF">2020-04-16T06:04:50Z</dcterms:modified>
</cp:coreProperties>
</file>