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13"/>
  </p:handoutMasterIdLst>
  <p:sldIdLst>
    <p:sldId id="303" r:id="rId3"/>
    <p:sldId id="367" r:id="rId5"/>
    <p:sldId id="384" r:id="rId6"/>
    <p:sldId id="404" r:id="rId7"/>
    <p:sldId id="392" r:id="rId8"/>
    <p:sldId id="395" r:id="rId9"/>
    <p:sldId id="400" r:id="rId10"/>
    <p:sldId id="380" r:id="rId11"/>
    <p:sldId id="353" r:id="rId12"/>
  </p:sldIdLst>
  <p:sldSz cx="12192000" cy="6858000"/>
  <p:notesSz cx="6858000" cy="9144000"/>
  <p:embeddedFontLst>
    <p:embeddedFont>
      <p:font typeface="Rockwell" panose="02060603020205020403" pitchFamily="18" charset="0"/>
      <p:regular r:id="rId18"/>
      <p:bold r:id="rId19"/>
      <p:italic r:id="rId20"/>
      <p:boldItalic r:id="rId21"/>
    </p:embeddedFont>
    <p:embeddedFont>
      <p:font typeface="微软雅黑" panose="020B0503020204020204" charset="-122"/>
      <p:regular r:id="rId22"/>
    </p:embeddedFont>
    <p:embeddedFont>
      <p:font typeface="Segoe UI" panose="020B0502040204020203" charset="0"/>
      <p:regular r:id="rId23"/>
      <p:bold r:id="rId24"/>
      <p:italic r:id="rId25"/>
      <p:boldItalic r:id="rId26"/>
    </p:embeddedFont>
    <p:embeddedFont>
      <p:font typeface="等线" panose="02010600030101010101" charset="-122"/>
      <p:regular r:id="rId2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" initials="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6600"/>
    <a:srgbClr val="0000FF"/>
    <a:srgbClr val="3333FF"/>
    <a:srgbClr val="009900"/>
    <a:srgbClr val="660066"/>
    <a:srgbClr val="CC00FF"/>
    <a:srgbClr val="6600FF"/>
    <a:srgbClr val="0033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72884" autoAdjust="0"/>
  </p:normalViewPr>
  <p:slideViewPr>
    <p:cSldViewPr snapToGrid="0" snapToObjects="1">
      <p:cViewPr varScale="1">
        <p:scale>
          <a:sx n="59" d="100"/>
          <a:sy n="59" d="100"/>
        </p:scale>
        <p:origin x="1363" y="62"/>
      </p:cViewPr>
      <p:guideLst>
        <p:guide pos="3840"/>
        <p:guide orient="horz" pos="2195"/>
        <p:guide orient="horz" pos="232"/>
        <p:guide orient="horz" pos="4088"/>
        <p:guide pos="57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333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E08C6-A8D6-4426-B0F6-8365D5E90C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5310C-31F2-4F7E-95AC-1A51EFB82AF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CA7BF-183C-46C8-9282-AFD276260C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2F600-D6BF-48F3-BE94-005CF5FB96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扩充了烟雾图片和字典，得到编码导入</a:t>
            </a:r>
            <a:r>
              <a:rPr lang="en-US" altLang="zh-CN" dirty="0"/>
              <a:t>SVM</a:t>
            </a:r>
            <a:r>
              <a:rPr lang="zh-CN" altLang="en-US" dirty="0"/>
              <a:t>，但是非烟雾字典仍然是</a:t>
            </a:r>
            <a:r>
              <a:rPr lang="en-US" altLang="zh-CN" dirty="0"/>
              <a:t>1000</a:t>
            </a:r>
            <a:r>
              <a:rPr lang="zh-CN" altLang="en-US" dirty="0"/>
              <a:t>张图片学习得到的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>
            <a:fillRect/>
          </a:stretch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>
            <a:fillRect/>
          </a:stretch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-4813"/>
            <a:ext cx="4452788" cy="68628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61400" y="1254582"/>
            <a:ext cx="8469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rgbClr val="00B050"/>
                </a:solidFill>
                <a:latin typeface="Rockwell" panose="02060603020205020403" pitchFamily="18" charset="0"/>
              </a:rPr>
              <a:t>文献复现进度汇报</a:t>
            </a:r>
            <a:endParaRPr lang="en-US" altLang="zh-CN" sz="5400" b="1" dirty="0">
              <a:solidFill>
                <a:srgbClr val="00B05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225915" y="4754245"/>
            <a:ext cx="25742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  </a:t>
            </a:r>
            <a:r>
              <a:rPr lang="zh-CN" altLang="en-US" sz="3200" b="1" dirty="0">
                <a:latin typeface="+mn-ea"/>
              </a:rPr>
              <a:t>陶翔翔</a:t>
            </a:r>
            <a:endParaRPr lang="en-US" altLang="zh-CN" sz="3200" b="1" dirty="0">
              <a:latin typeface="+mn-ea"/>
            </a:endParaRPr>
          </a:p>
          <a:p>
            <a:r>
              <a:rPr lang="en-US" altLang="zh-CN" sz="3200" b="1" dirty="0">
                <a:latin typeface="+mn-ea"/>
              </a:rPr>
              <a:t>2020.4.16</a:t>
            </a:r>
            <a:endParaRPr lang="zh-CN" altLang="en-US" sz="3200" b="1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s://ieeexplore.ieee.org/mediastore_new/IEEE/content/media/8359997/8363198/8363717/8363717-fig-2-source-large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473444" y="258370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文献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273876" y="185678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41237" y="1443841"/>
            <a:ext cx="950952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Tian </a:t>
            </a:r>
            <a:r>
              <a:rPr lang="en-US" altLang="zh-CN" sz="3600" dirty="0" err="1">
                <a:latin typeface="Arial" panose="020B0604020202020204" pitchFamily="34" charset="0"/>
                <a:cs typeface="Arial" panose="020B0604020202020204" pitchFamily="34" charset="0"/>
              </a:rPr>
              <a:t>Hongda,Li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 err="1">
                <a:latin typeface="Arial" panose="020B0604020202020204" pitchFamily="34" charset="0"/>
                <a:cs typeface="Arial" panose="020B0604020202020204" pitchFamily="34" charset="0"/>
              </a:rPr>
              <a:t>Wanqing,Ogunbona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Philip </a:t>
            </a:r>
            <a:r>
              <a:rPr lang="en-US" altLang="zh-CN" sz="3600" dirty="0" err="1">
                <a:latin typeface="Arial" panose="020B0604020202020204" pitchFamily="34" charset="0"/>
                <a:cs typeface="Arial" panose="020B0604020202020204" pitchFamily="34" charset="0"/>
              </a:rPr>
              <a:t>O,Wang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Lei. </a:t>
            </a: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Separation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 of Smoke From </a:t>
            </a: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Image Frames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.[J]. IEEE transactions on image processing: a publication of the IEEE Signal Processing Society,2018,27(3).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学习烟雾字典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92860" y="853440"/>
            <a:ext cx="10002520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648</a:t>
            </a:r>
            <a:r>
              <a:rPr lang="zh-CN" altLang="en-US" sz="2800" dirty="0"/>
              <a:t>张烟雾图片</a:t>
            </a:r>
            <a:r>
              <a:rPr lang="en-US" altLang="zh-CN" sz="2800" dirty="0"/>
              <a:t>100*100*3</a:t>
            </a:r>
            <a:r>
              <a:rPr lang="zh-CN" sz="2800" dirty="0"/>
              <a:t>批量裁剪，变灰度，标准化，</a:t>
            </a:r>
            <a:endParaRPr 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sz="2800" dirty="0"/>
              <a:t>学习烟雾字典时，稀疏编码方式先使用</a:t>
            </a:r>
            <a:r>
              <a:rPr lang="en-US" altLang="zh-CN" sz="2800" dirty="0"/>
              <a:t>omp</a:t>
            </a:r>
            <a:r>
              <a:rPr lang="zh-CN" altLang="en-US" sz="2800" dirty="0"/>
              <a:t>，后面再用</a:t>
            </a:r>
            <a:r>
              <a:rPr lang="en-US" altLang="zh-CN" sz="2800" dirty="0"/>
              <a:t>sklearn.lasso</a:t>
            </a:r>
            <a:r>
              <a:rPr lang="zh-CN" altLang="en-US" sz="2800" dirty="0"/>
              <a:t>方法对比</a:t>
            </a:r>
            <a:endParaRPr 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sz="28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40" y="2892425"/>
            <a:ext cx="11828145" cy="8299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890" y="3825240"/>
            <a:ext cx="7985760" cy="3032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学习烟雾字典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1019175"/>
            <a:ext cx="10744200" cy="54025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055" y="275590"/>
            <a:ext cx="57950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训练</a:t>
            </a:r>
            <a:r>
              <a:rPr lang="en-US" altLang="zh-CN" sz="2800" dirty="0">
                <a:solidFill>
                  <a:srgbClr val="4B11BF"/>
                </a:solidFill>
              </a:rPr>
              <a:t>SVM</a:t>
            </a:r>
            <a:endParaRPr lang="en-US" altLang="zh-CN" sz="2800" dirty="0">
              <a:solidFill>
                <a:srgbClr val="4B11B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00006" y="797921"/>
            <a:ext cx="9592098" cy="5262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648/</a:t>
            </a:r>
            <a:r>
              <a:rPr lang="zh-CN" altLang="en-US" sz="2800" dirty="0"/>
              <a:t>12960张纯烟雾图片在纯烟字典得到编码，50000张非烟图片在非烟字典得到编码，导入SVM进行训练和测试</a:t>
            </a:r>
            <a:endParaRPr lang="zh-CN" altLang="en-US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实验：</a:t>
            </a:r>
            <a:endParaRPr lang="zh-CN" altLang="en-US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训练：</a:t>
            </a:r>
            <a:r>
              <a:rPr lang="en-US" altLang="zh-CN" sz="2800" dirty="0"/>
              <a:t>450+/35000-</a:t>
            </a:r>
            <a:r>
              <a:rPr lang="zh-CN" altLang="en-US" sz="2800" dirty="0"/>
              <a:t>；测试：</a:t>
            </a:r>
            <a:r>
              <a:rPr lang="en-US" altLang="zh-CN" sz="2800" dirty="0"/>
              <a:t>198+/15000-</a:t>
            </a:r>
            <a:endParaRPr lang="zh-CN" altLang="en-US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训练：</a:t>
            </a:r>
            <a:r>
              <a:rPr lang="en-US" altLang="zh-CN" sz="2800" dirty="0"/>
              <a:t>9072+/35000-</a:t>
            </a:r>
            <a:r>
              <a:rPr lang="zh-CN" altLang="en-US" sz="2800" dirty="0"/>
              <a:t>；测试：</a:t>
            </a:r>
            <a:r>
              <a:rPr lang="en-US" altLang="zh-CN" sz="2800" dirty="0"/>
              <a:t>3888+/15000-</a:t>
            </a:r>
            <a:endParaRPr lang="zh-CN" altLang="en-US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8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2960" y="5443855"/>
            <a:ext cx="1882140" cy="11734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490" y="3681730"/>
            <a:ext cx="1783080" cy="115062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005" y="5443855"/>
            <a:ext cx="1866900" cy="1181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055" y="275590"/>
            <a:ext cx="57950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SVM</a:t>
            </a:r>
            <a:r>
              <a:rPr lang="zh-CN" altLang="en-US" sz="2800" dirty="0">
                <a:solidFill>
                  <a:srgbClr val="4B11BF"/>
                </a:solidFill>
              </a:rPr>
              <a:t>对单张图片进行分类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00006" y="1135741"/>
            <a:ext cx="9592098" cy="5908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用前面训练好的</a:t>
            </a:r>
            <a:r>
              <a:rPr lang="en-US" altLang="zh-CN" sz="2800" dirty="0"/>
              <a:t>SVM</a:t>
            </a:r>
            <a:r>
              <a:rPr lang="zh-CN" altLang="en-US" sz="2800" dirty="0"/>
              <a:t>，对于含有烟雾的一张图片，滑动窗口得到图像块，对每个图像块进行检测，将图像块在纯烟字典和非烟字典得到的编码</a:t>
            </a:r>
            <a:r>
              <a:rPr lang="zh-CN" altLang="en-US" sz="2800" b="1" dirty="0"/>
              <a:t>直接相加</a:t>
            </a:r>
            <a:r>
              <a:rPr lang="zh-CN" altLang="en-US" sz="2800" dirty="0"/>
              <a:t>作为图像块的编码，导入</a:t>
            </a:r>
            <a:r>
              <a:rPr lang="en-US" altLang="zh-CN" sz="2800" dirty="0"/>
              <a:t>SVM</a:t>
            </a:r>
            <a:r>
              <a:rPr lang="zh-CN" altLang="en-US" sz="2800" dirty="0"/>
              <a:t>得到检测结果。</a:t>
            </a:r>
            <a:endParaRPr lang="zh-CN" altLang="en-US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编码直接相加的合理性：对于一张含有烟雾的图片，得到的图像块由烟雾和非烟雾组成，理想情况非烟雾成分在烟雾字典的编码为</a:t>
            </a:r>
            <a:r>
              <a:rPr lang="en-US" altLang="zh-CN" sz="2800" dirty="0"/>
              <a:t>0</a:t>
            </a:r>
            <a:r>
              <a:rPr lang="zh-CN" altLang="en-US" sz="2800" dirty="0"/>
              <a:t>，因此如果图像块在烟雾字典的编码不为</a:t>
            </a:r>
            <a:r>
              <a:rPr lang="en-US" altLang="zh-CN" sz="2800" dirty="0"/>
              <a:t>0</a:t>
            </a:r>
            <a:r>
              <a:rPr lang="zh-CN" altLang="en-US" sz="2800" dirty="0"/>
              <a:t>，说明图像中含有烟雾成分。</a:t>
            </a:r>
            <a:endParaRPr lang="zh-CN" altLang="en-US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055" y="257175"/>
            <a:ext cx="57950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SVM</a:t>
            </a:r>
            <a:r>
              <a:rPr lang="zh-CN" altLang="en-US" sz="2800" dirty="0">
                <a:solidFill>
                  <a:srgbClr val="4B11BF"/>
                </a:solidFill>
              </a:rPr>
              <a:t>分类结果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1265" y="0"/>
            <a:ext cx="842073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分析问题：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93021" y="1203962"/>
            <a:ext cx="9592098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ym typeface="+mn-ea"/>
              </a:rPr>
              <a:t>SVM</a:t>
            </a:r>
            <a:r>
              <a:rPr lang="zh-CN" altLang="en-US" sz="2800" dirty="0">
                <a:sym typeface="+mn-ea"/>
              </a:rPr>
              <a:t>训练的时候，也应该对双字典得到稀疏编码，然后将得到的编码相加导入</a:t>
            </a:r>
            <a:r>
              <a:rPr lang="en-US" altLang="zh-CN" sz="2800" dirty="0">
                <a:sym typeface="+mn-ea"/>
              </a:rPr>
              <a:t>SVM</a:t>
            </a:r>
            <a:endParaRPr lang="en-US" altLang="zh-CN" sz="2800" dirty="0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84109" y="2570521"/>
            <a:ext cx="38013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702</Words>
  <Application>WPS 演示</Application>
  <PresentationFormat>宽屏</PresentationFormat>
  <Paragraphs>43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Rockwell</vt:lpstr>
      <vt:lpstr>微软雅黑</vt:lpstr>
      <vt:lpstr>Segoe UI</vt:lpstr>
      <vt:lpstr>Arial Unicode MS</vt:lpstr>
      <vt:lpstr>等线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微宸</cp:lastModifiedBy>
  <cp:revision>2886</cp:revision>
  <dcterms:created xsi:type="dcterms:W3CDTF">2015-08-18T02:51:00Z</dcterms:created>
  <dcterms:modified xsi:type="dcterms:W3CDTF">2020-04-16T07:12:30Z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2052-11.1.0.9584</vt:lpwstr>
  </property>
</Properties>
</file>