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303" r:id="rId3"/>
    <p:sldId id="367" r:id="rId5"/>
    <p:sldId id="384" r:id="rId6"/>
    <p:sldId id="392" r:id="rId7"/>
    <p:sldId id="413" r:id="rId8"/>
    <p:sldId id="418" r:id="rId9"/>
    <p:sldId id="416" r:id="rId10"/>
    <p:sldId id="380" r:id="rId11"/>
    <p:sldId id="353" r:id="rId12"/>
  </p:sldIdLst>
  <p:sldSz cx="12192000" cy="6858000"/>
  <p:notesSz cx="6858000" cy="9144000"/>
  <p:embeddedFontLst>
    <p:embeddedFont>
      <p:font typeface="Rockwell" panose="02060603020205020403" pitchFamily="18" charset="0"/>
      <p:regular r:id="rId18"/>
      <p:bold r:id="rId19"/>
      <p:italic r:id="rId20"/>
      <p:boldItalic r:id="rId21"/>
    </p:embeddedFont>
    <p:embeddedFont>
      <p:font typeface="微软雅黑" panose="020B0503020204020204" charset="-122"/>
      <p:regular r:id="rId22"/>
    </p:embeddedFont>
    <p:embeddedFont>
      <p:font typeface="Segoe UI" panose="020B0502040204020203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72884" autoAdjust="0"/>
  </p:normalViewPr>
  <p:slideViewPr>
    <p:cSldViewPr snapToGrid="0" snapToObjects="1">
      <p:cViewPr varScale="1">
        <p:scale>
          <a:sx n="59" d="100"/>
          <a:sy n="59" d="100"/>
        </p:scale>
        <p:origin x="1363" y="62"/>
      </p:cViewPr>
      <p:guideLst>
        <p:guide pos="3840"/>
        <p:guide orient="horz" pos="2195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61400" y="1254582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文献复现进度汇报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5915" y="4754245"/>
            <a:ext cx="2574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 </a:t>
            </a:r>
            <a:r>
              <a:rPr lang="zh-CN" altLang="en-US" sz="3200" b="1" dirty="0">
                <a:latin typeface="+mn-ea"/>
              </a:rPr>
              <a:t>陶翔翔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2020.4.24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文献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73876" y="18567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41237" y="1443841"/>
            <a:ext cx="95095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Tian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Hongda,Li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Wanqing,Ogunbona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Philip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O,Wang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Lei.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of Smoke From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Image Frames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.[J]. IEEE transactions on image processing: a publication of the IEEE Signal Processing Society,2018,27(3).</a:t>
            </a:r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学习烟雾字典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92860" y="853440"/>
            <a:ext cx="10002520" cy="461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sz="2800" dirty="0"/>
              <a:t>上周学习字典出现的问题：</a:t>
            </a:r>
            <a:r>
              <a:rPr lang="en-US" altLang="zh-CN" sz="2800" dirty="0"/>
              <a:t>omp</a:t>
            </a:r>
            <a:r>
              <a:rPr lang="zh-CN" altLang="en-US" sz="2800" dirty="0"/>
              <a:t>进行稀疏表示的时候报错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检查：</a:t>
            </a: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标准化后的均值、标准差</a:t>
            </a: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标准化前后对比图</a:t>
            </a: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标准化图；字典重建图；重建误差图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4525" y="4592955"/>
            <a:ext cx="4305935" cy="22650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" y="5223510"/>
            <a:ext cx="3032760" cy="7086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880" y="3083560"/>
            <a:ext cx="4288155" cy="3646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055" y="275590"/>
            <a:ext cx="5795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训练</a:t>
            </a:r>
            <a:r>
              <a:rPr lang="en-US" altLang="zh-CN" sz="2800" dirty="0">
                <a:solidFill>
                  <a:srgbClr val="4B11BF"/>
                </a:solidFill>
              </a:rPr>
              <a:t>SVM</a:t>
            </a:r>
            <a:endParaRPr lang="en-US" altLang="zh-CN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0006" y="797921"/>
            <a:ext cx="9592098" cy="461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12960张纯烟雾图片在纯烟字典得到编码，50000张非烟图片在非烟字典得到编码，两个编码进行</a:t>
            </a:r>
            <a:r>
              <a:rPr lang="zh-CN" altLang="en-US" sz="2800" b="1" dirty="0"/>
              <a:t>级联</a:t>
            </a:r>
            <a:r>
              <a:rPr lang="zh-CN" altLang="en-US" sz="2800" dirty="0"/>
              <a:t>（向量的拼接）导入SVM进行训练和测试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实验：</a:t>
            </a:r>
            <a:endParaRPr lang="zh-CN" altLang="en-US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训练：</a:t>
            </a:r>
            <a:r>
              <a:rPr lang="en-US" altLang="zh-CN" sz="2800" dirty="0"/>
              <a:t>9072+/35000-</a:t>
            </a:r>
            <a:r>
              <a:rPr lang="zh-CN" altLang="en-US" sz="2800" dirty="0"/>
              <a:t>；测试：</a:t>
            </a:r>
            <a:r>
              <a:rPr lang="en-US" altLang="zh-CN" sz="2800" dirty="0"/>
              <a:t>3888+/15000-</a:t>
            </a:r>
            <a:endParaRPr lang="en-US" altLang="zh-CN" sz="2800" dirty="0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1395" y="4324350"/>
            <a:ext cx="1775460" cy="1089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31595" y="284480"/>
            <a:ext cx="5795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problem</a:t>
            </a:r>
            <a:endParaRPr lang="en-US" altLang="zh-CN" sz="2800" dirty="0">
              <a:solidFill>
                <a:srgbClr val="4B11B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0910" y="0"/>
            <a:ext cx="745109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1176655"/>
            <a:ext cx="4740910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ym typeface="+mn-ea"/>
              </a:rPr>
              <a:t>SVM</a:t>
            </a:r>
            <a:r>
              <a:rPr lang="zh-CN" sz="2800" dirty="0">
                <a:sym typeface="+mn-ea"/>
              </a:rPr>
              <a:t>训练和测试的纯烟雾图像块是从</a:t>
            </a:r>
            <a:r>
              <a:rPr lang="en-US" altLang="zh-CN" sz="2800" dirty="0">
                <a:sym typeface="+mn-ea"/>
              </a:rPr>
              <a:t>100*100</a:t>
            </a:r>
            <a:r>
              <a:rPr lang="zh-CN" altLang="en-US" sz="2800" dirty="0">
                <a:sym typeface="+mn-ea"/>
              </a:rPr>
              <a:t>的纯烟雾中</a:t>
            </a:r>
            <a:r>
              <a:rPr lang="zh-CN" altLang="en-US" sz="2800" b="1" dirty="0">
                <a:sym typeface="+mn-ea"/>
              </a:rPr>
              <a:t>随机裁剪</a:t>
            </a:r>
            <a:r>
              <a:rPr lang="zh-CN" altLang="en-US" sz="2800" dirty="0">
                <a:sym typeface="+mn-ea"/>
              </a:rPr>
              <a:t>为</a:t>
            </a:r>
            <a:r>
              <a:rPr lang="en-US" altLang="zh-CN" sz="2800" dirty="0">
                <a:sym typeface="+mn-ea"/>
              </a:rPr>
              <a:t>16*16</a:t>
            </a:r>
            <a:r>
              <a:rPr lang="zh-CN" altLang="en-US" sz="2800" dirty="0">
                <a:sym typeface="+mn-ea"/>
              </a:rPr>
              <a:t>，测试的时候准确率较高，但是对原始的</a:t>
            </a:r>
            <a:r>
              <a:rPr lang="en-US" altLang="zh-CN" sz="2800" dirty="0">
                <a:sym typeface="+mn-ea"/>
              </a:rPr>
              <a:t>100*100</a:t>
            </a:r>
            <a:r>
              <a:rPr lang="zh-CN" altLang="en-US" sz="2800" dirty="0">
                <a:sym typeface="+mn-ea"/>
              </a:rPr>
              <a:t>纯烟雾图像</a:t>
            </a:r>
            <a:r>
              <a:rPr lang="zh-CN" altLang="en-US" sz="2800" b="1" dirty="0">
                <a:sym typeface="+mn-ea"/>
              </a:rPr>
              <a:t>滑动窗口</a:t>
            </a:r>
            <a:r>
              <a:rPr lang="zh-CN" altLang="en-US" sz="2800" dirty="0">
                <a:sym typeface="+mn-ea"/>
              </a:rPr>
              <a:t>提取图像块进行检测，准确率非常低。</a:t>
            </a:r>
            <a:endParaRPr lang="zh-CN" altLang="en-US" sz="28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分析问题：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1290" y="1203960"/>
            <a:ext cx="647890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ym typeface="+mn-ea"/>
              </a:rPr>
              <a:t>导入</a:t>
            </a:r>
            <a:r>
              <a:rPr lang="en-US" altLang="zh-CN" sz="2800" dirty="0">
                <a:sym typeface="+mn-ea"/>
              </a:rPr>
              <a:t>SVM</a:t>
            </a:r>
            <a:r>
              <a:rPr lang="zh-CN" altLang="en-US" sz="2800" dirty="0">
                <a:sym typeface="+mn-ea"/>
              </a:rPr>
              <a:t>的级联特征未进行标准化：标准化后测试时准确率提高，但是滑动窗口检测的时候准确率仍不高。</a:t>
            </a:r>
            <a:endParaRPr lang="zh-CN" altLang="en-US" sz="28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035" y="3698875"/>
            <a:ext cx="2317115" cy="15722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725" y="1659890"/>
            <a:ext cx="5773420" cy="5198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分析原因：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4905" y="1176655"/>
            <a:ext cx="9009380" cy="4615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ym typeface="+mn-ea"/>
              </a:rPr>
              <a:t>SVM</a:t>
            </a:r>
            <a:r>
              <a:rPr lang="zh-CN" altLang="en-US" sz="2800" dirty="0">
                <a:sym typeface="+mn-ea"/>
              </a:rPr>
              <a:t>泛化性差：用</a:t>
            </a:r>
            <a:r>
              <a:rPr lang="en-US" altLang="zh-CN" sz="2800" dirty="0">
                <a:sym typeface="+mn-ea"/>
              </a:rPr>
              <a:t>GridSearchCV</a:t>
            </a:r>
            <a:r>
              <a:rPr lang="zh-CN" sz="2800" dirty="0">
                <a:sym typeface="+mn-ea"/>
              </a:rPr>
              <a:t>对</a:t>
            </a:r>
            <a:r>
              <a:rPr lang="en-US" altLang="zh-CN" sz="2800" dirty="0">
                <a:sym typeface="+mn-ea"/>
              </a:rPr>
              <a:t>SVM</a:t>
            </a:r>
            <a:r>
              <a:rPr lang="zh-CN" altLang="en-US" sz="2800" dirty="0">
                <a:sym typeface="+mn-ea"/>
              </a:rPr>
              <a:t>的参数进行优化，程序不出结果。</a:t>
            </a:r>
            <a:endParaRPr lang="zh-CN" altLang="en-US" sz="2800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800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ym typeface="+mn-ea"/>
              </a:rPr>
              <a:t>按列查看均值方差发现训练数据存在为零的情况（样本</a:t>
            </a:r>
            <a:r>
              <a:rPr lang="en-US" altLang="zh-CN" sz="2800" dirty="0">
                <a:sym typeface="+mn-ea"/>
              </a:rPr>
              <a:t>*</a:t>
            </a:r>
            <a:r>
              <a:rPr lang="zh-CN" altLang="en-US" sz="2800" dirty="0">
                <a:sym typeface="+mn-ea"/>
              </a:rPr>
              <a:t>属性），但是数量不多，说明稀疏度不够高</a:t>
            </a:r>
            <a:endParaRPr lang="zh-CN" altLang="en-US" sz="2800" dirty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95" y="3331210"/>
            <a:ext cx="5852160" cy="1005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455" y="3434080"/>
            <a:ext cx="56769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problem</a:t>
            </a:r>
            <a:r>
              <a:rPr lang="zh-CN" altLang="en-US" sz="2800" dirty="0">
                <a:solidFill>
                  <a:srgbClr val="4B11BF"/>
                </a:solidFill>
              </a:rPr>
              <a:t>：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0006" y="1203962"/>
            <a:ext cx="9592098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sz="2800" dirty="0">
                <a:sym typeface="+mn-ea"/>
              </a:rPr>
              <a:t>扩充非烟字典（</a:t>
            </a:r>
            <a:r>
              <a:rPr lang="en-US" altLang="zh-CN" sz="2800" dirty="0">
                <a:sym typeface="+mn-ea"/>
              </a:rPr>
              <a:t>10000</a:t>
            </a:r>
            <a:r>
              <a:rPr lang="zh-CN" altLang="en-US" sz="2800" dirty="0">
                <a:sym typeface="+mn-ea"/>
              </a:rPr>
              <a:t>张）显示超过维度，但是换成</a:t>
            </a:r>
            <a:r>
              <a:rPr lang="en-US" altLang="zh-CN" sz="2800" dirty="0">
                <a:sym typeface="+mn-ea"/>
              </a:rPr>
              <a:t>int</a:t>
            </a:r>
            <a:r>
              <a:rPr lang="zh-CN" altLang="en-US" sz="2800" dirty="0">
                <a:sym typeface="+mn-ea"/>
              </a:rPr>
              <a:t>型还是报错。</a:t>
            </a:r>
            <a:endParaRPr lang="zh-CN" altLang="en-US" sz="28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45" y="2746375"/>
            <a:ext cx="701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712</Words>
  <Application>WPS 演示</Application>
  <PresentationFormat>宽屏</PresentationFormat>
  <Paragraphs>50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Rockwell</vt:lpstr>
      <vt:lpstr>微软雅黑</vt:lpstr>
      <vt:lpstr>Segoe UI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微宸</cp:lastModifiedBy>
  <cp:revision>2931</cp:revision>
  <dcterms:created xsi:type="dcterms:W3CDTF">2015-08-18T02:51:00Z</dcterms:created>
  <dcterms:modified xsi:type="dcterms:W3CDTF">2020-04-24T07:48:11Z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