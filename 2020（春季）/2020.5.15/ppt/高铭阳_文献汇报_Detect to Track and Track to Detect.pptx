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2">
  <p:sldMasterIdLst>
    <p:sldMasterId id="2147483648" r:id="rId1"/>
  </p:sldMasterIdLst>
  <p:notesMasterIdLst>
    <p:notesMasterId r:id="rId14"/>
  </p:notesMasterIdLst>
  <p:sldIdLst>
    <p:sldId id="273" r:id="rId2"/>
    <p:sldId id="274" r:id="rId3"/>
    <p:sldId id="311" r:id="rId4"/>
    <p:sldId id="325" r:id="rId5"/>
    <p:sldId id="328" r:id="rId6"/>
    <p:sldId id="326" r:id="rId7"/>
    <p:sldId id="327" r:id="rId8"/>
    <p:sldId id="321" r:id="rId9"/>
    <p:sldId id="322" r:id="rId10"/>
    <p:sldId id="324" r:id="rId11"/>
    <p:sldId id="323" r:id="rId12"/>
    <p:sldId id="314" r:id="rId13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04" autoAdjust="0"/>
    <p:restoredTop sz="97055" autoAdjust="0"/>
  </p:normalViewPr>
  <p:slideViewPr>
    <p:cSldViewPr>
      <p:cViewPr varScale="1">
        <p:scale>
          <a:sx n="84" d="100"/>
          <a:sy n="84" d="100"/>
        </p:scale>
        <p:origin x="-1421" y="-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7E7FD1-329C-442A-865F-606706CC9DFF}" type="datetimeFigureOut">
              <a:rPr lang="zh-CN" altLang="en-US" smtClean="0"/>
              <a:t>2020/5/14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F01851-CD6B-47E8-9DA1-B8AF7902D4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63893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2020/5/14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2020/5/14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2020/5/14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2020/5/14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2020/5/14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2020/5/14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2020/5/14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2020/5/14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2020/5/14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2020/5/14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2020/5/14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t>2020/5/14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 smtClean="0"/>
              <a:t>文献汇报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7448872" cy="1752600"/>
          </a:xfrm>
        </p:spPr>
        <p:txBody>
          <a:bodyPr>
            <a:normAutofit/>
          </a:bodyPr>
          <a:lstStyle/>
          <a:p>
            <a:r>
              <a:rPr lang="zh-CN" altLang="en-US" sz="2400" dirty="0" smtClean="0"/>
              <a:t>                                                      </a:t>
            </a:r>
            <a:endParaRPr lang="en-US" altLang="zh-CN" sz="2400" dirty="0" smtClean="0"/>
          </a:p>
          <a:p>
            <a:r>
              <a:rPr lang="en-US" altLang="zh-CN" sz="24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 </a:t>
            </a:r>
            <a:r>
              <a:rPr lang="en-US" altLang="zh-CN" sz="2400" dirty="0" smtClean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                                               </a:t>
            </a:r>
            <a:r>
              <a:rPr lang="zh-CN" altLang="en-US" sz="2400" dirty="0" smtClean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高铭阳</a:t>
            </a:r>
            <a:endParaRPr lang="en-US" altLang="zh-CN" sz="2400" dirty="0" smtClean="0">
              <a:solidFill>
                <a:schemeClr val="tx1"/>
              </a:solidFill>
              <a:latin typeface="Times New Roman" pitchFamily="18" charset="0"/>
              <a:ea typeface="宋体" pitchFamily="2" charset="-122"/>
            </a:endParaRPr>
          </a:p>
          <a:p>
            <a:r>
              <a:rPr lang="en-US" altLang="zh-CN" sz="24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 </a:t>
            </a:r>
            <a:r>
              <a:rPr lang="en-US" altLang="zh-CN" sz="2400" dirty="0" smtClean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                                                      </a:t>
            </a:r>
            <a:r>
              <a:rPr lang="en-US" altLang="zh-CN" sz="2400" dirty="0" smtClean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2020.05.15</a:t>
            </a:r>
            <a:endParaRPr lang="zh-CN" altLang="en-US" sz="2400" dirty="0">
              <a:solidFill>
                <a:schemeClr val="tx1"/>
              </a:solidFill>
              <a:latin typeface="Times New Roman" pitchFamily="18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302313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620688"/>
            <a:ext cx="8312150" cy="1835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2924944"/>
            <a:ext cx="7423150" cy="3321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61584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02252" y="4005064"/>
            <a:ext cx="864096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文章的贡献主要是三个方面</a:t>
            </a:r>
            <a:r>
              <a:rPr lang="zh-CN" altLang="en-US" dirty="0" smtClean="0"/>
              <a:t>：</a:t>
            </a:r>
            <a:endParaRPr lang="en-US" altLang="zh-CN" dirty="0" smtClean="0"/>
          </a:p>
          <a:p>
            <a:endParaRPr lang="zh-CN" altLang="en-US" dirty="0"/>
          </a:p>
          <a:p>
            <a:r>
              <a:rPr lang="en-US" altLang="zh-CN" dirty="0" smtClean="0"/>
              <a:t>1</a:t>
            </a:r>
            <a:r>
              <a:rPr lang="zh-CN" altLang="en-US" dirty="0" smtClean="0"/>
              <a:t>、设置</a:t>
            </a:r>
            <a:r>
              <a:rPr lang="zh-CN" altLang="en-US" dirty="0"/>
              <a:t>了一个</a:t>
            </a:r>
            <a:r>
              <a:rPr lang="en-US" altLang="zh-CN" dirty="0" err="1"/>
              <a:t>ConvNet</a:t>
            </a:r>
            <a:r>
              <a:rPr lang="zh-CN" altLang="en-US" dirty="0"/>
              <a:t>结构来同时进行检测和跟踪，使用了一个多任务目标函数来进行逐帧的检测和跨帧跟踪回归</a:t>
            </a:r>
            <a:r>
              <a:rPr lang="zh-CN" altLang="en-US" dirty="0" smtClean="0"/>
              <a:t>。</a:t>
            </a:r>
          </a:p>
          <a:p>
            <a:r>
              <a:rPr lang="en-US" altLang="zh-CN" dirty="0" smtClean="0"/>
              <a:t>2</a:t>
            </a:r>
            <a:r>
              <a:rPr lang="zh-CN" altLang="en-US" dirty="0" smtClean="0"/>
              <a:t>、引入了目标在时间尺度上的相关特征来辅助</a:t>
            </a:r>
            <a:r>
              <a:rPr lang="en-US" altLang="zh-CN" dirty="0" err="1" smtClean="0"/>
              <a:t>ConvNet</a:t>
            </a:r>
            <a:r>
              <a:rPr lang="zh-CN" altLang="en-US" dirty="0" smtClean="0"/>
              <a:t>进行跟踪。</a:t>
            </a:r>
            <a:endParaRPr lang="en-US" altLang="zh-CN" dirty="0"/>
          </a:p>
          <a:p>
            <a:r>
              <a:rPr lang="en-US" altLang="zh-CN" dirty="0" smtClean="0"/>
              <a:t>3</a:t>
            </a:r>
            <a:r>
              <a:rPr lang="zh-CN" altLang="en-US" dirty="0" smtClean="0"/>
              <a:t>、我们</a:t>
            </a:r>
            <a:r>
              <a:rPr lang="zh-CN" altLang="en-US" dirty="0"/>
              <a:t>将帧与帧之间的检测结果用跨帧的目标跟踪轨迹联系起来，以此来产生视频上的精确度更高的检测结果。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2252" y="3501008"/>
            <a:ext cx="25922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/>
              <a:t>贡献</a:t>
            </a:r>
            <a:endParaRPr lang="zh-CN" altLang="en-US" sz="2000" b="1" dirty="0"/>
          </a:p>
        </p:txBody>
      </p:sp>
      <p:sp>
        <p:nvSpPr>
          <p:cNvPr id="4" name="TextBox 3"/>
          <p:cNvSpPr txBox="1"/>
          <p:nvPr/>
        </p:nvSpPr>
        <p:spPr>
          <a:xfrm>
            <a:off x="526783" y="836712"/>
            <a:ext cx="850815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         视频</a:t>
            </a:r>
            <a:r>
              <a:rPr lang="zh-CN" altLang="en-US" dirty="0"/>
              <a:t>目标检测最近掀起了一阵研究热潮，尤其是在</a:t>
            </a:r>
            <a:r>
              <a:rPr lang="en-US" altLang="zh-CN" dirty="0" err="1"/>
              <a:t>ImageNet</a:t>
            </a:r>
            <a:r>
              <a:rPr lang="en-US" altLang="zh-CN" dirty="0"/>
              <a:t> VID</a:t>
            </a:r>
            <a:r>
              <a:rPr lang="zh-CN" altLang="en-US" dirty="0"/>
              <a:t>竞赛提出之后。不同于</a:t>
            </a:r>
            <a:r>
              <a:rPr lang="en-US" altLang="zh-CN" dirty="0" err="1"/>
              <a:t>ImageNet</a:t>
            </a:r>
            <a:r>
              <a:rPr lang="en-US" altLang="zh-CN" dirty="0"/>
              <a:t> DET</a:t>
            </a:r>
            <a:r>
              <a:rPr lang="zh-CN" altLang="en-US" dirty="0"/>
              <a:t>竞赛，</a:t>
            </a:r>
            <a:r>
              <a:rPr lang="en-US" altLang="zh-CN" dirty="0"/>
              <a:t>VID</a:t>
            </a:r>
            <a:r>
              <a:rPr lang="zh-CN" altLang="en-US" dirty="0"/>
              <a:t>中目标会在图片序列中出现，并且往往伴随着额外的挑战：</a:t>
            </a:r>
          </a:p>
          <a:p>
            <a:r>
              <a:rPr lang="en-US" altLang="zh-CN" dirty="0" smtClean="0"/>
              <a:t>1</a:t>
            </a:r>
            <a:r>
              <a:rPr lang="zh-CN" altLang="en-US" dirty="0" smtClean="0"/>
              <a:t>、数据</a:t>
            </a:r>
            <a:r>
              <a:rPr lang="zh-CN" altLang="en-US" dirty="0"/>
              <a:t>集大小：</a:t>
            </a:r>
            <a:r>
              <a:rPr lang="en-US" altLang="zh-CN" dirty="0"/>
              <a:t>VID</a:t>
            </a:r>
            <a:r>
              <a:rPr lang="zh-CN" altLang="en-US" dirty="0"/>
              <a:t>中有</a:t>
            </a:r>
            <a:r>
              <a:rPr lang="en-US" altLang="zh-CN" dirty="0"/>
              <a:t>1.3M</a:t>
            </a:r>
            <a:r>
              <a:rPr lang="zh-CN" altLang="en-US" dirty="0"/>
              <a:t>张图片，作为对比，</a:t>
            </a:r>
            <a:r>
              <a:rPr lang="en-US" altLang="zh-CN" dirty="0"/>
              <a:t>DET</a:t>
            </a:r>
            <a:r>
              <a:rPr lang="zh-CN" altLang="en-US" dirty="0"/>
              <a:t>有</a:t>
            </a:r>
            <a:r>
              <a:rPr lang="en-US" altLang="zh-CN" dirty="0"/>
              <a:t>400K</a:t>
            </a:r>
            <a:r>
              <a:rPr lang="zh-CN" altLang="en-US" dirty="0"/>
              <a:t>张，</a:t>
            </a:r>
            <a:r>
              <a:rPr lang="en-US" altLang="zh-CN" dirty="0"/>
              <a:t>COCO</a:t>
            </a:r>
            <a:r>
              <a:rPr lang="zh-CN" altLang="en-US" dirty="0"/>
              <a:t>有</a:t>
            </a:r>
            <a:r>
              <a:rPr lang="en-US" altLang="zh-CN" dirty="0"/>
              <a:t>100K</a:t>
            </a:r>
            <a:r>
              <a:rPr lang="zh-CN" altLang="en-US" dirty="0"/>
              <a:t>张</a:t>
            </a:r>
            <a:r>
              <a:rPr lang="zh-CN" altLang="en-US" dirty="0" smtClean="0"/>
              <a:t>。</a:t>
            </a:r>
            <a:r>
              <a:rPr lang="en-US" altLang="zh-CN" dirty="0" smtClean="0"/>
              <a:t>2</a:t>
            </a:r>
            <a:r>
              <a:rPr lang="zh-CN" altLang="en-US" dirty="0" smtClean="0"/>
              <a:t>、运动</a:t>
            </a:r>
            <a:r>
              <a:rPr lang="zh-CN" altLang="en-US" dirty="0"/>
              <a:t>模糊：由相机运动或目标运动造成。</a:t>
            </a:r>
          </a:p>
          <a:p>
            <a:r>
              <a:rPr lang="en-US" altLang="zh-CN" dirty="0" smtClean="0"/>
              <a:t>3</a:t>
            </a:r>
            <a:r>
              <a:rPr lang="zh-CN" altLang="en-US" dirty="0" smtClean="0"/>
              <a:t>、图片</a:t>
            </a:r>
            <a:r>
              <a:rPr lang="zh-CN" altLang="en-US" dirty="0"/>
              <a:t>质量：网络视频片段的质量通常不如静态图片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r>
              <a:rPr lang="en-US" altLang="zh-CN" dirty="0" smtClean="0"/>
              <a:t>4</a:t>
            </a:r>
            <a:r>
              <a:rPr lang="zh-CN" altLang="en-US" dirty="0" smtClean="0"/>
              <a:t>、部分</a:t>
            </a:r>
            <a:r>
              <a:rPr lang="zh-CN" altLang="en-US" dirty="0"/>
              <a:t>遮挡：由视角变化或者目标移动造成</a:t>
            </a:r>
            <a:r>
              <a:rPr lang="zh-CN" altLang="en-US" dirty="0" smtClean="0"/>
              <a:t>。</a:t>
            </a:r>
            <a:endParaRPr lang="en-US" altLang="zh-CN" dirty="0"/>
          </a:p>
          <a:p>
            <a:r>
              <a:rPr lang="en-US" altLang="zh-CN" dirty="0" smtClean="0"/>
              <a:t>5</a:t>
            </a:r>
            <a:r>
              <a:rPr lang="zh-CN" altLang="en-US" dirty="0" smtClean="0"/>
              <a:t>、姿势</a:t>
            </a:r>
            <a:r>
              <a:rPr lang="zh-CN" altLang="en-US" dirty="0"/>
              <a:t>：不常见的姿态在视频序列中频繁出现</a:t>
            </a:r>
            <a:r>
              <a:rPr lang="zh-CN" altLang="en-US" dirty="0" smtClean="0"/>
              <a:t>。</a:t>
            </a:r>
            <a:endParaRPr lang="zh-CN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369097" y="277273"/>
            <a:ext cx="25922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/>
              <a:t>背景</a:t>
            </a:r>
            <a:endParaRPr lang="zh-CN" alt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9473928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23528" y="4437112"/>
            <a:ext cx="850815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首先，给定一个图像对，通过一个特征提取网络（</a:t>
            </a:r>
            <a:r>
              <a:rPr lang="en-US" altLang="zh-CN" dirty="0"/>
              <a:t>Res-101</a:t>
            </a:r>
            <a:r>
              <a:rPr lang="zh-CN" altLang="en-US" dirty="0"/>
              <a:t>）提取深度特征供后序任务使用。一个</a:t>
            </a:r>
            <a:r>
              <a:rPr lang="en-US" altLang="zh-CN" dirty="0"/>
              <a:t>RPN</a:t>
            </a:r>
            <a:r>
              <a:rPr lang="zh-CN" altLang="en-US" dirty="0"/>
              <a:t>网络根据目标性大小输出候选区域，这些候选区域是对</a:t>
            </a:r>
            <a:r>
              <a:rPr lang="en-US" altLang="zh-CN" dirty="0"/>
              <a:t>anchor</a:t>
            </a:r>
            <a:r>
              <a:rPr lang="zh-CN" altLang="en-US" dirty="0"/>
              <a:t>的回归。</a:t>
            </a:r>
            <a:r>
              <a:rPr lang="en-US" altLang="zh-CN" dirty="0"/>
              <a:t>ROI Pooling</a:t>
            </a:r>
            <a:r>
              <a:rPr lang="zh-CN" altLang="en-US" dirty="0"/>
              <a:t>从中间的卷积层中生成位置敏感的特征图，用于最终的分类和回归。上述其实是</a:t>
            </a:r>
            <a:r>
              <a:rPr lang="en-US" altLang="zh-CN" dirty="0"/>
              <a:t>R-FCN</a:t>
            </a:r>
            <a:r>
              <a:rPr lang="zh-CN" altLang="en-US" dirty="0"/>
              <a:t>的框架，本文对上述框架进行了拓展，将两个</a:t>
            </a:r>
            <a:r>
              <a:rPr lang="en-US" altLang="zh-CN" dirty="0"/>
              <a:t>PSROI Pooling</a:t>
            </a:r>
            <a:r>
              <a:rPr lang="zh-CN" altLang="en-US" dirty="0"/>
              <a:t>得到的特征图，连同一个相关特征图，输入</a:t>
            </a:r>
            <a:r>
              <a:rPr lang="en-US" altLang="zh-CN" dirty="0"/>
              <a:t>ROI tracking</a:t>
            </a:r>
            <a:r>
              <a:rPr lang="zh-CN" altLang="en-US" dirty="0"/>
              <a:t>层，这个层输出的是框从前帧到后帧的变换。两帧之间的相关性，通过两帧之间</a:t>
            </a:r>
            <a:r>
              <a:rPr lang="en-US" altLang="zh-CN" dirty="0"/>
              <a:t>PSROI Pooling</a:t>
            </a:r>
            <a:r>
              <a:rPr lang="zh-CN" altLang="en-US" dirty="0"/>
              <a:t>之间计算得到。</a:t>
            </a:r>
            <a:r>
              <a:rPr lang="en-US" altLang="zh-CN" dirty="0"/>
              <a:t>ROI tracking</a:t>
            </a:r>
            <a:r>
              <a:rPr lang="zh-CN" altLang="en-US" dirty="0"/>
              <a:t>的训练，通过帧间的框的坐标回归得到。回归的损失是跟踪预测框与</a:t>
            </a:r>
            <a:r>
              <a:rPr lang="en-US" altLang="zh-CN" dirty="0"/>
              <a:t>ground truth</a:t>
            </a:r>
            <a:r>
              <a:rPr lang="zh-CN" altLang="en-US" dirty="0"/>
              <a:t>之间计算</a:t>
            </a:r>
            <a:r>
              <a:rPr lang="en-US" altLang="zh-CN" dirty="0"/>
              <a:t>soft L1 norm</a:t>
            </a:r>
            <a:r>
              <a:rPr lang="zh-CN" altLang="en-US" dirty="0"/>
              <a:t>得到</a:t>
            </a:r>
            <a:r>
              <a:rPr lang="zh-CN" altLang="en-US" dirty="0" smtClean="0"/>
              <a:t>。</a:t>
            </a:r>
            <a:endParaRPr lang="zh-CN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369097" y="277273"/>
            <a:ext cx="25922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 smtClean="0"/>
              <a:t>D&amp;T</a:t>
            </a:r>
            <a:r>
              <a:rPr lang="zh-CN" altLang="en-US" sz="2000" b="1" dirty="0" smtClean="0"/>
              <a:t>方法</a:t>
            </a:r>
            <a:endParaRPr lang="zh-CN" altLang="en-US" sz="2000" b="1" dirty="0"/>
          </a:p>
        </p:txBody>
      </p:sp>
      <p:pic>
        <p:nvPicPr>
          <p:cNvPr id="8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764704"/>
            <a:ext cx="7423150" cy="3321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938821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369097" y="277273"/>
            <a:ext cx="25922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 smtClean="0"/>
              <a:t>D&amp;T</a:t>
            </a:r>
            <a:r>
              <a:rPr lang="zh-CN" altLang="en-US" sz="2000" b="1" dirty="0" smtClean="0"/>
              <a:t>方法</a:t>
            </a:r>
            <a:endParaRPr lang="zh-CN" altLang="en-US" sz="2000" b="1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1484784"/>
            <a:ext cx="8018622" cy="40324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656148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369097" y="277273"/>
            <a:ext cx="25922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/>
              <a:t>损失函数</a:t>
            </a:r>
            <a:endParaRPr lang="zh-CN" altLang="en-US" sz="2000" b="1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0179" y="1268760"/>
            <a:ext cx="5181600" cy="2695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5656" y="4437112"/>
            <a:ext cx="5772150" cy="1714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87107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369097" y="277273"/>
            <a:ext cx="42085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/>
              <a:t>进行目标跟踪的相关特征</a:t>
            </a:r>
            <a:endParaRPr lang="zh-CN" altLang="en-US" sz="2000" b="1" dirty="0">
              <a:effectLst/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7704" y="908720"/>
            <a:ext cx="5040560" cy="5567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901269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1268760"/>
            <a:ext cx="8780712" cy="39604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453300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6255" y="980728"/>
            <a:ext cx="6362700" cy="5572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369097" y="277273"/>
            <a:ext cx="42085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/>
              <a:t>Linking </a:t>
            </a:r>
            <a:r>
              <a:rPr lang="en-US" altLang="zh-CN" sz="2000" b="1" dirty="0" err="1"/>
              <a:t>tracklets</a:t>
            </a:r>
            <a:r>
              <a:rPr lang="en-US" altLang="zh-CN" sz="2000" b="1" dirty="0"/>
              <a:t> to object tubes</a:t>
            </a:r>
            <a:r>
              <a:rPr lang="en-US" altLang="zh-CN" sz="2000" dirty="0"/>
              <a:t> </a:t>
            </a:r>
            <a:endParaRPr lang="zh-CN" altLang="en-US" sz="2000" b="1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6880698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0650" y="1090613"/>
            <a:ext cx="6362700" cy="4676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369097" y="277273"/>
            <a:ext cx="42085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/>
              <a:t>Linking </a:t>
            </a:r>
            <a:r>
              <a:rPr lang="en-US" altLang="zh-CN" sz="2000" b="1" dirty="0" err="1"/>
              <a:t>tracklets</a:t>
            </a:r>
            <a:r>
              <a:rPr lang="en-US" altLang="zh-CN" sz="2000" b="1" dirty="0"/>
              <a:t> to object tubes</a:t>
            </a:r>
            <a:r>
              <a:rPr lang="en-US" altLang="zh-CN" sz="2000" dirty="0"/>
              <a:t> </a:t>
            </a:r>
            <a:endParaRPr lang="zh-CN" altLang="en-US" sz="2000" b="1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6042175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452" y="1268760"/>
            <a:ext cx="8915400" cy="4013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406134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624" y="2060848"/>
            <a:ext cx="6438900" cy="2476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123761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4880</TotalTime>
  <Words>417</Words>
  <Application>Microsoft Office PowerPoint</Application>
  <PresentationFormat>全屏显示(4:3)</PresentationFormat>
  <Paragraphs>23</Paragraphs>
  <Slides>12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3" baseType="lpstr">
      <vt:lpstr>Office 主题</vt:lpstr>
      <vt:lpstr>文献汇报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Ming Yang</dc:creator>
  <cp:lastModifiedBy>Ming Yang</cp:lastModifiedBy>
  <cp:revision>126</cp:revision>
  <dcterms:created xsi:type="dcterms:W3CDTF">2019-01-07T15:21:41Z</dcterms:created>
  <dcterms:modified xsi:type="dcterms:W3CDTF">2020-05-14T12:14:23Z</dcterms:modified>
</cp:coreProperties>
</file>