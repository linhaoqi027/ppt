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304" r:id="rId3"/>
    <p:sldId id="305" r:id="rId4"/>
    <p:sldId id="306" r:id="rId5"/>
    <p:sldId id="307" r:id="rId6"/>
    <p:sldId id="308" r:id="rId7"/>
    <p:sldId id="310" r:id="rId8"/>
    <p:sldId id="311" r:id="rId9"/>
    <p:sldId id="312" r:id="rId10"/>
  </p:sldIdLst>
  <p:sldSz cx="12192000" cy="6858000"/>
  <p:notesSz cx="7104063" cy="10234613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39">
          <p15:clr>
            <a:srgbClr val="A4A3A4"/>
          </p15:clr>
        </p15:guide>
        <p15:guide id="2" pos="29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/>
    <p:restoredTop sz="94660"/>
  </p:normalViewPr>
  <p:slideViewPr>
    <p:cSldViewPr snapToGrid="0" showGuides="1">
      <p:cViewPr varScale="1">
        <p:scale>
          <a:sx n="87" d="100"/>
          <a:sy n="87" d="100"/>
        </p:scale>
        <p:origin x="480" y="106"/>
      </p:cViewPr>
      <p:guideLst>
        <p:guide orient="horz" pos="2139"/>
        <p:guide pos="297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2A48B96-639E-45A3-A0BA-2464DFDB1FAA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pPr fontAlgn="auto"/>
              <a:t>2020/5/14</a:t>
            </a:fld>
            <a:endParaRPr lang="zh-CN" altLang="en-US" strike="noStrike" noProof="1"/>
          </a:p>
        </p:txBody>
      </p:sp>
      <p:sp>
        <p:nvSpPr>
          <p:cNvPr id="205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53" name="备注占位符 4"/>
          <p:cNvSpPr>
            <a:spLocks noGrp="1"/>
          </p:cNvSpPr>
          <p:nvPr>
            <p:ph type="body" sz="quarter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 indent="0"/>
            <a:r>
              <a:rPr lang="zh-CN" altLang="en-US"/>
              <a:t>第二级</a:t>
            </a:r>
          </a:p>
          <a:p>
            <a:pPr lvl="2" indent="0"/>
            <a:r>
              <a:rPr lang="zh-CN" altLang="en-US"/>
              <a:t>第三级</a:t>
            </a:r>
          </a:p>
          <a:p>
            <a:pPr lvl="3" indent="0"/>
            <a:r>
              <a:rPr lang="zh-CN" altLang="en-US"/>
              <a:t>第四级</a:t>
            </a:r>
          </a:p>
          <a:p>
            <a:pPr lvl="4" indent="0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A6837353-30EB-4A48-80EB-173D804AEFBD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  <p:extLst>
      <p:ext uri="{BB962C8B-B14F-4D97-AF65-F5344CB8AC3E}">
        <p14:creationId xmlns:p14="http://schemas.microsoft.com/office/powerpoint/2010/main" val="33698200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 userDrawn="1"/>
        </p:nvSpPr>
        <p:spPr>
          <a:xfrm>
            <a:off x="-25082" y="383589"/>
            <a:ext cx="678815" cy="704906"/>
          </a:xfrm>
          <a:prstGeom prst="ellipse">
            <a:avLst/>
          </a:prstGeom>
          <a:solidFill>
            <a:srgbClr val="D9D9D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8" name="Oval 58"/>
          <p:cNvSpPr/>
          <p:nvPr userDrawn="1"/>
        </p:nvSpPr>
        <p:spPr>
          <a:xfrm>
            <a:off x="-571817" y="-238125"/>
            <a:ext cx="1083945" cy="1084031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trike="noStrike" noProof="1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6_Image Lay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icture Placeholder 7"/>
          <p:cNvSpPr>
            <a:spLocks noGrp="1"/>
          </p:cNvSpPr>
          <p:nvPr>
            <p:ph type="pic" sz="quarter" idx="19" hasCustomPrompt="1"/>
          </p:nvPr>
        </p:nvSpPr>
        <p:spPr>
          <a:xfrm>
            <a:off x="545431" y="1498600"/>
            <a:ext cx="2666200" cy="4533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Image Holder</a:t>
            </a:r>
          </a:p>
        </p:txBody>
      </p:sp>
      <p:sp>
        <p:nvSpPr>
          <p:cNvPr id="75" name="Picture Placeholder 7"/>
          <p:cNvSpPr>
            <a:spLocks noGrp="1"/>
          </p:cNvSpPr>
          <p:nvPr>
            <p:ph type="pic" sz="quarter" idx="30" hasCustomPrompt="1"/>
          </p:nvPr>
        </p:nvSpPr>
        <p:spPr>
          <a:xfrm>
            <a:off x="3355717" y="1498600"/>
            <a:ext cx="2666200" cy="4533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Image Holder</a:t>
            </a:r>
          </a:p>
        </p:txBody>
      </p:sp>
      <p:sp>
        <p:nvSpPr>
          <p:cNvPr id="89" name="Picture Placeholder 7"/>
          <p:cNvSpPr>
            <a:spLocks noGrp="1"/>
          </p:cNvSpPr>
          <p:nvPr>
            <p:ph type="pic" sz="quarter" idx="34" hasCustomPrompt="1"/>
          </p:nvPr>
        </p:nvSpPr>
        <p:spPr>
          <a:xfrm>
            <a:off x="6166004" y="1498600"/>
            <a:ext cx="2666200" cy="4533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Image Holder</a:t>
            </a:r>
          </a:p>
        </p:txBody>
      </p:sp>
      <p:sp>
        <p:nvSpPr>
          <p:cNvPr id="94" name="Picture Placeholder 7"/>
          <p:cNvSpPr>
            <a:spLocks noGrp="1"/>
          </p:cNvSpPr>
          <p:nvPr>
            <p:ph type="pic" sz="quarter" idx="38" hasCustomPrompt="1"/>
          </p:nvPr>
        </p:nvSpPr>
        <p:spPr>
          <a:xfrm>
            <a:off x="8976289" y="1498600"/>
            <a:ext cx="2666200" cy="4533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Image Holder</a:t>
            </a:r>
          </a:p>
        </p:txBody>
      </p:sp>
      <p:sp>
        <p:nvSpPr>
          <p:cNvPr id="7" name="椭圆 6"/>
          <p:cNvSpPr/>
          <p:nvPr userDrawn="1"/>
        </p:nvSpPr>
        <p:spPr>
          <a:xfrm>
            <a:off x="-25082" y="383589"/>
            <a:ext cx="678815" cy="704906"/>
          </a:xfrm>
          <a:prstGeom prst="ellipse">
            <a:avLst/>
          </a:prstGeom>
          <a:solidFill>
            <a:srgbClr val="D9D9D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8" name="Oval 58"/>
          <p:cNvSpPr/>
          <p:nvPr userDrawn="1"/>
        </p:nvSpPr>
        <p:spPr>
          <a:xfrm>
            <a:off x="-571817" y="-238125"/>
            <a:ext cx="1083945" cy="1084031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trike="noStrike" noProof="1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8699373" y="5147305"/>
            <a:ext cx="20044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/>
            <a:r>
              <a:rPr lang="zh-CN" altLang="en-US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蓝 鑫</a:t>
            </a:r>
            <a:endParaRPr lang="en-US" altLang="zh-CN" sz="2000" noProof="1">
              <a:solidFill>
                <a:schemeClr val="tx1">
                  <a:lumMod val="75000"/>
                  <a:lumOff val="25000"/>
                </a:schemeClr>
              </a:solidFill>
              <a:latin typeface="宋体" pitchFamily="2" charset="-122"/>
            </a:endParaRPr>
          </a:p>
          <a:p>
            <a:pPr algn="ctr" fontAlgn="auto"/>
            <a:r>
              <a:rPr lang="en-US" altLang="zh-CN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2020</a:t>
            </a:r>
            <a:r>
              <a:rPr lang="zh-CN" altLang="en-US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年</a:t>
            </a:r>
            <a:r>
              <a:rPr lang="en-US" altLang="zh-CN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5</a:t>
            </a:r>
            <a:r>
              <a:rPr lang="zh-CN" altLang="en-US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月</a:t>
            </a:r>
            <a:r>
              <a:rPr lang="en-US" altLang="zh-CN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15</a:t>
            </a:r>
            <a:r>
              <a:rPr lang="zh-CN" altLang="en-US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日</a:t>
            </a:r>
            <a:endParaRPr lang="zh-CN" altLang="en-US" sz="2000" noProof="1">
              <a:solidFill>
                <a:schemeClr val="tx1">
                  <a:lumMod val="75000"/>
                  <a:lumOff val="25000"/>
                </a:schemeClr>
              </a:solidFill>
              <a:latin typeface="宋体" pitchFamily="2" charset="-122"/>
            </a:endParaRPr>
          </a:p>
          <a:p>
            <a:pPr fontAlgn="auto"/>
            <a:endParaRPr lang="zh-CN" altLang="en-US" sz="2000" noProof="1">
              <a:solidFill>
                <a:schemeClr val="tx1">
                  <a:lumMod val="75000"/>
                  <a:lumOff val="25000"/>
                </a:schemeClr>
              </a:solidFill>
              <a:latin typeface="宋体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70636" y="2426894"/>
            <a:ext cx="39453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组 会 报 告</a:t>
            </a:r>
            <a:endParaRPr lang="en-US" altLang="zh-CN" sz="6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16055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Motivation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37693" y="360680"/>
            <a:ext cx="8690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Yu, C., et al. (2018).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BiSeNet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Bilateral Segmentation Network for Real-Time Semantic Segmentation. ECCV 2018, Cham, Springer International Publishing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1454077" y="1473500"/>
            <a:ext cx="9282999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/>
              <a:t>实时分割主要方法：</a:t>
            </a:r>
            <a:endParaRPr lang="en-US" altLang="zh-CN" sz="2000" b="1" dirty="0"/>
          </a:p>
          <a:p>
            <a:pPr>
              <a:lnSpc>
                <a:spcPct val="125000"/>
              </a:lnSpc>
            </a:pPr>
            <a:r>
              <a:rPr lang="en-US" altLang="zh-CN" sz="2000" dirty="0"/>
              <a:t>1</a:t>
            </a:r>
            <a:r>
              <a:rPr lang="en-US" altLang="zh-CN" sz="2000" dirty="0" smtClean="0"/>
              <a:t>.</a:t>
            </a:r>
            <a:r>
              <a:rPr lang="zh-CN" altLang="en-US" sz="2000" dirty="0" smtClean="0"/>
              <a:t>通过裁剪或缩放来限制输入大小</a:t>
            </a:r>
            <a:r>
              <a:rPr lang="zh-CN" altLang="en-US" sz="2000" dirty="0" smtClean="0"/>
              <a:t>。</a:t>
            </a:r>
            <a:r>
              <a:rPr lang="zh-CN" altLang="en-US" sz="2000" b="1" dirty="0" smtClean="0"/>
              <a:t>缺点：</a:t>
            </a:r>
            <a:r>
              <a:rPr lang="zh-CN" altLang="en-US" sz="2000" dirty="0" smtClean="0"/>
              <a:t>空间细节会损失。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r>
              <a:rPr lang="en-US" altLang="zh-CN" sz="2000" dirty="0" smtClean="0"/>
              <a:t>2</a:t>
            </a:r>
            <a:r>
              <a:rPr lang="en-US" altLang="zh-CN" sz="2000" dirty="0" smtClean="0"/>
              <a:t>.</a:t>
            </a:r>
            <a:r>
              <a:rPr lang="zh-CN" altLang="en-US" sz="2000" dirty="0" smtClean="0"/>
              <a:t>对通道剪枝</a:t>
            </a:r>
            <a:r>
              <a:rPr lang="zh-CN" altLang="en-US" sz="2000" dirty="0" smtClean="0"/>
              <a:t>。</a:t>
            </a:r>
            <a:r>
              <a:rPr lang="zh-CN" altLang="en-US" sz="2000" b="1" dirty="0" smtClean="0"/>
              <a:t>缺点：</a:t>
            </a:r>
            <a:r>
              <a:rPr lang="zh-CN" altLang="en-US" sz="2000" dirty="0" smtClean="0"/>
              <a:t>削弱了空间容量。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endParaRPr lang="en-US" altLang="zh-CN" sz="2000" dirty="0" smtClean="0"/>
          </a:p>
          <a:p>
            <a:pPr>
              <a:lnSpc>
                <a:spcPct val="125000"/>
              </a:lnSpc>
            </a:pPr>
            <a:r>
              <a:rPr lang="zh-CN" altLang="en-US" sz="2000" dirty="0" smtClean="0"/>
              <a:t>使用 </a:t>
            </a:r>
            <a:r>
              <a:rPr lang="en-US" altLang="zh-CN" sz="2000" dirty="0" smtClean="0"/>
              <a:t>U </a:t>
            </a:r>
            <a:r>
              <a:rPr lang="zh-CN" altLang="en-US" sz="2000" dirty="0" smtClean="0"/>
              <a:t>型网络可以恢复分辨率，弥补丢失的细节，但有两个缺点：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r>
              <a:rPr lang="en-US" altLang="zh-CN" sz="2000" dirty="0" smtClean="0"/>
              <a:t>1.</a:t>
            </a:r>
            <a:r>
              <a:rPr lang="zh-CN" altLang="en-US" sz="2000" dirty="0" smtClean="0"/>
              <a:t>完整的 </a:t>
            </a:r>
            <a:r>
              <a:rPr lang="en-US" altLang="zh-CN" sz="2000" dirty="0" smtClean="0"/>
              <a:t>U </a:t>
            </a:r>
            <a:r>
              <a:rPr lang="zh-CN" altLang="en-US" sz="2000" dirty="0" smtClean="0"/>
              <a:t>型网络在高分辨率特征图上引入额外的计算，减慢模型速度。</a:t>
            </a:r>
            <a:endParaRPr lang="en-US" altLang="zh-CN" sz="2000" dirty="0"/>
          </a:p>
          <a:p>
            <a:pPr>
              <a:lnSpc>
                <a:spcPct val="125000"/>
              </a:lnSpc>
            </a:pPr>
            <a:r>
              <a:rPr lang="en-US" altLang="zh-CN" sz="2000" dirty="0" smtClean="0"/>
              <a:t>2.</a:t>
            </a:r>
            <a:r>
              <a:rPr lang="zh-CN" altLang="en-US" sz="2000" dirty="0" smtClean="0"/>
              <a:t>在剪枝或 </a:t>
            </a:r>
            <a:r>
              <a:rPr lang="en-US" altLang="zh-CN" sz="2000" dirty="0" smtClean="0"/>
              <a:t>crop </a:t>
            </a:r>
            <a:r>
              <a:rPr lang="zh-CN" altLang="en-US" sz="2000" dirty="0" smtClean="0"/>
              <a:t>中丢失的空间信息，大多不能通过引入浅层特征恢复。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endParaRPr lang="en-US" altLang="zh-CN" sz="2000" dirty="0"/>
          </a:p>
          <a:p>
            <a:pPr>
              <a:lnSpc>
                <a:spcPct val="125000"/>
              </a:lnSpc>
            </a:pPr>
            <a:r>
              <a:rPr lang="zh-CN" altLang="en-US" sz="2000" dirty="0" smtClean="0"/>
              <a:t>基于以上</a:t>
            </a:r>
            <a:r>
              <a:rPr lang="zh-CN" altLang="en-US" sz="2000" dirty="0"/>
              <a:t>，</a:t>
            </a:r>
            <a:r>
              <a:rPr lang="zh-CN" altLang="en-US" sz="2000" dirty="0" smtClean="0"/>
              <a:t>提出 </a:t>
            </a:r>
            <a:r>
              <a:rPr lang="en-US" altLang="zh-CN" sz="2000" dirty="0"/>
              <a:t>Bilateral Segmentation Network</a:t>
            </a:r>
            <a:r>
              <a:rPr lang="zh-CN" altLang="en-US" sz="2000" dirty="0"/>
              <a:t>，包含两个部分：</a:t>
            </a:r>
            <a:r>
              <a:rPr lang="en-US" altLang="zh-CN" sz="2000" dirty="0"/>
              <a:t>1. </a:t>
            </a:r>
            <a:r>
              <a:rPr lang="zh-CN" altLang="en-US" sz="2000" dirty="0"/>
              <a:t>空间路径（</a:t>
            </a:r>
            <a:r>
              <a:rPr lang="en-US" altLang="zh-CN" sz="2000" dirty="0"/>
              <a:t>Spatial Path</a:t>
            </a:r>
            <a:r>
              <a:rPr lang="zh-CN" altLang="en-US" sz="2000" dirty="0"/>
              <a:t>）。</a:t>
            </a:r>
            <a:r>
              <a:rPr lang="en-US" altLang="zh-CN" sz="2000" dirty="0"/>
              <a:t>2. </a:t>
            </a:r>
            <a:r>
              <a:rPr lang="zh-CN" altLang="en-US" sz="2000" dirty="0"/>
              <a:t>上下文路径（</a:t>
            </a:r>
            <a:r>
              <a:rPr lang="en-US" altLang="zh-CN" sz="2000" dirty="0"/>
              <a:t>Context Path</a:t>
            </a:r>
            <a:r>
              <a:rPr lang="zh-CN" altLang="en-US" sz="2000" dirty="0"/>
              <a:t>）。</a:t>
            </a:r>
            <a:endParaRPr lang="zh-CN" altLang="en-US" sz="2000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105849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Spatial</a:t>
            </a:r>
          </a:p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Path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37693" y="360680"/>
            <a:ext cx="8690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Yu, C., et al. (2018).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BiSeNet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Bilateral Segmentation Network for Real-Time Semantic Segmentation. ECCV 2018, Cham, Springer International Publishing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1770600" y="2739592"/>
            <a:ext cx="426971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 smtClean="0"/>
              <a:t>保留</a:t>
            </a:r>
            <a:r>
              <a:rPr lang="zh-CN" altLang="en-US" sz="2000" dirty="0"/>
              <a:t>空间大小，编码足够的空间信息。</a:t>
            </a:r>
            <a:r>
              <a:rPr lang="en-US" altLang="zh-CN" sz="2000" dirty="0"/>
              <a:t>Spatial Path </a:t>
            </a:r>
            <a:r>
              <a:rPr lang="zh-CN" altLang="en-US" sz="2000" dirty="0"/>
              <a:t>包含三层，每层包含步长为 </a:t>
            </a:r>
            <a:r>
              <a:rPr lang="en-US" altLang="zh-CN" sz="2000" dirty="0"/>
              <a:t>2 </a:t>
            </a:r>
            <a:r>
              <a:rPr lang="zh-CN" altLang="en-US" sz="2000" dirty="0"/>
              <a:t>的卷积（</a:t>
            </a:r>
            <a:r>
              <a:rPr lang="en-US" altLang="zh-CN" sz="2000" dirty="0"/>
              <a:t>BN </a:t>
            </a:r>
            <a:r>
              <a:rPr lang="zh-CN" altLang="en-US" sz="2000" dirty="0"/>
              <a:t>和 </a:t>
            </a:r>
            <a:r>
              <a:rPr lang="en-US" altLang="zh-CN" sz="2000" dirty="0" err="1"/>
              <a:t>ReLU</a:t>
            </a:r>
            <a:r>
              <a:rPr lang="zh-CN" altLang="en-US" sz="2000" dirty="0"/>
              <a:t>）。该路径提取原始图像 </a:t>
            </a:r>
            <a:r>
              <a:rPr lang="en-US" altLang="zh-CN" sz="2000" dirty="0"/>
              <a:t>1/8 </a:t>
            </a:r>
            <a:r>
              <a:rPr lang="zh-CN" altLang="en-US" sz="2000" dirty="0"/>
              <a:t>的输出特征图。</a:t>
            </a:r>
            <a:endParaRPr lang="zh-CN" altLang="en-US" sz="20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442" y="1204545"/>
            <a:ext cx="4631189" cy="543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63059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120302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Context</a:t>
            </a:r>
          </a:p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Path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37693" y="360680"/>
            <a:ext cx="8690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Yu, C., et al. (2018).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BiSeNet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Bilateral Segmentation Network for Real-Time Semantic Segmentation. ECCV 2018, Cham, Springer International Publishing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1709054" y="3095832"/>
            <a:ext cx="4269715" cy="828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/>
              <a:t>提供足够的感受野。利用轻量级网络和全局平均池化。</a:t>
            </a:r>
            <a:endParaRPr lang="zh-CN" altLang="en-US" sz="20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442" y="1204545"/>
            <a:ext cx="4631189" cy="543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09695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11785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Module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37693" y="360680"/>
            <a:ext cx="8690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Yu, C., et al. (2018).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BiSeNet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Bilateral Segmentation Network for Real-Time Semantic Segmentation. ECCV 2018, Cham, Springer International Publishing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442" y="1204545"/>
            <a:ext cx="4631189" cy="543918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431" y="1115399"/>
            <a:ext cx="3617215" cy="195824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2229669" y="2997362"/>
            <a:ext cx="2790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dirty="0" smtClean="0"/>
              <a:t>ARM </a:t>
            </a:r>
            <a:r>
              <a:rPr lang="zh-CN" altLang="en-US" sz="2000" dirty="0" smtClean="0"/>
              <a:t>用于 </a:t>
            </a:r>
            <a:r>
              <a:rPr lang="en-US" altLang="zh-CN" sz="2000" dirty="0" smtClean="0"/>
              <a:t>refine </a:t>
            </a:r>
            <a:r>
              <a:rPr lang="zh-CN" altLang="en-US" sz="2000" dirty="0" smtClean="0"/>
              <a:t>特征，引入全局信息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261" y="3859136"/>
            <a:ext cx="4643783" cy="211748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1804850" y="6138145"/>
            <a:ext cx="364037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dirty="0" smtClean="0"/>
              <a:t>FFM </a:t>
            </a:r>
            <a:r>
              <a:rPr lang="zh-CN" altLang="en-US" sz="2000" dirty="0" smtClean="0"/>
              <a:t>用于细节和语义特征融合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341790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17869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Experiments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37693" y="360680"/>
            <a:ext cx="8690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Yu, C., et al. (2018).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BiSeNet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Bilateral Segmentation Network for Real-Time Semantic Segmentation. ECCV 2018, Cham, Springer International Publishing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645" y="2401003"/>
            <a:ext cx="8467725" cy="234315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5226935" y="4744153"/>
            <a:ext cx="19491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 smtClean="0"/>
              <a:t>不同 </a:t>
            </a:r>
            <a:r>
              <a:rPr lang="en-US" altLang="zh-CN" sz="2000" dirty="0" smtClean="0"/>
              <a:t>backbone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3800183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17869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Experiments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37693" y="360680"/>
            <a:ext cx="8690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Yu, C., et al. (2018).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BiSeNet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Bilateral Segmentation Network for Real-Time Semantic Segmentation. ECCV 2018, Cham, Springer International Publishing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5313392" y="5214279"/>
            <a:ext cx="1949143" cy="448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dirty="0" smtClean="0"/>
              <a:t>Ablation study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434" y="1536974"/>
            <a:ext cx="8496300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66060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17869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Experiments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37693" y="360680"/>
            <a:ext cx="8690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Yu, C., et al. (2018).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BiSeNet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Bilateral Segmentation Network for Real-Time Semantic Segmentation. ECCV 2018, Cham, Springer International Publishing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5631552" y="5210175"/>
            <a:ext cx="135117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 smtClean="0"/>
              <a:t>不同模型</a:t>
            </a:r>
            <a:endParaRPr lang="zh-CN" altLang="en-US" sz="20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900" y="1647825"/>
            <a:ext cx="8458200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79346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17869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Experiments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37693" y="360680"/>
            <a:ext cx="8690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Yu, C., et al. (2018).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BiSeNet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Bilateral Segmentation Network for Real-Time Semantic Segmentation. ECCV 2018, Cham, Springer International Publishing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1266825"/>
            <a:ext cx="8420100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26920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更多作品请在稻壳儿搜索艺随风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2450</TotalTime>
  <Words>454</Words>
  <Application>Microsoft Office PowerPoint</Application>
  <PresentationFormat>宽屏</PresentationFormat>
  <Paragraphs>37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宋体</vt:lpstr>
      <vt:lpstr>微软雅黑</vt:lpstr>
      <vt:lpstr>Arial</vt:lpstr>
      <vt:lpstr>Calibri</vt:lpstr>
      <vt:lpstr>更多作品请在稻壳儿搜索艺随风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cp:lastModifiedBy>xin lan</cp:lastModifiedBy>
  <cp:revision>269</cp:revision>
  <dcterms:created xsi:type="dcterms:W3CDTF">2017-03-07T08:54:00Z</dcterms:created>
  <dcterms:modified xsi:type="dcterms:W3CDTF">2020-05-14T07:09:35Z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2052-10.1.0.6260</vt:lpwstr>
  </property>
</Properties>
</file>