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9"/>
  </p:notesMasterIdLst>
  <p:handoutMasterIdLst>
    <p:handoutMasterId r:id="rId10"/>
  </p:handoutMasterIdLst>
  <p:sldIdLst>
    <p:sldId id="303" r:id="rId2"/>
    <p:sldId id="355" r:id="rId3"/>
    <p:sldId id="356" r:id="rId4"/>
    <p:sldId id="359" r:id="rId5"/>
    <p:sldId id="358" r:id="rId6"/>
    <p:sldId id="357" r:id="rId7"/>
    <p:sldId id="353" r:id="rId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0000"/>
    <a:srgbClr val="6600FF"/>
    <a:srgbClr val="000099"/>
    <a:srgbClr val="33CC33"/>
    <a:srgbClr val="00CC66"/>
    <a:srgbClr val="009999"/>
    <a:srgbClr val="FF3300"/>
    <a:srgbClr val="FFFF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38" autoAdjust="0"/>
    <p:restoredTop sz="96408" autoAdjust="0"/>
  </p:normalViewPr>
  <p:slideViewPr>
    <p:cSldViewPr snapToGrid="0" snapToObjects="1">
      <p:cViewPr varScale="1">
        <p:scale>
          <a:sx n="69" d="100"/>
          <a:sy n="69" d="100"/>
        </p:scale>
        <p:origin x="244" y="44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98240" y="939493"/>
            <a:ext cx="53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7200" b="1" dirty="0">
                <a:solidFill>
                  <a:srgbClr val="00B050"/>
                </a:solidFill>
                <a:latin typeface="Rockwell" panose="02060603020205020403" pitchFamily="18" charset="0"/>
              </a:rPr>
              <a:t>进度汇报</a:t>
            </a:r>
            <a:endParaRPr lang="en-US" altLang="zh-CN" sz="72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8890000" y="4718178"/>
            <a:ext cx="2834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n-ea"/>
              </a:rPr>
              <a:t>2020.5.15</a:t>
            </a: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20" y="195615"/>
            <a:ext cx="2233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E8F22C-4122-4A7F-A21E-F8927D321743}"/>
              </a:ext>
            </a:extLst>
          </p:cNvPr>
          <p:cNvSpPr txBox="1"/>
          <p:nvPr/>
        </p:nvSpPr>
        <p:spPr>
          <a:xfrm>
            <a:off x="997528" y="1607127"/>
            <a:ext cx="101322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l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Kendall, A., Gal, Y., n.d. What Uncertainties Do We Need in Bayesian Deep Learning for Computer Vision? in NIPS, 2017.</a:t>
            </a:r>
            <a:endParaRPr lang="en-US" altLang="zh-CN" sz="3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EE0802-7550-48EB-9360-F477819EFEAF}"/>
              </a:ext>
            </a:extLst>
          </p:cNvPr>
          <p:cNvSpPr txBox="1"/>
          <p:nvPr/>
        </p:nvSpPr>
        <p:spPr>
          <a:xfrm>
            <a:off x="1029855" y="3870036"/>
            <a:ext cx="10132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脑肿瘤分割中的数据不确定性</a:t>
            </a:r>
            <a:endParaRPr lang="en-US" altLang="zh-CN" sz="3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000099"/>
                </a:solidFill>
              </a:rPr>
              <a:t>不确定性分类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08693B-6B1C-4ECF-BEE2-D800BEED8DCE}"/>
              </a:ext>
            </a:extLst>
          </p:cNvPr>
          <p:cNvSpPr/>
          <p:nvPr/>
        </p:nvSpPr>
        <p:spPr>
          <a:xfrm>
            <a:off x="878100" y="1300626"/>
            <a:ext cx="6636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Epistemic Uncertainty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（模型不确定）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2EF8C9-9F76-4A4A-9E56-8D71ACEAE4B3}"/>
              </a:ext>
            </a:extLst>
          </p:cNvPr>
          <p:cNvSpPr/>
          <p:nvPr/>
        </p:nvSpPr>
        <p:spPr>
          <a:xfrm>
            <a:off x="957448" y="3193738"/>
            <a:ext cx="64780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Aleatoric Uncertainty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（数据不确定）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F3CFCE-5995-4349-9662-3991D125EF93}"/>
              </a:ext>
            </a:extLst>
          </p:cNvPr>
          <p:cNvSpPr txBox="1"/>
          <p:nvPr/>
        </p:nvSpPr>
        <p:spPr>
          <a:xfrm>
            <a:off x="2608434" y="2150874"/>
            <a:ext cx="2715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P(W|X, Y)</a:t>
            </a:r>
            <a:endParaRPr lang="zh-CN" altLang="en-US" sz="3200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1159133-C1BA-472E-AEE9-CC5D2877E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97" y="4524710"/>
            <a:ext cx="3048000" cy="7429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B40DFE4-0499-4060-8316-55DAA52CFA6F}"/>
                  </a:ext>
                </a:extLst>
              </p:cNvPr>
              <p:cNvSpPr txBox="1"/>
              <p:nvPr/>
            </p:nvSpPr>
            <p:spPr>
              <a:xfrm>
                <a:off x="1326642" y="3992254"/>
                <a:ext cx="3048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Noise in data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B40DFE4-0499-4060-8316-55DAA52C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42" y="3992254"/>
                <a:ext cx="3048000" cy="523220"/>
              </a:xfrm>
              <a:prstGeom prst="rect">
                <a:avLst/>
              </a:prstGeom>
              <a:blipFill>
                <a:blip r:embed="rId3"/>
                <a:stretch>
                  <a:fillRect l="-4200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EAD47CDF-C1F8-4D50-BE4C-C5BC44CBF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869" y="5585452"/>
            <a:ext cx="71913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53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61D313-24AA-4FA4-9823-D8AC9D57BD25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网络结构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7AE11CA-6412-44C7-8539-A5E98BA7B7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59592"/>
              </p:ext>
            </p:extLst>
          </p:nvPr>
        </p:nvGraphicFramePr>
        <p:xfrm>
          <a:off x="1579391" y="1088460"/>
          <a:ext cx="8348459" cy="4157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Visio" r:id="rId3" imgW="8753543" imgH="4352835" progId="Visio.Drawing.15">
                  <p:embed/>
                </p:oleObj>
              </mc:Choice>
              <mc:Fallback>
                <p:oleObj name="Visio" r:id="rId3" imgW="8753543" imgH="435283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391" y="1088460"/>
                        <a:ext cx="8348459" cy="4157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右 4">
            <a:extLst>
              <a:ext uri="{FF2B5EF4-FFF2-40B4-BE49-F238E27FC236}">
                <a16:creationId xmlns:a16="http://schemas.microsoft.com/office/drawing/2014/main" id="{DFFFB838-EDB5-4E85-AB26-A360E816F398}"/>
              </a:ext>
            </a:extLst>
          </p:cNvPr>
          <p:cNvSpPr/>
          <p:nvPr/>
        </p:nvSpPr>
        <p:spPr>
          <a:xfrm>
            <a:off x="8949585" y="3352797"/>
            <a:ext cx="1413164" cy="59112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5AAE919-721D-405A-9C99-4F120CF66B94}"/>
              </a:ext>
            </a:extLst>
          </p:cNvPr>
          <p:cNvSpPr/>
          <p:nvPr/>
        </p:nvSpPr>
        <p:spPr>
          <a:xfrm>
            <a:off x="6844145" y="3338945"/>
            <a:ext cx="849746" cy="52647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891E7D-B8F1-40B6-8E37-E9B53FFA1752}"/>
              </a:ext>
            </a:extLst>
          </p:cNvPr>
          <p:cNvSpPr/>
          <p:nvPr/>
        </p:nvSpPr>
        <p:spPr>
          <a:xfrm>
            <a:off x="7693891" y="3131127"/>
            <a:ext cx="471054" cy="11360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DFEDAD-DDF7-41E2-A0F5-2CED1249AB80}"/>
              </a:ext>
            </a:extLst>
          </p:cNvPr>
          <p:cNvSpPr/>
          <p:nvPr/>
        </p:nvSpPr>
        <p:spPr>
          <a:xfrm>
            <a:off x="8337057" y="3057237"/>
            <a:ext cx="314036" cy="1274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93F603-55BD-488F-B339-E9521B3782AA}"/>
              </a:ext>
            </a:extLst>
          </p:cNvPr>
          <p:cNvSpPr/>
          <p:nvPr/>
        </p:nvSpPr>
        <p:spPr>
          <a:xfrm>
            <a:off x="10362749" y="2983345"/>
            <a:ext cx="470604" cy="1348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D18F8D9-2A53-4C99-AA9A-FBB20498E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869" y="5585452"/>
            <a:ext cx="71913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BD3DFE-D6C9-4A12-ACD6-55F0232E0E5A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定量分析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D6BE827-4AA9-4656-AC91-8E35513A0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082821"/>
              </p:ext>
            </p:extLst>
          </p:nvPr>
        </p:nvGraphicFramePr>
        <p:xfrm>
          <a:off x="526472" y="2006755"/>
          <a:ext cx="11139055" cy="24937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14047">
                  <a:extLst>
                    <a:ext uri="{9D8B030D-6E8A-4147-A177-3AD203B41FA5}">
                      <a16:colId xmlns:a16="http://schemas.microsoft.com/office/drawing/2014/main" val="4032636162"/>
                    </a:ext>
                  </a:extLst>
                </a:gridCol>
                <a:gridCol w="2155480">
                  <a:extLst>
                    <a:ext uri="{9D8B030D-6E8A-4147-A177-3AD203B41FA5}">
                      <a16:colId xmlns:a16="http://schemas.microsoft.com/office/drawing/2014/main" val="2797499820"/>
                    </a:ext>
                  </a:extLst>
                </a:gridCol>
                <a:gridCol w="2784764">
                  <a:extLst>
                    <a:ext uri="{9D8B030D-6E8A-4147-A177-3AD203B41FA5}">
                      <a16:colId xmlns:a16="http://schemas.microsoft.com/office/drawing/2014/main" val="4226051162"/>
                    </a:ext>
                  </a:extLst>
                </a:gridCol>
                <a:gridCol w="2784764">
                  <a:extLst>
                    <a:ext uri="{9D8B030D-6E8A-4147-A177-3AD203B41FA5}">
                      <a16:colId xmlns:a16="http://schemas.microsoft.com/office/drawing/2014/main" val="1681274190"/>
                    </a:ext>
                  </a:extLst>
                </a:gridCol>
              </a:tblGrid>
              <a:tr h="558768">
                <a:tc rowSpan="2"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800" dirty="0">
                          <a:effectLst/>
                        </a:rPr>
                        <a:t>Method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800" dirty="0">
                          <a:effectLst/>
                        </a:rPr>
                        <a:t>Dice Coefficient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94517"/>
                  </a:ext>
                </a:extLst>
              </a:tr>
              <a:tr h="4419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800" dirty="0">
                          <a:effectLst/>
                        </a:rPr>
                        <a:t>Com.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800" dirty="0">
                          <a:effectLst/>
                        </a:rPr>
                        <a:t>Core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800">
                          <a:effectLst/>
                        </a:rPr>
                        <a:t>Enh.</a:t>
                      </a:r>
                      <a:endParaRPr lang="zh-CN" sz="3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5539980"/>
                  </a:ext>
                </a:extLst>
              </a:tr>
              <a:tr h="746537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36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Unet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12954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ctr"/>
                          <a:tab pos="3078480" algn="r"/>
                        </a:tabLst>
                        <a:defRPr/>
                      </a:pPr>
                      <a:r>
                        <a:rPr lang="en-US" altLang="zh-CN" sz="2800" u="none" strike="noStrike" dirty="0">
                          <a:effectLst/>
                        </a:rPr>
                        <a:t>85.78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800" u="none" strike="noStrike" dirty="0">
                          <a:effectLst/>
                        </a:rPr>
                        <a:t>78.09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800" u="none" strike="noStrike" dirty="0">
                          <a:effectLst/>
                        </a:rPr>
                        <a:t>73.5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6570792"/>
                  </a:ext>
                </a:extLst>
              </a:tr>
              <a:tr h="746537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3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Uncertainty Net</a:t>
                      </a:r>
                      <a:endParaRPr lang="zh-CN" sz="3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3200" dirty="0"/>
                        <a:t>82.03</a:t>
                      </a:r>
                      <a:endParaRPr lang="zh-CN" sz="3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3200" dirty="0"/>
                        <a:t>71.75</a:t>
                      </a:r>
                      <a:endParaRPr lang="zh-CN" sz="3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3200" dirty="0"/>
                        <a:t>66.58</a:t>
                      </a:r>
                      <a:endParaRPr lang="zh-CN" sz="3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8640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01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EAE5444-287E-49EA-A86E-864FCE019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52" y="1106758"/>
            <a:ext cx="2946803" cy="235848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E33ABF1-E391-440D-9434-B8E350E30B6B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定性分析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CAC179-6C5B-47F8-A7CB-98BA883C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678" y="1143000"/>
            <a:ext cx="2286000" cy="2286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233D147-826E-464A-9EF1-BEE5095C9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804" y="1179241"/>
            <a:ext cx="2286000" cy="228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5E1027-476F-4936-AE64-8816F60D6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936" y="3802536"/>
            <a:ext cx="2286000" cy="2286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0A85886-57C5-4C71-A397-126D2EFF5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552" y="3671542"/>
            <a:ext cx="2946802" cy="24392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11FFEEF-5246-41DD-B951-77264A9D4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5678" y="3791355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73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21320</TotalTime>
  <Words>93</Words>
  <Application>Microsoft Office PowerPoint</Application>
  <PresentationFormat>宽屏</PresentationFormat>
  <Paragraphs>28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等线</vt:lpstr>
      <vt:lpstr>宋体</vt:lpstr>
      <vt:lpstr>微软雅黑</vt:lpstr>
      <vt:lpstr>Arial</vt:lpstr>
      <vt:lpstr>Cambria Math</vt:lpstr>
      <vt:lpstr>Rockwell</vt:lpstr>
      <vt:lpstr>Segoe UI</vt:lpstr>
      <vt:lpstr>Times New Roman</vt:lpstr>
      <vt:lpstr>Wingdings</vt:lpstr>
      <vt:lpstr>Office 主题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Jingyu Hu</cp:lastModifiedBy>
  <cp:revision>1262</cp:revision>
  <dcterms:created xsi:type="dcterms:W3CDTF">2015-08-18T02:51:41Z</dcterms:created>
  <dcterms:modified xsi:type="dcterms:W3CDTF">2020-05-14T14:41:29Z</dcterms:modified>
  <cp:category/>
</cp:coreProperties>
</file>