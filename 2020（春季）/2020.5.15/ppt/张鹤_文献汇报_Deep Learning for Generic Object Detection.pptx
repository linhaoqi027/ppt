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461" r:id="rId2"/>
    <p:sldId id="501" r:id="rId3"/>
    <p:sldId id="539" r:id="rId4"/>
    <p:sldId id="515" r:id="rId5"/>
    <p:sldId id="528" r:id="rId6"/>
    <p:sldId id="529" r:id="rId7"/>
    <p:sldId id="530" r:id="rId8"/>
    <p:sldId id="531" r:id="rId9"/>
    <p:sldId id="532" r:id="rId10"/>
    <p:sldId id="540" r:id="rId11"/>
    <p:sldId id="533" r:id="rId12"/>
    <p:sldId id="534" r:id="rId13"/>
    <p:sldId id="353" r:id="rId14"/>
  </p:sldIdLst>
  <p:sldSz cx="12192000" cy="6858000"/>
  <p:notesSz cx="6858000" cy="9144000"/>
  <p:embeddedFontLst>
    <p:embeddedFont>
      <p:font typeface="等线" panose="02010600030101010101" pitchFamily="2" charset="-122"/>
      <p:regular r:id="rId17"/>
      <p:bold r:id="rId18"/>
    </p:embeddedFont>
    <p:embeddedFont>
      <p:font typeface="微软雅黑" panose="020B0503020204020204" pitchFamily="34" charset="-122"/>
      <p:regular r:id="rId19"/>
      <p:bold r:id="rId20"/>
    </p:embeddedFont>
    <p:embeddedFont>
      <p:font typeface="Rockwell" panose="02060603020205020403" pitchFamily="18" charset="0"/>
      <p:regular r:id="rId21"/>
      <p:bold r:id="rId22"/>
      <p:italic r:id="rId23"/>
      <p:boldItalic r:id="rId24"/>
    </p:embeddedFont>
    <p:embeddedFont>
      <p:font typeface="Segoe UI" panose="020B0502040204020203" pitchFamily="34" charset="0"/>
      <p:regular r:id="rId25"/>
      <p:bold r:id="rId26"/>
      <p:italic r:id="rId27"/>
      <p:boldItalic r:id="rId28"/>
    </p:embeddedFont>
    <p:embeddedFont>
      <p:font typeface="微软雅黑" panose="020B0503020204020204" pitchFamily="34" charset="-122"/>
      <p:regular r:id="rId19"/>
      <p:bold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23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orient="horz" pos="232">
          <p15:clr>
            <a:srgbClr val="A4A3A4"/>
          </p15:clr>
        </p15:guide>
        <p15:guide id="4" orient="horz" pos="4088">
          <p15:clr>
            <a:srgbClr val="A4A3A4"/>
          </p15:clr>
        </p15:guide>
        <p15:guide id="5" pos="5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" initials="C" lastIdx="1" clrIdx="0"/>
  <p:cmAuthor id="2" name="zh" initials="z" lastIdx="1" clrIdx="1">
    <p:extLst>
      <p:ext uri="{19B8F6BF-5375-455C-9EA6-DF929625EA0E}">
        <p15:presenceInfo xmlns:p15="http://schemas.microsoft.com/office/powerpoint/2012/main" userId="z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9900"/>
    <a:srgbClr val="CC00FF"/>
    <a:srgbClr val="3333FF"/>
    <a:srgbClr val="FF6600"/>
    <a:srgbClr val="0000FF"/>
    <a:srgbClr val="660066"/>
    <a:srgbClr val="6600FF"/>
    <a:srgbClr val="0033CC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76355" autoAdjust="0"/>
  </p:normalViewPr>
  <p:slideViewPr>
    <p:cSldViewPr snapToGrid="0" snapToObjects="1">
      <p:cViewPr>
        <p:scale>
          <a:sx n="60" d="100"/>
          <a:sy n="60" d="100"/>
        </p:scale>
        <p:origin x="1560" y="192"/>
      </p:cViewPr>
      <p:guideLst>
        <p:guide pos="3823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2020/5/14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28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822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064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825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99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109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559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015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7320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537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818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E2F600-D6BF-48F3-BE94-005CF5FB96E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213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>
            <a:fillRect/>
          </a:stretch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>
            <a:fillRect/>
          </a:stretch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>
            <a:fillRect/>
          </a:stretch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>
            <a:fillRect/>
          </a:stretch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oya012/deep_learning_object_detection#201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77391" y="1930151"/>
            <a:ext cx="8115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smtClean="0">
                <a:solidFill>
                  <a:srgbClr val="00B050"/>
                </a:solidFill>
                <a:latin typeface="Rockwell" panose="02060603020205020403" pitchFamily="18" charset="0"/>
              </a:rPr>
              <a:t>文献汇报</a:t>
            </a:r>
            <a:endParaRPr lang="en-US" altLang="zh-CN" sz="54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17710" y="4754245"/>
            <a:ext cx="22580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    </a:t>
            </a:r>
            <a:r>
              <a:rPr lang="en-US" altLang="zh-CN" sz="3200" b="1" dirty="0"/>
              <a:t> </a:t>
            </a:r>
            <a:r>
              <a:rPr lang="zh-CN" altLang="en-US" sz="3200" b="1" dirty="0" smtClean="0">
                <a:latin typeface="+mn-ea"/>
              </a:rPr>
              <a:t>张鹤</a:t>
            </a:r>
            <a:endParaRPr lang="en-US" altLang="zh-CN" sz="3200" b="1" dirty="0" smtClean="0">
              <a:latin typeface="+mn-ea"/>
            </a:endParaRPr>
          </a:p>
          <a:p>
            <a:r>
              <a:rPr lang="en-US" altLang="zh-CN" sz="3200" b="1" smtClean="0">
                <a:latin typeface="+mn-ea"/>
              </a:rPr>
              <a:t>2020.5.15</a:t>
            </a:r>
            <a:endParaRPr lang="zh-CN" altLang="en-US" sz="3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39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"/>
          <p:cNvSpPr/>
          <p:nvPr/>
        </p:nvSpPr>
        <p:spPr>
          <a:xfrm>
            <a:off x="3855279" y="1303020"/>
            <a:ext cx="160020" cy="571500"/>
          </a:xfrm>
          <a:custGeom>
            <a:avLst/>
            <a:gdLst>
              <a:gd name="connsiteX0" fmla="*/ 160020 w 160020"/>
              <a:gd name="connsiteY0" fmla="*/ 0 h 571500"/>
              <a:gd name="connsiteX1" fmla="*/ 148590 w 160020"/>
              <a:gd name="connsiteY1" fmla="*/ 205740 h 571500"/>
              <a:gd name="connsiteX2" fmla="*/ 114300 w 160020"/>
              <a:gd name="connsiteY2" fmla="*/ 285750 h 571500"/>
              <a:gd name="connsiteX3" fmla="*/ 91440 w 160020"/>
              <a:gd name="connsiteY3" fmla="*/ 342900 h 571500"/>
              <a:gd name="connsiteX4" fmla="*/ 57150 w 160020"/>
              <a:gd name="connsiteY4" fmla="*/ 457200 h 571500"/>
              <a:gd name="connsiteX5" fmla="*/ 45720 w 160020"/>
              <a:gd name="connsiteY5" fmla="*/ 491490 h 571500"/>
              <a:gd name="connsiteX6" fmla="*/ 11430 w 160020"/>
              <a:gd name="connsiteY6" fmla="*/ 548640 h 571500"/>
              <a:gd name="connsiteX7" fmla="*/ 0 w 160020"/>
              <a:gd name="connsiteY7" fmla="*/ 571500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0020" h="571500">
                <a:moveTo>
                  <a:pt x="160020" y="0"/>
                </a:moveTo>
                <a:cubicBezTo>
                  <a:pt x="156210" y="68580"/>
                  <a:pt x="154809" y="137336"/>
                  <a:pt x="148590" y="205740"/>
                </a:cubicBezTo>
                <a:cubicBezTo>
                  <a:pt x="143304" y="263889"/>
                  <a:pt x="137588" y="239175"/>
                  <a:pt x="114300" y="285750"/>
                </a:cubicBezTo>
                <a:cubicBezTo>
                  <a:pt x="105124" y="304101"/>
                  <a:pt x="97928" y="323435"/>
                  <a:pt x="91440" y="342900"/>
                </a:cubicBezTo>
                <a:cubicBezTo>
                  <a:pt x="78861" y="380636"/>
                  <a:pt x="68848" y="419181"/>
                  <a:pt x="57150" y="457200"/>
                </a:cubicBezTo>
                <a:cubicBezTo>
                  <a:pt x="53607" y="468715"/>
                  <a:pt x="51108" y="480714"/>
                  <a:pt x="45720" y="491490"/>
                </a:cubicBezTo>
                <a:cubicBezTo>
                  <a:pt x="35785" y="511361"/>
                  <a:pt x="22452" y="529351"/>
                  <a:pt x="11430" y="548640"/>
                </a:cubicBezTo>
                <a:cubicBezTo>
                  <a:pt x="7203" y="556037"/>
                  <a:pt x="3810" y="563880"/>
                  <a:pt x="0" y="571500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389791" y="2014686"/>
            <a:ext cx="990399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Deep Learning for Generic Object Detection: A Survey</a:t>
            </a:r>
            <a:endParaRPr lang="zh-CN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3293787" y="31625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Li Liu1,2·Wanli Ouyang3·Xiaogang Wang4·Paul Fieguth5·Jie Chen2·Xinwang Liu1·Matti </a:t>
            </a:r>
            <a:r>
              <a:rPr lang="en-US" altLang="zh-CN" dirty="0" err="1"/>
              <a:t>Pietikäinen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22262" y="4635669"/>
            <a:ext cx="76390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https://github.com/hoya012/deep_learning_object_detection#2014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6671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330" y="1236336"/>
            <a:ext cx="7075170" cy="539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98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4B11BF"/>
                </a:solidFill>
              </a:rPr>
              <a:t>一阶段：基于单次目标</a:t>
            </a:r>
          </a:p>
        </p:txBody>
      </p:sp>
      <p:sp>
        <p:nvSpPr>
          <p:cNvPr id="2" name="矩形 1"/>
          <p:cNvSpPr/>
          <p:nvPr/>
        </p:nvSpPr>
        <p:spPr>
          <a:xfrm>
            <a:off x="1684898" y="1944708"/>
            <a:ext cx="6647571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</a:t>
            </a:r>
            <a:r>
              <a:rPr lang="zh-CN" altLang="en-US" dirty="0" smtClean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的网络，整个生成备选框的过程一体化的实现。代表有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YOLO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系列和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SSD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single shot detector</a:t>
            </a:r>
            <a:r>
              <a:rPr lang="zh-CN" altLang="en-US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DetectorNet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 err="1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OverFeat</a:t>
            </a: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YOLO</a:t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YOLOv2 and YOLO9000</a:t>
            </a:r>
            <a:b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dirty="0">
                <a:solidFill>
                  <a:srgbClr val="4D4D4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SSD(Single Shot Detector)</a:t>
            </a:r>
            <a:endParaRPr lang="en-US" altLang="zh-CN" b="0" i="0" dirty="0">
              <a:solidFill>
                <a:srgbClr val="4D4D4D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3625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solidFill>
                  <a:srgbClr val="4B11BF"/>
                </a:solidFill>
              </a:rPr>
              <a:t>OverFeat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0434" y="990282"/>
            <a:ext cx="7867650" cy="562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36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 smtClean="0">
                <a:solidFill>
                  <a:srgbClr val="4B11BF"/>
                </a:solidFill>
              </a:rPr>
              <a:t>OverFeat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13660" y="1645920"/>
            <a:ext cx="95783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/>
              <a:t>特点：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1.</a:t>
            </a:r>
            <a:r>
              <a:rPr lang="zh-CN" altLang="en-US" sz="2400" dirty="0" smtClean="0"/>
              <a:t>滑动窗口方式获得候选对象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2.</a:t>
            </a:r>
            <a:r>
              <a:rPr lang="zh-CN" altLang="en-US" sz="2400" dirty="0" smtClean="0"/>
              <a:t>将</a:t>
            </a:r>
            <a:r>
              <a:rPr lang="en-US" altLang="zh-CN" sz="2400" dirty="0" smtClean="0"/>
              <a:t>FC</a:t>
            </a:r>
            <a:r>
              <a:rPr lang="zh-CN" altLang="en-US" sz="2400" dirty="0" smtClean="0"/>
              <a:t>层视为卷积层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3</a:t>
            </a:r>
            <a:r>
              <a:rPr lang="en-US" altLang="zh-CN" sz="2400" dirty="0" smtClean="0"/>
              <a:t>.</a:t>
            </a:r>
            <a:r>
              <a:rPr lang="zh-CN" altLang="en-US" sz="2400" dirty="0" smtClean="0"/>
              <a:t>通过最大偏移池化增加预测数量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4.</a:t>
            </a:r>
            <a:r>
              <a:rPr lang="zh-CN" altLang="en-US" sz="2400" dirty="0" smtClean="0"/>
              <a:t>边界框回归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 smtClean="0"/>
              <a:t>有速度优势，比</a:t>
            </a:r>
            <a:r>
              <a:rPr lang="en-US" altLang="zh-CN" sz="2400" dirty="0" smtClean="0"/>
              <a:t>RCNN</a:t>
            </a:r>
            <a:r>
              <a:rPr lang="zh-CN" altLang="en-US" sz="2400" dirty="0" smtClean="0"/>
              <a:t>准确率低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9753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YOLO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3697" y="1016634"/>
            <a:ext cx="8896350" cy="37433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325764" y="5184724"/>
            <a:ext cx="889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没有显示地求取候选区域的模块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训练和检测都在一个网络中进行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998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YOLO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62910" y="1035050"/>
            <a:ext cx="6201410" cy="3620112"/>
            <a:chOff x="2962910" y="1035050"/>
            <a:chExt cx="6201410" cy="362011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62910" y="1035050"/>
              <a:ext cx="6201410" cy="3620112"/>
            </a:xfrm>
            <a:prstGeom prst="rect">
              <a:avLst/>
            </a:prstGeom>
          </p:spPr>
        </p:pic>
        <p:sp>
          <p:nvSpPr>
            <p:cNvPr id="4" name="矩形 3"/>
            <p:cNvSpPr/>
            <p:nvPr/>
          </p:nvSpPr>
          <p:spPr>
            <a:xfrm>
              <a:off x="7538720" y="4338320"/>
              <a:ext cx="1625600" cy="3168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456299" y="4765040"/>
            <a:ext cx="9597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思想：</a:t>
            </a:r>
            <a:endParaRPr lang="en-US" altLang="zh-CN" dirty="0" smtClean="0"/>
          </a:p>
          <a:p>
            <a:r>
              <a:rPr lang="en-US" altLang="zh-CN" dirty="0" smtClean="0"/>
              <a:t>S*S</a:t>
            </a:r>
            <a:r>
              <a:rPr lang="zh-CN" altLang="en-US" dirty="0" smtClean="0"/>
              <a:t>小格，物体中心点落在格子里，该格子用来检测物体。</a:t>
            </a:r>
            <a:endParaRPr lang="en-US" altLang="zh-CN" dirty="0" smtClean="0"/>
          </a:p>
          <a:p>
            <a:r>
              <a:rPr lang="zh-CN" altLang="en-US" dirty="0" smtClean="0"/>
              <a:t>每个格子给出</a:t>
            </a:r>
            <a:r>
              <a:rPr lang="en-US" altLang="zh-CN" dirty="0" smtClean="0"/>
              <a:t>B </a:t>
            </a:r>
            <a:r>
              <a:rPr lang="zh-CN" altLang="en-US" dirty="0" smtClean="0"/>
              <a:t>个边框，并给出边框的置信度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2614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YOLO V2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924" y="1022667"/>
            <a:ext cx="7296150" cy="29432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214746" y="4351774"/>
            <a:ext cx="3762505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1.batch </a:t>
            </a:r>
            <a:r>
              <a:rPr lang="en-US" altLang="zh-CN" dirty="0"/>
              <a:t>normalization</a:t>
            </a:r>
            <a:r>
              <a:rPr lang="zh-CN" altLang="en-US" dirty="0"/>
              <a:t>（批归一化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/>
              <a:t>使用高分辨率图像微调分类</a:t>
            </a:r>
            <a:r>
              <a:rPr lang="zh-CN" altLang="en-US" dirty="0" smtClean="0"/>
              <a:t>模型</a:t>
            </a:r>
            <a:endParaRPr lang="en-US" altLang="zh-CN" dirty="0" smtClean="0"/>
          </a:p>
          <a:p>
            <a:r>
              <a:rPr lang="en-US" altLang="zh-CN" dirty="0"/>
              <a:t>3.</a:t>
            </a:r>
            <a:r>
              <a:rPr lang="zh-CN" altLang="en-US" dirty="0"/>
              <a:t>采用先验框（</a:t>
            </a:r>
            <a:r>
              <a:rPr lang="en-US" altLang="zh-CN" dirty="0"/>
              <a:t>Anchor Boxes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聚类提取先验框</a:t>
            </a:r>
            <a:r>
              <a:rPr lang="zh-CN" altLang="en-US" dirty="0" smtClean="0"/>
              <a:t>尺度</a:t>
            </a:r>
            <a:endParaRPr lang="en-US" altLang="zh-CN" dirty="0" smtClean="0"/>
          </a:p>
          <a:p>
            <a:r>
              <a:rPr lang="en-US" altLang="zh-CN" dirty="0" smtClean="0"/>
              <a:t>5.</a:t>
            </a:r>
            <a:r>
              <a:rPr lang="zh-CN" altLang="en-US" dirty="0"/>
              <a:t>多尺度图像训练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053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887" y="1478915"/>
            <a:ext cx="5610225" cy="36766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3602610" y="5276334"/>
            <a:ext cx="5298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VOC2007</a:t>
            </a:r>
            <a:r>
              <a:rPr lang="zh-CN" altLang="en-US" dirty="0">
                <a:latin typeface="+mj-ea"/>
                <a:ea typeface="+mj-ea"/>
              </a:rPr>
              <a:t>数据集上目标检测算法速度与准确度对比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YOLO V2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8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YOLO 9000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237" y="941364"/>
            <a:ext cx="5435982" cy="591663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843520" y="2306320"/>
            <a:ext cx="35255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 err="1" smtClean="0"/>
              <a:t>WordTree</a:t>
            </a:r>
            <a:r>
              <a:rPr lang="en-US" altLang="zh-CN" dirty="0" smtClean="0"/>
              <a:t> </a:t>
            </a:r>
            <a:r>
              <a:rPr lang="zh-CN" altLang="en-US" dirty="0" smtClean="0"/>
              <a:t>进行训练</a:t>
            </a:r>
            <a:endParaRPr lang="en-US" altLang="zh-CN" dirty="0" smtClean="0"/>
          </a:p>
          <a:p>
            <a:pPr marL="342900" indent="-342900">
              <a:buAutoNum type="arabicPeriod"/>
            </a:pP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/>
              <a:t>Anchor boxes</a:t>
            </a:r>
            <a:r>
              <a:rPr lang="zh-CN" altLang="en-US" dirty="0"/>
              <a:t>取代原始网格化的方法，使用</a:t>
            </a:r>
            <a:r>
              <a:rPr lang="en-US" altLang="zh-CN" dirty="0"/>
              <a:t>K-Means</a:t>
            </a:r>
            <a:r>
              <a:rPr lang="zh-CN" altLang="en-US" dirty="0"/>
              <a:t>聚类来选择</a:t>
            </a:r>
            <a:r>
              <a:rPr lang="en-US" altLang="zh-CN" dirty="0"/>
              <a:t>Anchor boxes</a:t>
            </a:r>
            <a:r>
              <a:rPr lang="zh-CN" altLang="en-US" dirty="0"/>
              <a:t>的大小，而不是手动选择采集</a:t>
            </a:r>
          </a:p>
        </p:txBody>
      </p:sp>
    </p:spTree>
    <p:extLst>
      <p:ext uri="{BB962C8B-B14F-4D97-AF65-F5344CB8AC3E}">
        <p14:creationId xmlns:p14="http://schemas.microsoft.com/office/powerpoint/2010/main" val="153278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456299" y="275515"/>
            <a:ext cx="4797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4B11BF"/>
                </a:solidFill>
              </a:rPr>
              <a:t>SSD</a:t>
            </a:r>
            <a:r>
              <a:rPr lang="zh-CN" altLang="en-US" sz="2800" dirty="0" smtClean="0">
                <a:solidFill>
                  <a:srgbClr val="4B11BF"/>
                </a:solidFill>
              </a:rPr>
              <a:t>（</a:t>
            </a:r>
            <a:r>
              <a:rPr lang="en-US" altLang="zh-CN" sz="2800" dirty="0" smtClean="0">
                <a:solidFill>
                  <a:srgbClr val="4B11BF"/>
                </a:solidFill>
              </a:rPr>
              <a:t>single shot detector</a:t>
            </a:r>
            <a:r>
              <a:rPr lang="zh-CN" altLang="en-US" sz="2800" dirty="0" smtClean="0">
                <a:solidFill>
                  <a:srgbClr val="4B11BF"/>
                </a:solidFill>
              </a:rPr>
              <a:t>）</a:t>
            </a:r>
            <a:endParaRPr lang="zh-CN" altLang="en-US" sz="2800" dirty="0">
              <a:solidFill>
                <a:srgbClr val="4B11B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70" y="990282"/>
            <a:ext cx="11315700" cy="38004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56640" y="5081558"/>
            <a:ext cx="95808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借鉴</a:t>
            </a:r>
            <a:r>
              <a:rPr lang="en-US" altLang="zh-CN" dirty="0" smtClean="0"/>
              <a:t>VGG16</a:t>
            </a:r>
            <a:r>
              <a:rPr lang="zh-CN" altLang="en-US" dirty="0" smtClean="0"/>
              <a:t>，改变了第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</a:t>
            </a:r>
            <a:r>
              <a:rPr lang="en-US" altLang="zh-CN" dirty="0" smtClean="0"/>
              <a:t>block</a:t>
            </a:r>
            <a:r>
              <a:rPr lang="zh-CN" altLang="en-US" dirty="0" smtClean="0"/>
              <a:t>的第</a:t>
            </a:r>
            <a:r>
              <a:rPr lang="en-US" altLang="zh-CN" dirty="0" smtClean="0"/>
              <a:t>4</a:t>
            </a:r>
            <a:r>
              <a:rPr lang="zh-CN" altLang="en-US" dirty="0" smtClean="0"/>
              <a:t>层，之后加入卷积层</a:t>
            </a:r>
            <a:endParaRPr lang="en-US" altLang="zh-CN" dirty="0" smtClean="0"/>
          </a:p>
          <a:p>
            <a:r>
              <a:rPr lang="en-US" altLang="zh-CN" dirty="0" smtClean="0"/>
              <a:t>1. RPN</a:t>
            </a:r>
            <a:r>
              <a:rPr lang="zh-CN" altLang="en-US" dirty="0" smtClean="0"/>
              <a:t>思想</a:t>
            </a:r>
            <a:r>
              <a:rPr lang="en-US" altLang="zh-CN" dirty="0" smtClean="0"/>
              <a:t>:</a:t>
            </a:r>
            <a:r>
              <a:rPr lang="en-US" altLang="zh-CN" dirty="0" err="1"/>
              <a:t>Defalut</a:t>
            </a:r>
            <a:r>
              <a:rPr lang="en-US" altLang="zh-CN" dirty="0"/>
              <a:t> </a:t>
            </a:r>
            <a:r>
              <a:rPr lang="en-US" altLang="zh-CN" dirty="0" smtClean="0"/>
              <a:t>box,</a:t>
            </a:r>
            <a:r>
              <a:rPr lang="zh-CN" altLang="en-US" dirty="0"/>
              <a:t>后续通过</a:t>
            </a:r>
            <a:r>
              <a:rPr lang="en-US" altLang="zh-CN" dirty="0" err="1"/>
              <a:t>softmax</a:t>
            </a:r>
            <a:r>
              <a:rPr lang="zh-CN" altLang="en-US" dirty="0"/>
              <a:t>分类</a:t>
            </a:r>
            <a:r>
              <a:rPr lang="en-US" altLang="zh-CN" dirty="0"/>
              <a:t>+bounding box regression</a:t>
            </a:r>
            <a:r>
              <a:rPr lang="zh-CN" altLang="en-US" dirty="0"/>
              <a:t>获得真实目标的位置</a:t>
            </a:r>
            <a:endParaRPr lang="en-US" altLang="zh-CN" dirty="0" smtClean="0"/>
          </a:p>
          <a:p>
            <a:r>
              <a:rPr lang="en-US" altLang="zh-CN" dirty="0" smtClean="0"/>
              <a:t>3. NMS(</a:t>
            </a:r>
            <a:r>
              <a:rPr lang="zh-CN" altLang="en-US" dirty="0"/>
              <a:t>非极大值抑制</a:t>
            </a:r>
            <a:r>
              <a:rPr lang="en-US" altLang="zh-CN" dirty="0" smtClean="0"/>
              <a:t>):</a:t>
            </a:r>
            <a:r>
              <a:rPr lang="zh-CN" altLang="en-US" dirty="0" smtClean="0"/>
              <a:t>可以优化</a:t>
            </a:r>
            <a:r>
              <a:rPr lang="zh-CN" altLang="en-US" dirty="0"/>
              <a:t>多个</a:t>
            </a:r>
            <a:r>
              <a:rPr lang="en-US" altLang="zh-CN" dirty="0"/>
              <a:t>feature map </a:t>
            </a:r>
            <a:r>
              <a:rPr lang="zh-CN" altLang="en-US" dirty="0"/>
              <a:t>最后会产生大量</a:t>
            </a:r>
            <a:r>
              <a:rPr lang="zh-CN" altLang="en-US" dirty="0" smtClean="0"/>
              <a:t>的错误</a:t>
            </a:r>
            <a:r>
              <a:rPr lang="en-US" altLang="zh-CN" dirty="0" smtClean="0"/>
              <a:t>BB</a:t>
            </a:r>
          </a:p>
          <a:p>
            <a:r>
              <a:rPr lang="en-US" altLang="zh-CN" dirty="0"/>
              <a:t>2. Regression</a:t>
            </a:r>
            <a:r>
              <a:rPr lang="zh-CN" altLang="en-US" dirty="0" smtClean="0"/>
              <a:t>思想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644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15422</TotalTime>
  <Words>327</Words>
  <Application>Microsoft Office PowerPoint</Application>
  <PresentationFormat>宽屏</PresentationFormat>
  <Paragraphs>54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等线</vt:lpstr>
      <vt:lpstr>微软雅黑</vt:lpstr>
      <vt:lpstr>Rockwell</vt:lpstr>
      <vt:lpstr>Segoe UI</vt:lpstr>
      <vt:lpstr>微软雅黑</vt:lpstr>
      <vt:lpstr>Arial</vt:lpstr>
      <vt:lpstr>宋体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OfficePLUS</dc:creator>
  <cp:lastModifiedBy>zh</cp:lastModifiedBy>
  <cp:revision>1562</cp:revision>
  <dcterms:created xsi:type="dcterms:W3CDTF">2015-08-18T02:51:00Z</dcterms:created>
  <dcterms:modified xsi:type="dcterms:W3CDTF">2020-05-15T02:24:42Z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2052-10.8.2.6949</vt:lpwstr>
  </property>
</Properties>
</file>