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1"/>
  </p:notesMasterIdLst>
  <p:handoutMasterIdLst>
    <p:handoutMasterId r:id="rId12"/>
  </p:handoutMasterIdLst>
  <p:sldIdLst>
    <p:sldId id="303" r:id="rId2"/>
    <p:sldId id="367" r:id="rId3"/>
    <p:sldId id="384" r:id="rId4"/>
    <p:sldId id="420" r:id="rId5"/>
    <p:sldId id="421" r:id="rId6"/>
    <p:sldId id="422" r:id="rId7"/>
    <p:sldId id="423" r:id="rId8"/>
    <p:sldId id="424" r:id="rId9"/>
    <p:sldId id="353" r:id="rId10"/>
  </p:sldIdLst>
  <p:sldSz cx="12192000" cy="6858000"/>
  <p:notesSz cx="6858000" cy="9144000"/>
  <p:embeddedFontLst>
    <p:embeddedFont>
      <p:font typeface="Rockwell" panose="02060603020205020403" pitchFamily="18" charset="0"/>
      <p:regular r:id="rId13"/>
      <p:bold r:id="rId14"/>
      <p:italic r:id="rId15"/>
      <p:boldItalic r:id="rId16"/>
    </p:embeddedFont>
    <p:embeddedFont>
      <p:font typeface="Segoe UI" panose="020B0502040204020203" pitchFamily="34" charset="0"/>
      <p:regular r:id="rId17"/>
      <p:bold r:id="rId18"/>
      <p:italic r:id="rId19"/>
      <p:boldItalic r:id="rId20"/>
    </p:embeddedFont>
    <p:embeddedFont>
      <p:font typeface="等线" panose="02010600030101010101" pitchFamily="2" charset="-122"/>
      <p:regular r:id="rId21"/>
      <p:bold r:id="rId22"/>
    </p:embeddedFont>
    <p:embeddedFont>
      <p:font typeface="微软雅黑" panose="020B0503020204020204" pitchFamily="34" charset="-122"/>
      <p:regular r:id="rId23"/>
      <p:bold r:id="rId24"/>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p15:clr>
            <a:srgbClr val="A4A3A4"/>
          </p15:clr>
        </p15:guide>
        <p15:guide id="2" orient="horz" pos="2195">
          <p15:clr>
            <a:srgbClr val="A4A3A4"/>
          </p15:clr>
        </p15:guide>
        <p15:guide id="3" orient="horz" pos="232">
          <p15:clr>
            <a:srgbClr val="A4A3A4"/>
          </p15:clr>
        </p15:guide>
        <p15:guide id="4" orient="horz" pos="4088">
          <p15:clr>
            <a:srgbClr val="A4A3A4"/>
          </p15:clr>
        </p15:guide>
        <p15:guide id="5" pos="574">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A" initials="C"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FF6600"/>
    <a:srgbClr val="0000FF"/>
    <a:srgbClr val="3333FF"/>
    <a:srgbClr val="009900"/>
    <a:srgbClr val="660066"/>
    <a:srgbClr val="CC00FF"/>
    <a:srgbClr val="6600FF"/>
    <a:srgbClr val="0033CC"/>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533" autoAdjust="0"/>
    <p:restoredTop sz="72884" autoAdjust="0"/>
  </p:normalViewPr>
  <p:slideViewPr>
    <p:cSldViewPr snapToGrid="0" snapToObjects="1">
      <p:cViewPr varScale="1">
        <p:scale>
          <a:sx n="59" d="100"/>
          <a:sy n="59" d="100"/>
        </p:scale>
        <p:origin x="1363" y="62"/>
      </p:cViewPr>
      <p:guideLst>
        <p:guide pos="3840"/>
        <p:guide orient="horz" pos="2195"/>
        <p:guide orient="horz" pos="232"/>
        <p:guide orient="horz" pos="4088"/>
        <p:guide pos="574"/>
      </p:guideLst>
    </p:cSldViewPr>
  </p:slideViewPr>
  <p:notesTextViewPr>
    <p:cViewPr>
      <p:scale>
        <a:sx n="125" d="100"/>
        <a:sy n="125" d="100"/>
      </p:scale>
      <p:origin x="0" y="0"/>
    </p:cViewPr>
  </p:notesTextViewPr>
  <p:sorterViewPr>
    <p:cViewPr varScale="1">
      <p:scale>
        <a:sx n="1" d="1"/>
        <a:sy n="1" d="1"/>
      </p:scale>
      <p:origin x="0" y="0"/>
    </p:cViewPr>
  </p:sorterViewPr>
  <p:notesViewPr>
    <p:cSldViewPr snapToGrid="0" snapToObjects="1">
      <p:cViewPr varScale="1">
        <p:scale>
          <a:sx n="66" d="100"/>
          <a:sy n="66" d="100"/>
        </p:scale>
        <p:origin x="3330" y="5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9.fntdata"/><Relationship Id="rId7" Type="http://schemas.openxmlformats.org/officeDocument/2006/relationships/slide" Target="slides/slide6.xml"/><Relationship Id="rId12" Type="http://schemas.openxmlformats.org/officeDocument/2006/relationships/handoutMaster" Target="handoutMasters/handoutMaster1.xml"/><Relationship Id="rId17" Type="http://schemas.openxmlformats.org/officeDocument/2006/relationships/font" Target="fonts/font5.fntdata"/><Relationship Id="rId25"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24" Type="http://schemas.openxmlformats.org/officeDocument/2006/relationships/font" Target="fonts/font12.fntdata"/><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font" Target="fonts/font11.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font" Target="fonts/font10.fntdata"/><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A2E08C6-A8D6-4426-B0F6-8365D5E90C3D}" type="datetimeFigureOut">
              <a:rPr lang="zh-CN" altLang="en-US" smtClean="0"/>
              <a:t>2020/5/15</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635310C-31F2-4F7E-95AC-1A51EFB82AFE}" type="slidenum">
              <a:rPr lang="zh-CN" altLang="en-US" smtClean="0"/>
              <a:t>‹#›</a:t>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2FCA7BF-183C-46C8-9282-AFD276260CB2}" type="datetimeFigureOut">
              <a:rPr lang="zh-CN" altLang="en-US" smtClean="0"/>
              <a:t>2020/5/15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6E2F600-D6BF-48F3-BE94-005CF5FB96EE}"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kern="1200" dirty="0">
              <a:solidFill>
                <a:schemeClr val="tx1"/>
              </a:solidFill>
              <a:effectLst/>
              <a:latin typeface="+mn-lt"/>
              <a:ea typeface="+mn-ea"/>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extLst>
      <p:ext uri="{BB962C8B-B14F-4D97-AF65-F5344CB8AC3E}">
        <p14:creationId xmlns:p14="http://schemas.microsoft.com/office/powerpoint/2010/main" val="8362440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extLst>
      <p:ext uri="{BB962C8B-B14F-4D97-AF65-F5344CB8AC3E}">
        <p14:creationId xmlns:p14="http://schemas.microsoft.com/office/powerpoint/2010/main" val="121101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extLst>
      <p:ext uri="{BB962C8B-B14F-4D97-AF65-F5344CB8AC3E}">
        <p14:creationId xmlns:p14="http://schemas.microsoft.com/office/powerpoint/2010/main" val="29108790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extLst>
      <p:ext uri="{BB962C8B-B14F-4D97-AF65-F5344CB8AC3E}">
        <p14:creationId xmlns:p14="http://schemas.microsoft.com/office/powerpoint/2010/main" val="4790455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extLst>
      <p:ext uri="{BB962C8B-B14F-4D97-AF65-F5344CB8AC3E}">
        <p14:creationId xmlns:p14="http://schemas.microsoft.com/office/powerpoint/2010/main" val="14008156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6E2F600-D6BF-48F3-BE94-005CF5FB96EE}" type="slidenum">
              <a:rPr lang="zh-CN" altLang="en-US" smtClean="0"/>
              <a:t>9</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6_自定义版式">
    <p:spTree>
      <p:nvGrpSpPr>
        <p:cNvPr id="1" name=""/>
        <p:cNvGrpSpPr/>
        <p:nvPr/>
      </p:nvGrpSpPr>
      <p:grpSpPr>
        <a:xfrm>
          <a:off x="0" y="0"/>
          <a:ext cx="0" cy="0"/>
          <a:chOff x="0" y="0"/>
          <a:chExt cx="0" cy="0"/>
        </a:xfrm>
      </p:grpSpPr>
      <p:cxnSp>
        <p:nvCxnSpPr>
          <p:cNvPr id="3" name="直接连接符 2"/>
          <p:cNvCxnSpPr/>
          <p:nvPr userDrawn="1"/>
        </p:nvCxnSpPr>
        <p:spPr>
          <a:xfrm flipV="1">
            <a:off x="1325217" y="927652"/>
            <a:ext cx="9342783" cy="13252"/>
          </a:xfrm>
          <a:prstGeom prst="line">
            <a:avLst/>
          </a:prstGeom>
          <a:ln w="28575">
            <a:solidFill>
              <a:schemeClr val="tx1"/>
            </a:solidFill>
          </a:ln>
        </p:spPr>
        <p:style>
          <a:lnRef idx="3">
            <a:schemeClr val="dk1"/>
          </a:lnRef>
          <a:fillRef idx="0">
            <a:schemeClr val="dk1"/>
          </a:fillRef>
          <a:effectRef idx="2">
            <a:schemeClr val="dk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5_自定义版式">
    <p:spTree>
      <p:nvGrpSpPr>
        <p:cNvPr id="1" name=""/>
        <p:cNvGrpSpPr/>
        <p:nvPr/>
      </p:nvGrpSpPr>
      <p:grpSpPr>
        <a:xfrm>
          <a:off x="0" y="0"/>
          <a:ext cx="0" cy="0"/>
          <a:chOff x="0" y="0"/>
          <a:chExt cx="0" cy="0"/>
        </a:xfrm>
      </p:grpSpPr>
      <p:pic>
        <p:nvPicPr>
          <p:cNvPr id="3" name="图片 2"/>
          <p:cNvPicPr>
            <a:picLocks noChangeAspect="1"/>
          </p:cNvPicPr>
          <p:nvPr userDrawn="1"/>
        </p:nvPicPr>
        <p:blipFill rotWithShape="1">
          <a:blip r:embed="rId2"/>
          <a:srcRect l="61489" t="25058" r="12143" b="25081"/>
          <a:stretch>
            <a:fillRect/>
          </a:stretch>
        </p:blipFill>
        <p:spPr>
          <a:xfrm>
            <a:off x="3882314" y="1181451"/>
            <a:ext cx="4495104" cy="4495104"/>
          </a:xfrm>
          <a:prstGeom prst="ellipse">
            <a:avLst/>
          </a:prstGeom>
        </p:spPr>
      </p:pic>
      <p:cxnSp>
        <p:nvCxnSpPr>
          <p:cNvPr id="6" name="直接连接符 5"/>
          <p:cNvCxnSpPr/>
          <p:nvPr userDrawn="1"/>
        </p:nvCxnSpPr>
        <p:spPr>
          <a:xfrm flipV="1">
            <a:off x="1325217" y="927652"/>
            <a:ext cx="9342783" cy="13252"/>
          </a:xfrm>
          <a:prstGeom prst="line">
            <a:avLst/>
          </a:prstGeom>
          <a:ln w="28575">
            <a:solidFill>
              <a:schemeClr val="tx1"/>
            </a:solidFill>
          </a:ln>
        </p:spPr>
        <p:style>
          <a:lnRef idx="3">
            <a:schemeClr val="dk1"/>
          </a:lnRef>
          <a:fillRef idx="0">
            <a:schemeClr val="dk1"/>
          </a:fillRef>
          <a:effectRef idx="2">
            <a:schemeClr val="dk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pic>
        <p:nvPicPr>
          <p:cNvPr id="3" name="图片 2"/>
          <p:cNvPicPr>
            <a:picLocks noChangeAspect="1"/>
          </p:cNvPicPr>
          <p:nvPr userDrawn="1"/>
        </p:nvPicPr>
        <p:blipFill rotWithShape="1">
          <a:blip r:embed="rId2"/>
          <a:srcRect t="22049" r="54675" b="21936"/>
          <a:stretch>
            <a:fillRect/>
          </a:stretch>
        </p:blipFill>
        <p:spPr>
          <a:xfrm>
            <a:off x="952455" y="-12701"/>
            <a:ext cx="10492980" cy="6858001"/>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pic>
        <p:nvPicPr>
          <p:cNvPr id="3" name="图片 2"/>
          <p:cNvPicPr>
            <a:picLocks noChangeAspect="1"/>
          </p:cNvPicPr>
          <p:nvPr userDrawn="1"/>
        </p:nvPicPr>
        <p:blipFill rotWithShape="1">
          <a:blip r:embed="rId2"/>
          <a:srcRect t="15838" r="78197" b="16675"/>
          <a:stretch>
            <a:fillRect/>
          </a:stretch>
        </p:blipFill>
        <p:spPr>
          <a:xfrm>
            <a:off x="8015258" y="-12700"/>
            <a:ext cx="4189442" cy="6858000"/>
          </a:xfrm>
          <a:prstGeom prst="rect">
            <a:avLst/>
          </a:prstGeom>
        </p:spPr>
      </p:pic>
      <p:cxnSp>
        <p:nvCxnSpPr>
          <p:cNvPr id="4" name="直接连接符 3"/>
          <p:cNvCxnSpPr/>
          <p:nvPr userDrawn="1"/>
        </p:nvCxnSpPr>
        <p:spPr>
          <a:xfrm flipV="1">
            <a:off x="1325217" y="927652"/>
            <a:ext cx="9342783" cy="13252"/>
          </a:xfrm>
          <a:prstGeom prst="line">
            <a:avLst/>
          </a:prstGeom>
          <a:ln w="28575">
            <a:solidFill>
              <a:schemeClr val="tx1"/>
            </a:solidFill>
          </a:ln>
        </p:spPr>
        <p:style>
          <a:lnRef idx="3">
            <a:schemeClr val="dk1"/>
          </a:lnRef>
          <a:fillRef idx="0">
            <a:schemeClr val="dk1"/>
          </a:fillRef>
          <a:effectRef idx="2">
            <a:schemeClr val="dk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pic>
        <p:nvPicPr>
          <p:cNvPr id="4" name="图片 3"/>
          <p:cNvPicPr>
            <a:picLocks noChangeAspect="1"/>
          </p:cNvPicPr>
          <p:nvPr userDrawn="1"/>
        </p:nvPicPr>
        <p:blipFill rotWithShape="1">
          <a:blip r:embed="rId2"/>
          <a:srcRect t="15838" r="78197" b="16675"/>
          <a:stretch>
            <a:fillRect/>
          </a:stretch>
        </p:blipFill>
        <p:spPr>
          <a:xfrm flipH="1">
            <a:off x="0" y="-12700"/>
            <a:ext cx="4189442" cy="6858000"/>
          </a:xfrm>
          <a:prstGeom prst="rect">
            <a:avLst/>
          </a:prstGeom>
        </p:spPr>
      </p:pic>
      <p:cxnSp>
        <p:nvCxnSpPr>
          <p:cNvPr id="3" name="直接连接符 2"/>
          <p:cNvCxnSpPr/>
          <p:nvPr userDrawn="1"/>
        </p:nvCxnSpPr>
        <p:spPr>
          <a:xfrm flipV="1">
            <a:off x="1325217" y="927652"/>
            <a:ext cx="9342783" cy="13252"/>
          </a:xfrm>
          <a:prstGeom prst="line">
            <a:avLst/>
          </a:prstGeom>
          <a:ln w="28575">
            <a:solidFill>
              <a:schemeClr val="tx1"/>
            </a:solidFill>
          </a:ln>
        </p:spPr>
        <p:style>
          <a:lnRef idx="3">
            <a:schemeClr val="dk1"/>
          </a:lnRef>
          <a:fillRef idx="0">
            <a:schemeClr val="dk1"/>
          </a:fillRef>
          <a:effectRef idx="2">
            <a:schemeClr val="dk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pic>
        <p:nvPicPr>
          <p:cNvPr id="3" name="图片 2"/>
          <p:cNvPicPr>
            <a:picLocks noChangeAspect="1"/>
          </p:cNvPicPr>
          <p:nvPr userDrawn="1"/>
        </p:nvPicPr>
        <p:blipFill rotWithShape="1">
          <a:blip r:embed="rId2"/>
          <a:srcRect l="54115" t="20375" r="25555" b="20378"/>
          <a:stretch>
            <a:fillRect/>
          </a:stretch>
        </p:blipFill>
        <p:spPr>
          <a:xfrm>
            <a:off x="7739212" y="-4813"/>
            <a:ext cx="4452788" cy="6862813"/>
          </a:xfrm>
          <a:prstGeom prst="rect">
            <a:avLst/>
          </a:prstGeom>
        </p:spPr>
      </p:pic>
      <p:cxnSp>
        <p:nvCxnSpPr>
          <p:cNvPr id="4" name="直接连接符 3"/>
          <p:cNvCxnSpPr/>
          <p:nvPr userDrawn="1"/>
        </p:nvCxnSpPr>
        <p:spPr>
          <a:xfrm flipV="1">
            <a:off x="1325217" y="927652"/>
            <a:ext cx="9342783" cy="13252"/>
          </a:xfrm>
          <a:prstGeom prst="line">
            <a:avLst/>
          </a:prstGeom>
          <a:ln w="28575">
            <a:solidFill>
              <a:schemeClr val="tx1"/>
            </a:solidFill>
          </a:ln>
        </p:spPr>
        <p:style>
          <a:lnRef idx="3">
            <a:schemeClr val="dk1"/>
          </a:lnRef>
          <a:fillRef idx="0">
            <a:schemeClr val="dk1"/>
          </a:fillRef>
          <a:effectRef idx="2">
            <a:schemeClr val="dk1"/>
          </a:effectRef>
          <a:fontRef idx="minor">
            <a:schemeClr val="tx1"/>
          </a:fontRef>
        </p:style>
      </p:cxn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7_自定义版式">
    <p:spTree>
      <p:nvGrpSpPr>
        <p:cNvPr id="1" name=""/>
        <p:cNvGrpSpPr/>
        <p:nvPr/>
      </p:nvGrpSpPr>
      <p:grpSpPr>
        <a:xfrm>
          <a:off x="0" y="0"/>
          <a:ext cx="0" cy="0"/>
          <a:chOff x="0" y="0"/>
          <a:chExt cx="0" cy="0"/>
        </a:xfrm>
      </p:grpSpPr>
      <p:pic>
        <p:nvPicPr>
          <p:cNvPr id="3" name="图片 2"/>
          <p:cNvPicPr>
            <a:picLocks noChangeAspect="1"/>
          </p:cNvPicPr>
          <p:nvPr userDrawn="1"/>
        </p:nvPicPr>
        <p:blipFill rotWithShape="1">
          <a:blip r:embed="rId2"/>
          <a:srcRect l="54115" t="20375" r="25555" b="20378"/>
          <a:stretch>
            <a:fillRect/>
          </a:stretch>
        </p:blipFill>
        <p:spPr>
          <a:xfrm>
            <a:off x="7739212" y="0"/>
            <a:ext cx="4452788" cy="6862813"/>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861400" y="1254582"/>
            <a:ext cx="8469199" cy="923330"/>
          </a:xfrm>
          <a:prstGeom prst="rect">
            <a:avLst/>
          </a:prstGeom>
          <a:noFill/>
        </p:spPr>
        <p:txBody>
          <a:bodyPr wrap="square" rtlCol="0">
            <a:spAutoFit/>
          </a:bodyPr>
          <a:lstStyle/>
          <a:p>
            <a:r>
              <a:rPr lang="zh-CN" altLang="en-US" sz="5400" b="1" dirty="0">
                <a:solidFill>
                  <a:srgbClr val="00B050"/>
                </a:solidFill>
                <a:latin typeface="Rockwell" panose="02060603020205020403" pitchFamily="18" charset="0"/>
              </a:rPr>
              <a:t>文献复现进度汇报</a:t>
            </a:r>
            <a:endParaRPr lang="en-US" altLang="zh-CN" sz="5400" b="1" dirty="0">
              <a:solidFill>
                <a:srgbClr val="00B050"/>
              </a:solidFill>
              <a:latin typeface="Rockwell" panose="02060603020205020403" pitchFamily="18" charset="0"/>
            </a:endParaRPr>
          </a:p>
        </p:txBody>
      </p:sp>
      <p:sp>
        <p:nvSpPr>
          <p:cNvPr id="3" name="文本框 2"/>
          <p:cNvSpPr txBox="1"/>
          <p:nvPr/>
        </p:nvSpPr>
        <p:spPr>
          <a:xfrm>
            <a:off x="9225915" y="4754245"/>
            <a:ext cx="2574290" cy="1076325"/>
          </a:xfrm>
          <a:prstGeom prst="rect">
            <a:avLst/>
          </a:prstGeom>
          <a:noFill/>
        </p:spPr>
        <p:txBody>
          <a:bodyPr wrap="square" rtlCol="0">
            <a:spAutoFit/>
          </a:bodyPr>
          <a:lstStyle/>
          <a:p>
            <a:r>
              <a:rPr lang="zh-CN" altLang="en-US" sz="3200" b="1" dirty="0"/>
              <a:t>  </a:t>
            </a:r>
            <a:r>
              <a:rPr lang="zh-CN" altLang="en-US" sz="3200" b="1" dirty="0">
                <a:latin typeface="+mn-ea"/>
              </a:rPr>
              <a:t>陶翔翔</a:t>
            </a:r>
            <a:endParaRPr lang="en-US" altLang="zh-CN" sz="3200" b="1" dirty="0">
              <a:latin typeface="+mn-ea"/>
            </a:endParaRPr>
          </a:p>
          <a:p>
            <a:r>
              <a:rPr lang="en-US" altLang="zh-CN" sz="3200" b="1" dirty="0">
                <a:latin typeface="+mn-ea"/>
              </a:rPr>
              <a:t>2020.5.15</a:t>
            </a:r>
            <a:endParaRPr lang="zh-CN" altLang="en-US" sz="3200" b="1" dirty="0">
              <a:latin typeface="+mn-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descr="https://ieeexplore.ieee.org/mediastore_new/IEEE/content/media/8359997/8363198/8363717/8363717-fig-2-source-large.gif"/>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12" name="文本框 11"/>
          <p:cNvSpPr txBox="1"/>
          <p:nvPr/>
        </p:nvSpPr>
        <p:spPr>
          <a:xfrm>
            <a:off x="1473444" y="258370"/>
            <a:ext cx="4797960" cy="523220"/>
          </a:xfrm>
          <a:prstGeom prst="rect">
            <a:avLst/>
          </a:prstGeom>
          <a:noFill/>
        </p:spPr>
        <p:txBody>
          <a:bodyPr wrap="square" rtlCol="0">
            <a:spAutoFit/>
          </a:bodyPr>
          <a:lstStyle/>
          <a:p>
            <a:r>
              <a:rPr lang="zh-CN" altLang="en-US" sz="2800" dirty="0">
                <a:solidFill>
                  <a:srgbClr val="4B11BF"/>
                </a:solidFill>
              </a:rPr>
              <a:t>文献</a:t>
            </a:r>
          </a:p>
        </p:txBody>
      </p:sp>
      <p:sp>
        <p:nvSpPr>
          <p:cNvPr id="4" name="Rectangle 1"/>
          <p:cNvSpPr>
            <a:spLocks noChangeArrowheads="1"/>
          </p:cNvSpPr>
          <p:nvPr/>
        </p:nvSpPr>
        <p:spPr bwMode="auto">
          <a:xfrm>
            <a:off x="-273876" y="185678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br>
              <a:rPr kumimoji="0" lang="zh-CN" altLang="zh-CN" sz="1800" b="0" i="0" u="none" strike="noStrike" cap="none" normalizeH="0" baseline="0">
                <a:ln>
                  <a:noFill/>
                </a:ln>
                <a:solidFill>
                  <a:schemeClr val="tx1"/>
                </a:solidFill>
                <a:effectLst/>
                <a:latin typeface="Arial" panose="020B0604020202020204" pitchFamily="34" charset="0"/>
              </a:rPr>
            </a:b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6" name="矩形 5"/>
          <p:cNvSpPr/>
          <p:nvPr/>
        </p:nvSpPr>
        <p:spPr>
          <a:xfrm>
            <a:off x="1341237" y="1443841"/>
            <a:ext cx="9509525" cy="3970318"/>
          </a:xfrm>
          <a:prstGeom prst="rect">
            <a:avLst/>
          </a:prstGeom>
        </p:spPr>
        <p:txBody>
          <a:bodyPr wrap="square">
            <a:spAutoFit/>
          </a:bodyPr>
          <a:lstStyle/>
          <a:p>
            <a:pPr algn="just"/>
            <a:endParaRPr lang="en-US" altLang="zh-CN" sz="3600" dirty="0">
              <a:latin typeface="Arial" panose="020B0604020202020204" pitchFamily="34" charset="0"/>
              <a:cs typeface="Arial" panose="020B0604020202020204" pitchFamily="34" charset="0"/>
            </a:endParaRPr>
          </a:p>
          <a:p>
            <a:pPr algn="just"/>
            <a:r>
              <a:rPr lang="en-US" altLang="zh-CN" sz="3600" dirty="0">
                <a:latin typeface="Arial" panose="020B0604020202020204" pitchFamily="34" charset="0"/>
                <a:cs typeface="Arial" panose="020B0604020202020204" pitchFamily="34" charset="0"/>
              </a:rPr>
              <a:t>Tian </a:t>
            </a:r>
            <a:r>
              <a:rPr lang="en-US" altLang="zh-CN" sz="3600" dirty="0" err="1">
                <a:latin typeface="Arial" panose="020B0604020202020204" pitchFamily="34" charset="0"/>
                <a:cs typeface="Arial" panose="020B0604020202020204" pitchFamily="34" charset="0"/>
              </a:rPr>
              <a:t>Hongda,Li</a:t>
            </a:r>
            <a:r>
              <a:rPr lang="en-US" altLang="zh-CN" sz="3600" dirty="0">
                <a:latin typeface="Arial" panose="020B0604020202020204" pitchFamily="34" charset="0"/>
                <a:cs typeface="Arial" panose="020B0604020202020204" pitchFamily="34" charset="0"/>
              </a:rPr>
              <a:t> </a:t>
            </a:r>
            <a:r>
              <a:rPr lang="en-US" altLang="zh-CN" sz="3600" dirty="0" err="1">
                <a:latin typeface="Arial" panose="020B0604020202020204" pitchFamily="34" charset="0"/>
                <a:cs typeface="Arial" panose="020B0604020202020204" pitchFamily="34" charset="0"/>
              </a:rPr>
              <a:t>Wanqing,Ogunbona</a:t>
            </a:r>
            <a:r>
              <a:rPr lang="en-US" altLang="zh-CN" sz="3600" dirty="0">
                <a:latin typeface="Arial" panose="020B0604020202020204" pitchFamily="34" charset="0"/>
                <a:cs typeface="Arial" panose="020B0604020202020204" pitchFamily="34" charset="0"/>
              </a:rPr>
              <a:t> Philip </a:t>
            </a:r>
            <a:r>
              <a:rPr lang="en-US" altLang="zh-CN" sz="3600" dirty="0" err="1">
                <a:latin typeface="Arial" panose="020B0604020202020204" pitchFamily="34" charset="0"/>
                <a:cs typeface="Arial" panose="020B0604020202020204" pitchFamily="34" charset="0"/>
              </a:rPr>
              <a:t>O,Wang</a:t>
            </a:r>
            <a:r>
              <a:rPr lang="en-US" altLang="zh-CN" sz="3600" dirty="0">
                <a:latin typeface="Arial" panose="020B0604020202020204" pitchFamily="34" charset="0"/>
                <a:cs typeface="Arial" panose="020B0604020202020204" pitchFamily="34" charset="0"/>
              </a:rPr>
              <a:t> Lei. </a:t>
            </a:r>
            <a:r>
              <a:rPr lang="en-US" altLang="zh-CN" sz="3600" b="1" dirty="0">
                <a:solidFill>
                  <a:srgbClr val="FF0000"/>
                </a:solidFill>
                <a:latin typeface="Arial" panose="020B0604020202020204" pitchFamily="34" charset="0"/>
                <a:cs typeface="Arial" panose="020B0604020202020204" pitchFamily="34" charset="0"/>
              </a:rPr>
              <a:t>Detection</a:t>
            </a:r>
            <a:r>
              <a:rPr lang="en-US" altLang="zh-CN" sz="3600" b="1" dirty="0">
                <a:latin typeface="Arial" panose="020B0604020202020204" pitchFamily="34" charset="0"/>
                <a:cs typeface="Arial" panose="020B0604020202020204" pitchFamily="34" charset="0"/>
              </a:rPr>
              <a:t> and </a:t>
            </a:r>
            <a:r>
              <a:rPr lang="en-US" altLang="zh-CN" sz="3600" b="1" dirty="0">
                <a:solidFill>
                  <a:srgbClr val="FF0000"/>
                </a:solidFill>
                <a:latin typeface="Arial" panose="020B0604020202020204" pitchFamily="34" charset="0"/>
                <a:cs typeface="Arial" panose="020B0604020202020204" pitchFamily="34" charset="0"/>
              </a:rPr>
              <a:t>Separation</a:t>
            </a:r>
            <a:r>
              <a:rPr lang="en-US" altLang="zh-CN" sz="3600" b="1" dirty="0">
                <a:latin typeface="Arial" panose="020B0604020202020204" pitchFamily="34" charset="0"/>
                <a:cs typeface="Arial" panose="020B0604020202020204" pitchFamily="34" charset="0"/>
              </a:rPr>
              <a:t> of Smoke From </a:t>
            </a:r>
            <a:r>
              <a:rPr lang="en-US" altLang="zh-CN" sz="3600" b="1" dirty="0">
                <a:solidFill>
                  <a:srgbClr val="FF0000"/>
                </a:solidFill>
                <a:latin typeface="Arial" panose="020B0604020202020204" pitchFamily="34" charset="0"/>
                <a:cs typeface="Arial" panose="020B0604020202020204" pitchFamily="34" charset="0"/>
              </a:rPr>
              <a:t>Single Image Frames</a:t>
            </a:r>
            <a:r>
              <a:rPr lang="en-US" altLang="zh-CN" sz="3600" dirty="0">
                <a:latin typeface="Arial" panose="020B0604020202020204" pitchFamily="34" charset="0"/>
                <a:cs typeface="Arial" panose="020B0604020202020204" pitchFamily="34" charset="0"/>
              </a:rPr>
              <a:t>.[J]. IEEE transactions on image processing: a publication of the IEEE Signal Processing Society,2018,27(3).</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456299" y="275515"/>
            <a:ext cx="4797960" cy="521970"/>
          </a:xfrm>
          <a:prstGeom prst="rect">
            <a:avLst/>
          </a:prstGeom>
          <a:noFill/>
        </p:spPr>
        <p:txBody>
          <a:bodyPr wrap="square" rtlCol="0">
            <a:spAutoFit/>
          </a:bodyPr>
          <a:lstStyle/>
          <a:p>
            <a:r>
              <a:rPr lang="zh-CN" altLang="en-US" sz="2800" dirty="0">
                <a:solidFill>
                  <a:srgbClr val="4B11BF"/>
                </a:solidFill>
              </a:rPr>
              <a:t>学习非烟雾字典</a:t>
            </a:r>
          </a:p>
        </p:txBody>
      </p:sp>
      <p:sp>
        <p:nvSpPr>
          <p:cNvPr id="3" name="矩形 2"/>
          <p:cNvSpPr/>
          <p:nvPr/>
        </p:nvSpPr>
        <p:spPr>
          <a:xfrm>
            <a:off x="402843" y="1212762"/>
            <a:ext cx="7774506" cy="5186035"/>
          </a:xfrm>
          <a:prstGeom prst="rect">
            <a:avLst/>
          </a:prstGeom>
        </p:spPr>
        <p:txBody>
          <a:bodyPr wrap="square">
            <a:spAutoFit/>
          </a:bodyPr>
          <a:lstStyle/>
          <a:p>
            <a:pPr marL="457200" indent="-457200">
              <a:lnSpc>
                <a:spcPct val="150000"/>
              </a:lnSpc>
              <a:buFont typeface="Wingdings" panose="05000000000000000000" pitchFamily="2" charset="2"/>
              <a:buChar char="l"/>
            </a:pPr>
            <a:r>
              <a:rPr lang="zh-CN" altLang="en-US" sz="2800" dirty="0"/>
              <a:t>之前曾经通过重建得到原图，但是当时是给定字典</a:t>
            </a:r>
            <a:r>
              <a:rPr lang="en-US" altLang="zh-CN" sz="2800" dirty="0"/>
              <a:t>D</a:t>
            </a:r>
            <a:r>
              <a:rPr lang="zh-CN" altLang="en-US" sz="2800" dirty="0"/>
              <a:t>，对新数据进行调用</a:t>
            </a:r>
            <a:r>
              <a:rPr lang="en-US" altLang="zh-CN" sz="2800" dirty="0"/>
              <a:t>OMP</a:t>
            </a:r>
            <a:r>
              <a:rPr lang="zh-CN" altLang="en-US" sz="2800" dirty="0"/>
              <a:t>得到</a:t>
            </a:r>
            <a:r>
              <a:rPr lang="en-US" altLang="zh-CN" sz="2800" dirty="0" err="1"/>
              <a:t>Xnew</a:t>
            </a:r>
            <a:r>
              <a:rPr lang="zh-CN" altLang="en-US" sz="2800" dirty="0"/>
              <a:t>，基于</a:t>
            </a:r>
            <a:r>
              <a:rPr lang="en-US" altLang="zh-CN" sz="2800" dirty="0"/>
              <a:t>D</a:t>
            </a:r>
            <a:r>
              <a:rPr lang="zh-CN" altLang="en-US" sz="2800" dirty="0"/>
              <a:t>和</a:t>
            </a:r>
            <a:r>
              <a:rPr lang="en-US" altLang="zh-CN" sz="2800" dirty="0" err="1"/>
              <a:t>Xnew</a:t>
            </a:r>
            <a:r>
              <a:rPr lang="zh-CN" altLang="en-US" sz="2800" dirty="0"/>
              <a:t>重建的，并且调用</a:t>
            </a:r>
            <a:r>
              <a:rPr lang="en-US" altLang="zh-CN" sz="2800" dirty="0"/>
              <a:t>OMP</a:t>
            </a:r>
            <a:r>
              <a:rPr lang="zh-CN" altLang="en-US" sz="2800" dirty="0"/>
              <a:t>的时候并没有出现警告信息。</a:t>
            </a:r>
            <a:endParaRPr lang="en-US" altLang="zh-CN" sz="2800" dirty="0"/>
          </a:p>
          <a:p>
            <a:pPr marL="457200" indent="-457200">
              <a:lnSpc>
                <a:spcPct val="150000"/>
              </a:lnSpc>
              <a:buFont typeface="Wingdings" panose="05000000000000000000" pitchFamily="2" charset="2"/>
              <a:buChar char="l"/>
            </a:pPr>
            <a:r>
              <a:rPr lang="en-US" altLang="zh-CN" sz="2800" dirty="0"/>
              <a:t>OMP</a:t>
            </a:r>
            <a:r>
              <a:rPr lang="zh-CN" altLang="en-US" sz="2800" dirty="0"/>
              <a:t>算法的警告信息出现在学习字典过程中，</a:t>
            </a:r>
            <a:endParaRPr lang="en-US" altLang="zh-CN" sz="2800" dirty="0"/>
          </a:p>
          <a:p>
            <a:pPr marL="457200" indent="-457200">
              <a:lnSpc>
                <a:spcPct val="150000"/>
              </a:lnSpc>
              <a:buFont typeface="Wingdings" panose="05000000000000000000" pitchFamily="2" charset="2"/>
              <a:buChar char="l"/>
            </a:pPr>
            <a:endParaRPr lang="en-US" altLang="zh-CN" sz="2800" dirty="0"/>
          </a:p>
          <a:p>
            <a:pPr>
              <a:lnSpc>
                <a:spcPct val="150000"/>
              </a:lnSpc>
            </a:pPr>
            <a:r>
              <a:rPr lang="zh-CN" altLang="en-US" sz="2800" dirty="0"/>
              <a:t>因此猜测字典学习过程中进行的调用</a:t>
            </a:r>
            <a:r>
              <a:rPr lang="en-US" altLang="zh-CN" sz="2800" dirty="0"/>
              <a:t>OMP</a:t>
            </a:r>
            <a:r>
              <a:rPr lang="zh-CN" altLang="en-US" sz="2800" dirty="0"/>
              <a:t>重构可能出错了。</a:t>
            </a:r>
            <a:endParaRPr lang="en-US" altLang="zh-CN" sz="2800" dirty="0"/>
          </a:p>
        </p:txBody>
      </p:sp>
      <p:pic>
        <p:nvPicPr>
          <p:cNvPr id="1026" name="Picture 2">
            <a:extLst>
              <a:ext uri="{FF2B5EF4-FFF2-40B4-BE49-F238E27FC236}">
                <a16:creationId xmlns:a16="http://schemas.microsoft.com/office/drawing/2014/main" id="{6A749686-BD62-454C-AB87-0DB9591A95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21675" y="0"/>
            <a:ext cx="3611173" cy="6398797"/>
          </a:xfrm>
          <a:prstGeom prst="rect">
            <a:avLst/>
          </a:prstGeom>
          <a:noFill/>
          <a:extLst>
            <a:ext uri="{909E8E84-426E-40DD-AFC4-6F175D3DCCD1}">
              <a14:hiddenFill xmlns:a14="http://schemas.microsoft.com/office/drawing/2010/main">
                <a:solidFill>
                  <a:srgbClr val="FFFFFF"/>
                </a:solidFill>
              </a14:hiddenFill>
            </a:ext>
          </a:extLst>
        </p:spPr>
      </p:pic>
      <p:sp>
        <p:nvSpPr>
          <p:cNvPr id="5" name="文本框 4">
            <a:extLst>
              <a:ext uri="{FF2B5EF4-FFF2-40B4-BE49-F238E27FC236}">
                <a16:creationId xmlns:a16="http://schemas.microsoft.com/office/drawing/2014/main" id="{7121F72F-2F09-4788-B1E2-6983401C6176}"/>
              </a:ext>
            </a:extLst>
          </p:cNvPr>
          <p:cNvSpPr txBox="1"/>
          <p:nvPr/>
        </p:nvSpPr>
        <p:spPr>
          <a:xfrm>
            <a:off x="9227014" y="6396794"/>
            <a:ext cx="1800493" cy="369332"/>
          </a:xfrm>
          <a:prstGeom prst="rect">
            <a:avLst/>
          </a:prstGeom>
          <a:noFill/>
        </p:spPr>
        <p:txBody>
          <a:bodyPr wrap="none" rtlCol="0">
            <a:spAutoFit/>
          </a:bodyPr>
          <a:lstStyle/>
          <a:p>
            <a:r>
              <a:rPr lang="zh-CN" altLang="en-US" dirty="0"/>
              <a:t>学习字典流程图</a:t>
            </a:r>
          </a:p>
        </p:txBody>
      </p:sp>
      <p:pic>
        <p:nvPicPr>
          <p:cNvPr id="7" name="图片 6">
            <a:extLst>
              <a:ext uri="{FF2B5EF4-FFF2-40B4-BE49-F238E27FC236}">
                <a16:creationId xmlns:a16="http://schemas.microsoft.com/office/drawing/2014/main" id="{C446C8E0-005F-4079-B120-98A725239E8F}"/>
              </a:ext>
            </a:extLst>
          </p:cNvPr>
          <p:cNvPicPr>
            <a:picLocks noChangeAspect="1"/>
          </p:cNvPicPr>
          <p:nvPr/>
        </p:nvPicPr>
        <p:blipFill>
          <a:blip r:embed="rId4"/>
          <a:stretch>
            <a:fillRect/>
          </a:stretch>
        </p:blipFill>
        <p:spPr>
          <a:xfrm>
            <a:off x="402844" y="4487197"/>
            <a:ext cx="8688906" cy="66472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456299" y="275515"/>
            <a:ext cx="4797960" cy="521970"/>
          </a:xfrm>
          <a:prstGeom prst="rect">
            <a:avLst/>
          </a:prstGeom>
          <a:noFill/>
        </p:spPr>
        <p:txBody>
          <a:bodyPr wrap="square" rtlCol="0">
            <a:spAutoFit/>
          </a:bodyPr>
          <a:lstStyle/>
          <a:p>
            <a:r>
              <a:rPr lang="zh-CN" altLang="en-US" sz="2800" dirty="0">
                <a:solidFill>
                  <a:srgbClr val="4B11BF"/>
                </a:solidFill>
              </a:rPr>
              <a:t>学习非烟雾字典</a:t>
            </a:r>
          </a:p>
        </p:txBody>
      </p:sp>
      <p:sp>
        <p:nvSpPr>
          <p:cNvPr id="3" name="矩形 2"/>
          <p:cNvSpPr/>
          <p:nvPr/>
        </p:nvSpPr>
        <p:spPr>
          <a:xfrm>
            <a:off x="259152" y="853440"/>
            <a:ext cx="11445168" cy="1954381"/>
          </a:xfrm>
          <a:prstGeom prst="rect">
            <a:avLst/>
          </a:prstGeom>
        </p:spPr>
        <p:txBody>
          <a:bodyPr wrap="square">
            <a:spAutoFit/>
          </a:bodyPr>
          <a:lstStyle/>
          <a:p>
            <a:pPr marL="457200" indent="-457200">
              <a:lnSpc>
                <a:spcPct val="150000"/>
              </a:lnSpc>
              <a:buFont typeface="Wingdings" panose="05000000000000000000" pitchFamily="2" charset="2"/>
              <a:buChar char="l"/>
            </a:pPr>
            <a:r>
              <a:rPr lang="zh-CN" altLang="en-US" sz="2800" dirty="0"/>
              <a:t>查看学习得到的字典以及稀疏系数。发现字典中某些原子中只有一个元素为</a:t>
            </a:r>
            <a:r>
              <a:rPr lang="en-US" altLang="zh-CN" sz="2800" dirty="0"/>
              <a:t>1</a:t>
            </a:r>
            <a:r>
              <a:rPr lang="zh-CN" altLang="en-US" sz="2800" dirty="0"/>
              <a:t>，其他元素都为</a:t>
            </a:r>
            <a:r>
              <a:rPr lang="en-US" altLang="zh-CN" sz="2800" dirty="0"/>
              <a:t>0</a:t>
            </a:r>
            <a:r>
              <a:rPr lang="zh-CN" altLang="en-US" sz="2800" dirty="0"/>
              <a:t>；稀疏系数也出现只有某些列只有一个非零元素（为</a:t>
            </a:r>
            <a:r>
              <a:rPr lang="en-US" altLang="zh-CN" sz="2800" dirty="0"/>
              <a:t>1</a:t>
            </a:r>
            <a:r>
              <a:rPr lang="zh-CN" altLang="en-US" sz="2800" dirty="0"/>
              <a:t>），除此之外，其他的稀疏度为</a:t>
            </a:r>
            <a:r>
              <a:rPr lang="en-US" altLang="zh-CN" sz="2800" dirty="0"/>
              <a:t>50/500</a:t>
            </a:r>
            <a:r>
              <a:rPr lang="zh-CN" altLang="en-US" sz="2800" dirty="0"/>
              <a:t>。</a:t>
            </a:r>
          </a:p>
        </p:txBody>
      </p:sp>
      <p:pic>
        <p:nvPicPr>
          <p:cNvPr id="4" name="图片 3">
            <a:extLst>
              <a:ext uri="{FF2B5EF4-FFF2-40B4-BE49-F238E27FC236}">
                <a16:creationId xmlns:a16="http://schemas.microsoft.com/office/drawing/2014/main" id="{2AA882C0-0EFF-4112-82C1-FD22E8188FE5}"/>
              </a:ext>
            </a:extLst>
          </p:cNvPr>
          <p:cNvPicPr>
            <a:picLocks noChangeAspect="1"/>
          </p:cNvPicPr>
          <p:nvPr/>
        </p:nvPicPr>
        <p:blipFill>
          <a:blip r:embed="rId3"/>
          <a:stretch>
            <a:fillRect/>
          </a:stretch>
        </p:blipFill>
        <p:spPr>
          <a:xfrm>
            <a:off x="156756" y="3166351"/>
            <a:ext cx="5814564" cy="2522439"/>
          </a:xfrm>
          <a:prstGeom prst="rect">
            <a:avLst/>
          </a:prstGeom>
        </p:spPr>
      </p:pic>
      <p:pic>
        <p:nvPicPr>
          <p:cNvPr id="5" name="图片 4">
            <a:extLst>
              <a:ext uri="{FF2B5EF4-FFF2-40B4-BE49-F238E27FC236}">
                <a16:creationId xmlns:a16="http://schemas.microsoft.com/office/drawing/2014/main" id="{8C03AA3B-CE3B-4DA2-91CC-FAFEFCB77697}"/>
              </a:ext>
            </a:extLst>
          </p:cNvPr>
          <p:cNvPicPr>
            <a:picLocks noChangeAspect="1"/>
          </p:cNvPicPr>
          <p:nvPr/>
        </p:nvPicPr>
        <p:blipFill>
          <a:blip r:embed="rId4"/>
          <a:stretch>
            <a:fillRect/>
          </a:stretch>
        </p:blipFill>
        <p:spPr>
          <a:xfrm>
            <a:off x="6096000" y="3020463"/>
            <a:ext cx="5959095" cy="3026857"/>
          </a:xfrm>
          <a:prstGeom prst="rect">
            <a:avLst/>
          </a:prstGeom>
        </p:spPr>
      </p:pic>
      <p:sp>
        <p:nvSpPr>
          <p:cNvPr id="7" name="文本框 6">
            <a:extLst>
              <a:ext uri="{FF2B5EF4-FFF2-40B4-BE49-F238E27FC236}">
                <a16:creationId xmlns:a16="http://schemas.microsoft.com/office/drawing/2014/main" id="{E30AF77A-745B-4189-8BFD-84FDC67E6CF5}"/>
              </a:ext>
            </a:extLst>
          </p:cNvPr>
          <p:cNvSpPr txBox="1"/>
          <p:nvPr/>
        </p:nvSpPr>
        <p:spPr>
          <a:xfrm>
            <a:off x="1456299" y="6047321"/>
            <a:ext cx="2262158" cy="369332"/>
          </a:xfrm>
          <a:prstGeom prst="rect">
            <a:avLst/>
          </a:prstGeom>
          <a:noFill/>
        </p:spPr>
        <p:txBody>
          <a:bodyPr wrap="none" rtlCol="0">
            <a:spAutoFit/>
          </a:bodyPr>
          <a:lstStyle/>
          <a:p>
            <a:r>
              <a:rPr lang="zh-CN" altLang="en-US" dirty="0"/>
              <a:t>字典部分原子（列）</a:t>
            </a:r>
          </a:p>
        </p:txBody>
      </p:sp>
      <p:sp>
        <p:nvSpPr>
          <p:cNvPr id="9" name="文本框 8">
            <a:extLst>
              <a:ext uri="{FF2B5EF4-FFF2-40B4-BE49-F238E27FC236}">
                <a16:creationId xmlns:a16="http://schemas.microsoft.com/office/drawing/2014/main" id="{713F58D9-B70C-40C3-BF49-265145B2A9A0}"/>
              </a:ext>
            </a:extLst>
          </p:cNvPr>
          <p:cNvSpPr txBox="1"/>
          <p:nvPr/>
        </p:nvSpPr>
        <p:spPr>
          <a:xfrm>
            <a:off x="7750173" y="6203358"/>
            <a:ext cx="1800493" cy="369332"/>
          </a:xfrm>
          <a:prstGeom prst="rect">
            <a:avLst/>
          </a:prstGeom>
          <a:noFill/>
        </p:spPr>
        <p:txBody>
          <a:bodyPr wrap="none" rtlCol="0">
            <a:spAutoFit/>
          </a:bodyPr>
          <a:lstStyle/>
          <a:p>
            <a:r>
              <a:rPr lang="zh-CN" altLang="en-US" dirty="0"/>
              <a:t>稀疏系数（列）</a:t>
            </a:r>
          </a:p>
        </p:txBody>
      </p:sp>
      <p:sp>
        <p:nvSpPr>
          <p:cNvPr id="10" name="文本框 9">
            <a:extLst>
              <a:ext uri="{FF2B5EF4-FFF2-40B4-BE49-F238E27FC236}">
                <a16:creationId xmlns:a16="http://schemas.microsoft.com/office/drawing/2014/main" id="{9F5ED7E6-98C5-4436-8BFE-6A5F9B6A4665}"/>
              </a:ext>
            </a:extLst>
          </p:cNvPr>
          <p:cNvSpPr txBox="1"/>
          <p:nvPr/>
        </p:nvSpPr>
        <p:spPr>
          <a:xfrm>
            <a:off x="5505339" y="271465"/>
            <a:ext cx="3478837" cy="369332"/>
          </a:xfrm>
          <a:prstGeom prst="rect">
            <a:avLst/>
          </a:prstGeom>
          <a:noFill/>
        </p:spPr>
        <p:txBody>
          <a:bodyPr wrap="none" rtlCol="0">
            <a:spAutoFit/>
          </a:bodyPr>
          <a:lstStyle/>
          <a:p>
            <a:r>
              <a:rPr lang="en-US" altLang="zh-CN" dirty="0"/>
              <a:t>256*1000=256*500  *  500*1000</a:t>
            </a:r>
            <a:endParaRPr lang="zh-CN" altLang="en-US" dirty="0"/>
          </a:p>
        </p:txBody>
      </p:sp>
    </p:spTree>
    <p:extLst>
      <p:ext uri="{BB962C8B-B14F-4D97-AF65-F5344CB8AC3E}">
        <p14:creationId xmlns:p14="http://schemas.microsoft.com/office/powerpoint/2010/main" val="29057275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456299" y="275515"/>
            <a:ext cx="4797960" cy="521970"/>
          </a:xfrm>
          <a:prstGeom prst="rect">
            <a:avLst/>
          </a:prstGeom>
          <a:noFill/>
        </p:spPr>
        <p:txBody>
          <a:bodyPr wrap="square" rtlCol="0">
            <a:spAutoFit/>
          </a:bodyPr>
          <a:lstStyle/>
          <a:p>
            <a:r>
              <a:rPr lang="zh-CN" altLang="en-US" sz="2800" dirty="0">
                <a:solidFill>
                  <a:srgbClr val="4B11BF"/>
                </a:solidFill>
              </a:rPr>
              <a:t>学习非烟雾字典</a:t>
            </a:r>
          </a:p>
        </p:txBody>
      </p:sp>
      <p:sp>
        <p:nvSpPr>
          <p:cNvPr id="3" name="矩形 2"/>
          <p:cNvSpPr/>
          <p:nvPr/>
        </p:nvSpPr>
        <p:spPr>
          <a:xfrm>
            <a:off x="319432" y="1124946"/>
            <a:ext cx="6217920" cy="1422377"/>
          </a:xfrm>
          <a:prstGeom prst="rect">
            <a:avLst/>
          </a:prstGeom>
        </p:spPr>
        <p:txBody>
          <a:bodyPr wrap="square">
            <a:spAutoFit/>
          </a:bodyPr>
          <a:lstStyle/>
          <a:p>
            <a:pPr marL="457200" indent="-457200">
              <a:lnSpc>
                <a:spcPct val="150000"/>
              </a:lnSpc>
              <a:buFont typeface="Wingdings" panose="05000000000000000000" pitchFamily="2" charset="2"/>
              <a:buChar char="l"/>
            </a:pPr>
            <a:r>
              <a:rPr lang="zh-CN" altLang="en-US" sz="2000" dirty="0"/>
              <a:t>当字典中原子有相关性时，</a:t>
            </a:r>
            <a:r>
              <a:rPr lang="en-US" altLang="zh-CN" sz="2000" dirty="0"/>
              <a:t>OMP</a:t>
            </a:r>
            <a:r>
              <a:rPr lang="zh-CN" altLang="en-US" sz="2000" dirty="0"/>
              <a:t>算法可能会得到一个错误的重构信号。因此对字典进行规范化，使每个原子的</a:t>
            </a:r>
            <a:r>
              <a:rPr lang="en-US" altLang="zh-CN" sz="2000" dirty="0"/>
              <a:t>l2</a:t>
            </a:r>
            <a:r>
              <a:rPr lang="zh-CN" altLang="en-US" sz="2000" dirty="0"/>
              <a:t>范数为</a:t>
            </a:r>
            <a:r>
              <a:rPr lang="en-US" altLang="zh-CN" sz="2000" dirty="0"/>
              <a:t>1</a:t>
            </a:r>
            <a:r>
              <a:rPr lang="zh-CN" altLang="en-US" sz="2000" dirty="0"/>
              <a:t>。</a:t>
            </a:r>
          </a:p>
        </p:txBody>
      </p:sp>
      <p:sp>
        <p:nvSpPr>
          <p:cNvPr id="7" name="文本框 6">
            <a:extLst>
              <a:ext uri="{FF2B5EF4-FFF2-40B4-BE49-F238E27FC236}">
                <a16:creationId xmlns:a16="http://schemas.microsoft.com/office/drawing/2014/main" id="{E30AF77A-745B-4189-8BFD-84FDC67E6CF5}"/>
              </a:ext>
            </a:extLst>
          </p:cNvPr>
          <p:cNvSpPr txBox="1"/>
          <p:nvPr/>
        </p:nvSpPr>
        <p:spPr>
          <a:xfrm>
            <a:off x="1456299" y="6444852"/>
            <a:ext cx="2954655" cy="369332"/>
          </a:xfrm>
          <a:prstGeom prst="rect">
            <a:avLst/>
          </a:prstGeom>
          <a:noFill/>
        </p:spPr>
        <p:txBody>
          <a:bodyPr wrap="none" rtlCol="0">
            <a:spAutoFit/>
          </a:bodyPr>
          <a:lstStyle/>
          <a:p>
            <a:r>
              <a:rPr lang="zh-CN" altLang="en-US" dirty="0"/>
              <a:t>字典部分原子（规范化前）</a:t>
            </a:r>
          </a:p>
        </p:txBody>
      </p:sp>
      <p:sp>
        <p:nvSpPr>
          <p:cNvPr id="9" name="文本框 8">
            <a:extLst>
              <a:ext uri="{FF2B5EF4-FFF2-40B4-BE49-F238E27FC236}">
                <a16:creationId xmlns:a16="http://schemas.microsoft.com/office/drawing/2014/main" id="{713F58D9-B70C-40C3-BF49-265145B2A9A0}"/>
              </a:ext>
            </a:extLst>
          </p:cNvPr>
          <p:cNvSpPr txBox="1"/>
          <p:nvPr/>
        </p:nvSpPr>
        <p:spPr>
          <a:xfrm>
            <a:off x="6903388" y="6444852"/>
            <a:ext cx="2954655" cy="369332"/>
          </a:xfrm>
          <a:prstGeom prst="rect">
            <a:avLst/>
          </a:prstGeom>
          <a:noFill/>
        </p:spPr>
        <p:txBody>
          <a:bodyPr wrap="none" rtlCol="0">
            <a:spAutoFit/>
          </a:bodyPr>
          <a:lstStyle/>
          <a:p>
            <a:r>
              <a:rPr lang="zh-CN" altLang="en-US" dirty="0"/>
              <a:t>字典部分原子（规范化后）</a:t>
            </a:r>
          </a:p>
        </p:txBody>
      </p:sp>
      <p:sp>
        <p:nvSpPr>
          <p:cNvPr id="10" name="文本框 9">
            <a:extLst>
              <a:ext uri="{FF2B5EF4-FFF2-40B4-BE49-F238E27FC236}">
                <a16:creationId xmlns:a16="http://schemas.microsoft.com/office/drawing/2014/main" id="{9F5ED7E6-98C5-4436-8BFE-6A5F9B6A4665}"/>
              </a:ext>
            </a:extLst>
          </p:cNvPr>
          <p:cNvSpPr txBox="1"/>
          <p:nvPr/>
        </p:nvSpPr>
        <p:spPr>
          <a:xfrm>
            <a:off x="5505339" y="271465"/>
            <a:ext cx="3478837" cy="369332"/>
          </a:xfrm>
          <a:prstGeom prst="rect">
            <a:avLst/>
          </a:prstGeom>
          <a:noFill/>
        </p:spPr>
        <p:txBody>
          <a:bodyPr wrap="none" rtlCol="0">
            <a:spAutoFit/>
          </a:bodyPr>
          <a:lstStyle/>
          <a:p>
            <a:r>
              <a:rPr lang="en-US" altLang="zh-CN" dirty="0"/>
              <a:t>256*1000=256*500  *  500*1000</a:t>
            </a:r>
            <a:endParaRPr lang="zh-CN" altLang="en-US" dirty="0"/>
          </a:p>
        </p:txBody>
      </p:sp>
      <p:pic>
        <p:nvPicPr>
          <p:cNvPr id="2" name="图片 1">
            <a:extLst>
              <a:ext uri="{FF2B5EF4-FFF2-40B4-BE49-F238E27FC236}">
                <a16:creationId xmlns:a16="http://schemas.microsoft.com/office/drawing/2014/main" id="{DCC9F62A-7992-4F9D-8087-159A37B072A7}"/>
              </a:ext>
            </a:extLst>
          </p:cNvPr>
          <p:cNvPicPr>
            <a:picLocks noChangeAspect="1"/>
          </p:cNvPicPr>
          <p:nvPr/>
        </p:nvPicPr>
        <p:blipFill>
          <a:blip r:embed="rId3"/>
          <a:stretch>
            <a:fillRect/>
          </a:stretch>
        </p:blipFill>
        <p:spPr>
          <a:xfrm>
            <a:off x="737453" y="2863775"/>
            <a:ext cx="4315367" cy="3506309"/>
          </a:xfrm>
          <a:prstGeom prst="rect">
            <a:avLst/>
          </a:prstGeom>
        </p:spPr>
      </p:pic>
      <p:pic>
        <p:nvPicPr>
          <p:cNvPr id="8" name="图片 7">
            <a:extLst>
              <a:ext uri="{FF2B5EF4-FFF2-40B4-BE49-F238E27FC236}">
                <a16:creationId xmlns:a16="http://schemas.microsoft.com/office/drawing/2014/main" id="{28B5B2A6-564D-4160-98CE-8D2946640452}"/>
              </a:ext>
            </a:extLst>
          </p:cNvPr>
          <p:cNvPicPr>
            <a:picLocks noChangeAspect="1"/>
          </p:cNvPicPr>
          <p:nvPr/>
        </p:nvPicPr>
        <p:blipFill>
          <a:blip r:embed="rId4"/>
          <a:stretch>
            <a:fillRect/>
          </a:stretch>
        </p:blipFill>
        <p:spPr>
          <a:xfrm>
            <a:off x="6096000" y="2863775"/>
            <a:ext cx="4797960" cy="3581077"/>
          </a:xfrm>
          <a:prstGeom prst="rect">
            <a:avLst/>
          </a:prstGeom>
        </p:spPr>
      </p:pic>
      <p:pic>
        <p:nvPicPr>
          <p:cNvPr id="4" name="图片 3">
            <a:extLst>
              <a:ext uri="{FF2B5EF4-FFF2-40B4-BE49-F238E27FC236}">
                <a16:creationId xmlns:a16="http://schemas.microsoft.com/office/drawing/2014/main" id="{DB9212A7-1D4E-4C1D-BE72-39A721322D40}"/>
              </a:ext>
            </a:extLst>
          </p:cNvPr>
          <p:cNvPicPr>
            <a:picLocks noChangeAspect="1"/>
          </p:cNvPicPr>
          <p:nvPr/>
        </p:nvPicPr>
        <p:blipFill>
          <a:blip r:embed="rId5"/>
          <a:stretch>
            <a:fillRect/>
          </a:stretch>
        </p:blipFill>
        <p:spPr>
          <a:xfrm>
            <a:off x="6550688" y="957249"/>
            <a:ext cx="5009938" cy="1848555"/>
          </a:xfrm>
          <a:prstGeom prst="rect">
            <a:avLst/>
          </a:prstGeom>
        </p:spPr>
      </p:pic>
    </p:spTree>
    <p:extLst>
      <p:ext uri="{BB962C8B-B14F-4D97-AF65-F5344CB8AC3E}">
        <p14:creationId xmlns:p14="http://schemas.microsoft.com/office/powerpoint/2010/main" val="19527566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456299" y="275515"/>
            <a:ext cx="4797960" cy="521970"/>
          </a:xfrm>
          <a:prstGeom prst="rect">
            <a:avLst/>
          </a:prstGeom>
          <a:noFill/>
        </p:spPr>
        <p:txBody>
          <a:bodyPr wrap="square" rtlCol="0">
            <a:spAutoFit/>
          </a:bodyPr>
          <a:lstStyle/>
          <a:p>
            <a:r>
              <a:rPr lang="zh-CN" altLang="en-US" sz="2800" dirty="0">
                <a:solidFill>
                  <a:srgbClr val="4B11BF"/>
                </a:solidFill>
              </a:rPr>
              <a:t>学习非烟雾字典</a:t>
            </a:r>
          </a:p>
        </p:txBody>
      </p:sp>
      <p:sp>
        <p:nvSpPr>
          <p:cNvPr id="3" name="矩形 2"/>
          <p:cNvSpPr/>
          <p:nvPr/>
        </p:nvSpPr>
        <p:spPr>
          <a:xfrm>
            <a:off x="259152" y="797485"/>
            <a:ext cx="11445168" cy="1954381"/>
          </a:xfrm>
          <a:prstGeom prst="rect">
            <a:avLst/>
          </a:prstGeom>
        </p:spPr>
        <p:txBody>
          <a:bodyPr wrap="square">
            <a:spAutoFit/>
          </a:bodyPr>
          <a:lstStyle/>
          <a:p>
            <a:pPr marL="457200" indent="-457200">
              <a:lnSpc>
                <a:spcPct val="150000"/>
              </a:lnSpc>
              <a:buFont typeface="Wingdings" panose="05000000000000000000" pitchFamily="2" charset="2"/>
              <a:buChar char="l"/>
            </a:pPr>
            <a:r>
              <a:rPr lang="zh-CN" altLang="en-US" sz="2800" dirty="0"/>
              <a:t>对字典规范化之后，学习得到的字典和稀疏系数不再出现某些原子之后一个非零元素的情况，稀疏度都变为</a:t>
            </a:r>
            <a:r>
              <a:rPr lang="en-US" altLang="zh-CN" sz="2800" dirty="0"/>
              <a:t>50/500</a:t>
            </a:r>
            <a:r>
              <a:rPr lang="zh-CN" altLang="en-US" sz="2800" dirty="0"/>
              <a:t>。</a:t>
            </a:r>
            <a:endParaRPr lang="en-US" altLang="zh-CN" sz="2800" dirty="0"/>
          </a:p>
          <a:p>
            <a:pPr marL="457200" indent="-457200">
              <a:lnSpc>
                <a:spcPct val="150000"/>
              </a:lnSpc>
              <a:buFont typeface="Wingdings" panose="05000000000000000000" pitchFamily="2" charset="2"/>
              <a:buChar char="l"/>
            </a:pPr>
            <a:r>
              <a:rPr lang="zh-CN" altLang="en-US" sz="2800" dirty="0"/>
              <a:t>但是学习字典过程中调用</a:t>
            </a:r>
            <a:r>
              <a:rPr lang="en-US" altLang="zh-CN" sz="2800" dirty="0" err="1"/>
              <a:t>omp</a:t>
            </a:r>
            <a:r>
              <a:rPr lang="zh-CN" altLang="en-US" sz="2800" dirty="0"/>
              <a:t>还是会出现警告信息。</a:t>
            </a:r>
          </a:p>
        </p:txBody>
      </p:sp>
      <p:sp>
        <p:nvSpPr>
          <p:cNvPr id="7" name="文本框 6">
            <a:extLst>
              <a:ext uri="{FF2B5EF4-FFF2-40B4-BE49-F238E27FC236}">
                <a16:creationId xmlns:a16="http://schemas.microsoft.com/office/drawing/2014/main" id="{E30AF77A-745B-4189-8BFD-84FDC67E6CF5}"/>
              </a:ext>
            </a:extLst>
          </p:cNvPr>
          <p:cNvSpPr txBox="1"/>
          <p:nvPr/>
        </p:nvSpPr>
        <p:spPr>
          <a:xfrm>
            <a:off x="1456299" y="6397819"/>
            <a:ext cx="2954655" cy="369332"/>
          </a:xfrm>
          <a:prstGeom prst="rect">
            <a:avLst/>
          </a:prstGeom>
          <a:noFill/>
        </p:spPr>
        <p:txBody>
          <a:bodyPr wrap="none" rtlCol="0">
            <a:spAutoFit/>
          </a:bodyPr>
          <a:lstStyle/>
          <a:p>
            <a:r>
              <a:rPr lang="zh-CN" altLang="en-US" dirty="0"/>
              <a:t>字典部分原子（标准化后）</a:t>
            </a:r>
          </a:p>
        </p:txBody>
      </p:sp>
      <p:sp>
        <p:nvSpPr>
          <p:cNvPr id="9" name="文本框 8">
            <a:extLst>
              <a:ext uri="{FF2B5EF4-FFF2-40B4-BE49-F238E27FC236}">
                <a16:creationId xmlns:a16="http://schemas.microsoft.com/office/drawing/2014/main" id="{713F58D9-B70C-40C3-BF49-265145B2A9A0}"/>
              </a:ext>
            </a:extLst>
          </p:cNvPr>
          <p:cNvSpPr txBox="1"/>
          <p:nvPr/>
        </p:nvSpPr>
        <p:spPr>
          <a:xfrm>
            <a:off x="6991758" y="6397819"/>
            <a:ext cx="2492990" cy="369332"/>
          </a:xfrm>
          <a:prstGeom prst="rect">
            <a:avLst/>
          </a:prstGeom>
          <a:noFill/>
        </p:spPr>
        <p:txBody>
          <a:bodyPr wrap="none" rtlCol="0">
            <a:spAutoFit/>
          </a:bodyPr>
          <a:lstStyle/>
          <a:p>
            <a:r>
              <a:rPr lang="zh-CN" altLang="en-US" dirty="0"/>
              <a:t>稀疏系数（标准化后）</a:t>
            </a:r>
          </a:p>
        </p:txBody>
      </p:sp>
      <p:sp>
        <p:nvSpPr>
          <p:cNvPr id="10" name="文本框 9">
            <a:extLst>
              <a:ext uri="{FF2B5EF4-FFF2-40B4-BE49-F238E27FC236}">
                <a16:creationId xmlns:a16="http://schemas.microsoft.com/office/drawing/2014/main" id="{9F5ED7E6-98C5-4436-8BFE-6A5F9B6A4665}"/>
              </a:ext>
            </a:extLst>
          </p:cNvPr>
          <p:cNvSpPr txBox="1"/>
          <p:nvPr/>
        </p:nvSpPr>
        <p:spPr>
          <a:xfrm>
            <a:off x="5505339" y="271465"/>
            <a:ext cx="3478837" cy="369332"/>
          </a:xfrm>
          <a:prstGeom prst="rect">
            <a:avLst/>
          </a:prstGeom>
          <a:noFill/>
        </p:spPr>
        <p:txBody>
          <a:bodyPr wrap="none" rtlCol="0">
            <a:spAutoFit/>
          </a:bodyPr>
          <a:lstStyle/>
          <a:p>
            <a:r>
              <a:rPr lang="en-US" altLang="zh-CN" dirty="0"/>
              <a:t>256*1000=256*500  *  500*1000</a:t>
            </a:r>
            <a:endParaRPr lang="zh-CN" altLang="en-US" dirty="0"/>
          </a:p>
        </p:txBody>
      </p:sp>
      <p:pic>
        <p:nvPicPr>
          <p:cNvPr id="4" name="图片 3">
            <a:extLst>
              <a:ext uri="{FF2B5EF4-FFF2-40B4-BE49-F238E27FC236}">
                <a16:creationId xmlns:a16="http://schemas.microsoft.com/office/drawing/2014/main" id="{04CA1510-33E2-411F-91FD-3819B457CFCB}"/>
              </a:ext>
            </a:extLst>
          </p:cNvPr>
          <p:cNvPicPr>
            <a:picLocks noChangeAspect="1"/>
          </p:cNvPicPr>
          <p:nvPr/>
        </p:nvPicPr>
        <p:blipFill rotWithShape="1">
          <a:blip r:embed="rId3"/>
          <a:srcRect t="9753"/>
          <a:stretch/>
        </p:blipFill>
        <p:spPr>
          <a:xfrm>
            <a:off x="728498" y="2751866"/>
            <a:ext cx="4410256" cy="3554745"/>
          </a:xfrm>
          <a:prstGeom prst="rect">
            <a:avLst/>
          </a:prstGeom>
        </p:spPr>
      </p:pic>
      <p:pic>
        <p:nvPicPr>
          <p:cNvPr id="5" name="图片 4">
            <a:extLst>
              <a:ext uri="{FF2B5EF4-FFF2-40B4-BE49-F238E27FC236}">
                <a16:creationId xmlns:a16="http://schemas.microsoft.com/office/drawing/2014/main" id="{09072623-0FA5-4BBB-8A90-B8DFFEF5C8DE}"/>
              </a:ext>
            </a:extLst>
          </p:cNvPr>
          <p:cNvPicPr>
            <a:picLocks noChangeAspect="1"/>
          </p:cNvPicPr>
          <p:nvPr/>
        </p:nvPicPr>
        <p:blipFill>
          <a:blip r:embed="rId4"/>
          <a:stretch>
            <a:fillRect/>
          </a:stretch>
        </p:blipFill>
        <p:spPr>
          <a:xfrm>
            <a:off x="6174788" y="2751865"/>
            <a:ext cx="4126930" cy="3554745"/>
          </a:xfrm>
          <a:prstGeom prst="rect">
            <a:avLst/>
          </a:prstGeom>
        </p:spPr>
      </p:pic>
    </p:spTree>
    <p:extLst>
      <p:ext uri="{BB962C8B-B14F-4D97-AF65-F5344CB8AC3E}">
        <p14:creationId xmlns:p14="http://schemas.microsoft.com/office/powerpoint/2010/main" val="36766496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456299" y="275515"/>
            <a:ext cx="4797960" cy="521970"/>
          </a:xfrm>
          <a:prstGeom prst="rect">
            <a:avLst/>
          </a:prstGeom>
          <a:noFill/>
        </p:spPr>
        <p:txBody>
          <a:bodyPr wrap="square" rtlCol="0">
            <a:spAutoFit/>
          </a:bodyPr>
          <a:lstStyle/>
          <a:p>
            <a:r>
              <a:rPr lang="zh-CN" altLang="en-US" sz="2800" dirty="0">
                <a:solidFill>
                  <a:srgbClr val="4B11BF"/>
                </a:solidFill>
              </a:rPr>
              <a:t>学习非烟雾字典</a:t>
            </a:r>
          </a:p>
        </p:txBody>
      </p:sp>
      <p:sp>
        <p:nvSpPr>
          <p:cNvPr id="3" name="矩形 2"/>
          <p:cNvSpPr/>
          <p:nvPr/>
        </p:nvSpPr>
        <p:spPr>
          <a:xfrm>
            <a:off x="1252999" y="957323"/>
            <a:ext cx="10002520" cy="661720"/>
          </a:xfrm>
          <a:prstGeom prst="rect">
            <a:avLst/>
          </a:prstGeom>
        </p:spPr>
        <p:txBody>
          <a:bodyPr wrap="square">
            <a:spAutoFit/>
          </a:bodyPr>
          <a:lstStyle/>
          <a:p>
            <a:pPr marL="457200" indent="-457200">
              <a:lnSpc>
                <a:spcPct val="150000"/>
              </a:lnSpc>
              <a:buFont typeface="Wingdings" panose="05000000000000000000" pitchFamily="2" charset="2"/>
              <a:buChar char="l"/>
            </a:pPr>
            <a:r>
              <a:rPr lang="zh-CN" altLang="en-US" sz="2800" dirty="0"/>
              <a:t>接下来利用字典学习过程中得到的字典和稀疏系数进行重建。</a:t>
            </a:r>
          </a:p>
        </p:txBody>
      </p:sp>
      <p:pic>
        <p:nvPicPr>
          <p:cNvPr id="2" name="图片 1">
            <a:extLst>
              <a:ext uri="{FF2B5EF4-FFF2-40B4-BE49-F238E27FC236}">
                <a16:creationId xmlns:a16="http://schemas.microsoft.com/office/drawing/2014/main" id="{1C20B8FA-7065-49BE-917B-BEEF323522B4}"/>
              </a:ext>
            </a:extLst>
          </p:cNvPr>
          <p:cNvPicPr>
            <a:picLocks noChangeAspect="1"/>
          </p:cNvPicPr>
          <p:nvPr/>
        </p:nvPicPr>
        <p:blipFill rotWithShape="1">
          <a:blip r:embed="rId3"/>
          <a:srcRect l="12283" t="12534" r="7781" b="11311"/>
          <a:stretch/>
        </p:blipFill>
        <p:spPr>
          <a:xfrm>
            <a:off x="3801291" y="1778881"/>
            <a:ext cx="4885509" cy="3958045"/>
          </a:xfrm>
          <a:prstGeom prst="rect">
            <a:avLst/>
          </a:prstGeom>
        </p:spPr>
      </p:pic>
      <p:sp>
        <p:nvSpPr>
          <p:cNvPr id="7" name="文本框 6">
            <a:extLst>
              <a:ext uri="{FF2B5EF4-FFF2-40B4-BE49-F238E27FC236}">
                <a16:creationId xmlns:a16="http://schemas.microsoft.com/office/drawing/2014/main" id="{82D57C77-A189-430F-973B-E4285A44CDE1}"/>
              </a:ext>
            </a:extLst>
          </p:cNvPr>
          <p:cNvSpPr txBox="1"/>
          <p:nvPr/>
        </p:nvSpPr>
        <p:spPr>
          <a:xfrm>
            <a:off x="4239912" y="5896764"/>
            <a:ext cx="646331" cy="369332"/>
          </a:xfrm>
          <a:prstGeom prst="rect">
            <a:avLst/>
          </a:prstGeom>
          <a:noFill/>
        </p:spPr>
        <p:txBody>
          <a:bodyPr wrap="none" rtlCol="0">
            <a:spAutoFit/>
          </a:bodyPr>
          <a:lstStyle/>
          <a:p>
            <a:r>
              <a:rPr lang="zh-CN" altLang="en-US" dirty="0"/>
              <a:t>原图</a:t>
            </a:r>
          </a:p>
        </p:txBody>
      </p:sp>
      <p:sp>
        <p:nvSpPr>
          <p:cNvPr id="8" name="文本框 7">
            <a:extLst>
              <a:ext uri="{FF2B5EF4-FFF2-40B4-BE49-F238E27FC236}">
                <a16:creationId xmlns:a16="http://schemas.microsoft.com/office/drawing/2014/main" id="{307144EF-F073-4F0F-AA10-FA8AC2AEE93B}"/>
              </a:ext>
            </a:extLst>
          </p:cNvPr>
          <p:cNvSpPr txBox="1"/>
          <p:nvPr/>
        </p:nvSpPr>
        <p:spPr>
          <a:xfrm>
            <a:off x="5772834" y="5903965"/>
            <a:ext cx="877163" cy="369332"/>
          </a:xfrm>
          <a:prstGeom prst="rect">
            <a:avLst/>
          </a:prstGeom>
          <a:noFill/>
        </p:spPr>
        <p:txBody>
          <a:bodyPr wrap="none" rtlCol="0">
            <a:spAutoFit/>
          </a:bodyPr>
          <a:lstStyle/>
          <a:p>
            <a:r>
              <a:rPr lang="zh-CN" altLang="en-US" dirty="0"/>
              <a:t>重建图</a:t>
            </a:r>
          </a:p>
        </p:txBody>
      </p:sp>
      <p:sp>
        <p:nvSpPr>
          <p:cNvPr id="9" name="文本框 8">
            <a:extLst>
              <a:ext uri="{FF2B5EF4-FFF2-40B4-BE49-F238E27FC236}">
                <a16:creationId xmlns:a16="http://schemas.microsoft.com/office/drawing/2014/main" id="{FFD177F6-C7C5-452C-B64A-DED658F4B242}"/>
              </a:ext>
            </a:extLst>
          </p:cNvPr>
          <p:cNvSpPr txBox="1"/>
          <p:nvPr/>
        </p:nvSpPr>
        <p:spPr>
          <a:xfrm>
            <a:off x="7536588" y="5903687"/>
            <a:ext cx="877163" cy="369332"/>
          </a:xfrm>
          <a:prstGeom prst="rect">
            <a:avLst/>
          </a:prstGeom>
          <a:noFill/>
        </p:spPr>
        <p:txBody>
          <a:bodyPr wrap="none" rtlCol="0">
            <a:spAutoFit/>
          </a:bodyPr>
          <a:lstStyle/>
          <a:p>
            <a:r>
              <a:rPr lang="zh-CN" altLang="en-US" dirty="0"/>
              <a:t>误差图</a:t>
            </a:r>
          </a:p>
        </p:txBody>
      </p:sp>
    </p:spTree>
    <p:extLst>
      <p:ext uri="{BB962C8B-B14F-4D97-AF65-F5344CB8AC3E}">
        <p14:creationId xmlns:p14="http://schemas.microsoft.com/office/powerpoint/2010/main" val="28522183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456299" y="275515"/>
            <a:ext cx="4797960" cy="521970"/>
          </a:xfrm>
          <a:prstGeom prst="rect">
            <a:avLst/>
          </a:prstGeom>
          <a:noFill/>
        </p:spPr>
        <p:txBody>
          <a:bodyPr wrap="square" rtlCol="0">
            <a:spAutoFit/>
          </a:bodyPr>
          <a:lstStyle/>
          <a:p>
            <a:r>
              <a:rPr lang="en-US" altLang="zh-CN" sz="2800" dirty="0">
                <a:solidFill>
                  <a:srgbClr val="4B11BF"/>
                </a:solidFill>
              </a:rPr>
              <a:t>Problem</a:t>
            </a:r>
            <a:endParaRPr lang="zh-CN" altLang="en-US" sz="2800" dirty="0">
              <a:solidFill>
                <a:srgbClr val="4B11BF"/>
              </a:solidFill>
            </a:endParaRPr>
          </a:p>
        </p:txBody>
      </p:sp>
      <p:sp>
        <p:nvSpPr>
          <p:cNvPr id="3" name="矩形 2"/>
          <p:cNvSpPr/>
          <p:nvPr/>
        </p:nvSpPr>
        <p:spPr>
          <a:xfrm>
            <a:off x="1252999" y="957323"/>
            <a:ext cx="10002520" cy="661720"/>
          </a:xfrm>
          <a:prstGeom prst="rect">
            <a:avLst/>
          </a:prstGeom>
        </p:spPr>
        <p:txBody>
          <a:bodyPr wrap="square">
            <a:spAutoFit/>
          </a:bodyPr>
          <a:lstStyle/>
          <a:p>
            <a:pPr marL="457200" indent="-457200">
              <a:lnSpc>
                <a:spcPct val="150000"/>
              </a:lnSpc>
              <a:buFont typeface="Wingdings" panose="05000000000000000000" pitchFamily="2" charset="2"/>
              <a:buChar char="l"/>
            </a:pPr>
            <a:r>
              <a:rPr lang="zh-CN" altLang="en-US" sz="2800" dirty="0"/>
              <a:t>怀疑是调用</a:t>
            </a:r>
            <a:r>
              <a:rPr lang="en-US" altLang="zh-CN" sz="2800" dirty="0" err="1"/>
              <a:t>omp</a:t>
            </a:r>
            <a:r>
              <a:rPr lang="zh-CN" altLang="en-US" sz="2800" dirty="0"/>
              <a:t>时参数写错了</a:t>
            </a:r>
          </a:p>
        </p:txBody>
      </p:sp>
    </p:spTree>
    <p:extLst>
      <p:ext uri="{BB962C8B-B14F-4D97-AF65-F5344CB8AC3E}">
        <p14:creationId xmlns:p14="http://schemas.microsoft.com/office/powerpoint/2010/main" val="31545549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884109" y="2570521"/>
            <a:ext cx="3801362" cy="923330"/>
          </a:xfrm>
          <a:prstGeom prst="rect">
            <a:avLst/>
          </a:prstGeom>
          <a:noFill/>
        </p:spPr>
        <p:txBody>
          <a:bodyPr wrap="none" lIns="91440" tIns="45720" rIns="91440" bIns="45720">
            <a:spAutoFit/>
          </a:bodyPr>
          <a:lstStyle/>
          <a:p>
            <a:pPr algn="ctr"/>
            <a:r>
              <a:rPr lang="en-US" altLang="zh-CN" sz="5400" b="1" cap="none" spc="0" dirty="0">
                <a:ln w="12700">
                  <a:solidFill>
                    <a:schemeClr val="accent1"/>
                  </a:solidFill>
                  <a:prstDash val="solid"/>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a:outerShdw dist="38100" dir="2640000" algn="bl" rotWithShape="0">
                    <a:schemeClr val="accent1"/>
                  </a:outerShdw>
                </a:effectLst>
              </a:rPr>
              <a:t>Thank You!</a:t>
            </a:r>
            <a:endParaRPr lang="zh-CN" altLang="en-US" sz="5400" b="1" cap="none" spc="0" dirty="0">
              <a:ln w="12700">
                <a:solidFill>
                  <a:schemeClr val="accent1"/>
                </a:solidFill>
                <a:prstDash val="solid"/>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a:outerShdw dist="38100" dir="2640000" algn="bl" rotWithShape="0">
                  <a:schemeClr val="accent1"/>
                </a:outerShdw>
              </a:effectLst>
            </a:endParaRPr>
          </a:p>
        </p:txBody>
      </p:sp>
    </p:spTree>
  </p:cSld>
  <p:clrMapOvr>
    <a:masterClrMapping/>
  </p:clrMapOvr>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36">
      <a:majorFont>
        <a:latin typeface="Segoe UI"/>
        <a:ea typeface="宋体"/>
        <a:cs typeface=""/>
      </a:majorFont>
      <a:minorFont>
        <a:latin typeface="Segoe UI"/>
        <a:ea typeface="微软雅黑"/>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432</TotalTime>
  <Words>353</Words>
  <Application>Microsoft Office PowerPoint</Application>
  <PresentationFormat>宽屏</PresentationFormat>
  <Paragraphs>38</Paragraphs>
  <Slides>9</Slides>
  <Notes>9</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9</vt:i4>
      </vt:variant>
    </vt:vector>
  </HeadingPairs>
  <TitlesOfParts>
    <vt:vector size="16" baseType="lpstr">
      <vt:lpstr>Arial</vt:lpstr>
      <vt:lpstr>Wingdings</vt:lpstr>
      <vt:lpstr>Rockwell</vt:lpstr>
      <vt:lpstr>Segoe UI</vt:lpstr>
      <vt:lpstr>等线</vt:lpstr>
      <vt:lpstr>微软雅黑</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OfficePLUS</dc:creator>
  <cp:lastModifiedBy>t xx</cp:lastModifiedBy>
  <cp:revision>2985</cp:revision>
  <dcterms:created xsi:type="dcterms:W3CDTF">2015-08-18T02:51:00Z</dcterms:created>
  <dcterms:modified xsi:type="dcterms:W3CDTF">2020-05-15T02:19:01Z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2052-11.1.0.9584</vt:lpwstr>
  </property>
</Properties>
</file>