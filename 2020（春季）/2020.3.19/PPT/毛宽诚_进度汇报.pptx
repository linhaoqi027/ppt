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53" r:id="rId3"/>
    <p:sldId id="352" r:id="rId4"/>
    <p:sldId id="346" r:id="rId5"/>
    <p:sldId id="356" r:id="rId6"/>
    <p:sldId id="340" r:id="rId7"/>
    <p:sldId id="339" r:id="rId8"/>
    <p:sldId id="347" r:id="rId9"/>
    <p:sldId id="348" r:id="rId10"/>
    <p:sldId id="351" r:id="rId11"/>
    <p:sldId id="336" r:id="rId12"/>
    <p:sldId id="35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1CC5F-6ECF-4CDD-B11B-5617F99534B4}">
          <p14:sldIdLst>
            <p14:sldId id="256"/>
            <p14:sldId id="353"/>
            <p14:sldId id="352"/>
            <p14:sldId id="346"/>
            <p14:sldId id="356"/>
            <p14:sldId id="340"/>
            <p14:sldId id="339"/>
            <p14:sldId id="347"/>
            <p14:sldId id="348"/>
            <p14:sldId id="351"/>
            <p14:sldId id="336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o Kuancheng" initials="MK" lastIdx="1" clrIdx="0">
    <p:extLst>
      <p:ext uri="{19B8F6BF-5375-455C-9EA6-DF929625EA0E}">
        <p15:presenceInfo xmlns:p15="http://schemas.microsoft.com/office/powerpoint/2012/main" userId="606f4ec063d87e8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7" autoAdjust="0"/>
    <p:restoredTop sz="94648"/>
  </p:normalViewPr>
  <p:slideViewPr>
    <p:cSldViewPr snapToGrid="0" snapToObjects="1">
      <p:cViewPr>
        <p:scale>
          <a:sx n="84" d="100"/>
          <a:sy n="84" d="100"/>
        </p:scale>
        <p:origin x="1448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422DA-9CC6-F24F-964E-83D03FBE0603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30524-D625-F045-93A7-563D3D834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8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Calibri Light" panose="020F030202020403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Calibri Light" panose="020F030202020403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Visio_Drawing1.vsdx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.docx"/><Relationship Id="rId3" Type="http://schemas.openxmlformats.org/officeDocument/2006/relationships/image" Target="../media/image8.emf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Word_Document.docx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Visio_Drawing4.vsdx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package" Target="../embeddings/Microsoft_Word_Document5.docx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Document6.docx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1496" y="1970786"/>
            <a:ext cx="5031414" cy="118268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大论文工作</a:t>
            </a:r>
            <a:endParaRPr lang="en-US" dirty="0">
              <a:solidFill>
                <a:schemeClr val="tx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7715" y="4050833"/>
            <a:ext cx="1496287" cy="1096899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毛宽诚</a:t>
            </a:r>
            <a:endParaRPr lang="en-US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03/19</a:t>
            </a:r>
            <a:endParaRPr lang="en-US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6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4E6BF-7F5B-452A-861C-16D45EE3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老师提的几个问题：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7C516-02C9-453C-A0A1-3DE2B349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120" y="1799082"/>
            <a:ext cx="8596668" cy="3880773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，综述没有把我自己写的综述加上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，章节标题不宜用英文缩写，尽量用中文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，对比试验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NMS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融合的尺度问题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256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9FD968D-832E-43DD-A191-8B00B46C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757" y="196333"/>
            <a:ext cx="6295984" cy="36434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A05282C-2BA3-4F8C-9D1A-BA0F2DDAF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501" y="3839757"/>
            <a:ext cx="6158495" cy="26194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A379B59-48AD-4457-8F87-EE4598776285}"/>
              </a:ext>
            </a:extLst>
          </p:cNvPr>
          <p:cNvSpPr/>
          <p:nvPr/>
        </p:nvSpPr>
        <p:spPr>
          <a:xfrm>
            <a:off x="431389" y="320381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综述</a:t>
            </a: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418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A243B6B-62D1-4589-AD95-F6BA5AD5C7F5}"/>
              </a:ext>
            </a:extLst>
          </p:cNvPr>
          <p:cNvSpPr txBox="1">
            <a:spLocks/>
          </p:cNvSpPr>
          <p:nvPr/>
        </p:nvSpPr>
        <p:spPr>
          <a:xfrm>
            <a:off x="263577" y="447537"/>
            <a:ext cx="6668851" cy="1310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第三章：基于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对齐的非极大值抑制融合双谱行人检测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      (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 Align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NMS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融合算法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en-US" altLang="zh-CN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endParaRPr lang="en-US" altLang="zh-CN" sz="1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05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05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BE2A04-44E5-4A1B-88BB-3F400FC1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64" y="287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4DF1410-D17E-43C5-BF7F-BDAC484090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409" y="2470369"/>
          <a:ext cx="5215349" cy="3121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Visio" r:id="rId3" imgW="7310952" imgH="4372861" progId="Visio.Drawing.15">
                  <p:embed/>
                </p:oleObj>
              </mc:Choice>
              <mc:Fallback>
                <p:oleObj name="Visio" r:id="rId3" imgW="7310952" imgH="4372861" progId="Visio.Drawing.15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4DF1410-D17E-43C5-BF7F-BDAC484090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09" y="2470369"/>
                        <a:ext cx="5215349" cy="31212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390C2AFD-9B08-4AF8-B1C3-45209A92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372" y="25659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4A4D415-1078-4CF8-B85F-1012A9FEC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317" y="2498361"/>
          <a:ext cx="5326987" cy="2870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Visio" r:id="rId5" imgW="5676857" imgH="3069167" progId="Visio.Drawing.15">
                  <p:embed/>
                </p:oleObj>
              </mc:Choice>
              <mc:Fallback>
                <p:oleObj name="Visio" r:id="rId5" imgW="5676857" imgH="3069167" progId="Visio.Drawing.15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4A4D415-1078-4CF8-B85F-1012A9FEC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317" y="2498361"/>
                        <a:ext cx="5326987" cy="2870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409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A243B6B-62D1-4589-AD95-F6BA5AD5C7F5}"/>
              </a:ext>
            </a:extLst>
          </p:cNvPr>
          <p:cNvSpPr txBox="1">
            <a:spLocks/>
          </p:cNvSpPr>
          <p:nvPr/>
        </p:nvSpPr>
        <p:spPr>
          <a:xfrm>
            <a:off x="263577" y="447537"/>
            <a:ext cx="4132153" cy="60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NMS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融合的尺度问题</a:t>
            </a:r>
          </a:p>
          <a:p>
            <a:pPr marL="914400" lvl="2" indent="0">
              <a:buNone/>
            </a:pP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90C2AFD-9B08-4AF8-B1C3-45209A92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372" y="25659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03D54A-8F79-4F2D-AAD3-F7F7EE2B6F77}"/>
              </a:ext>
            </a:extLst>
          </p:cNvPr>
          <p:cNvSpPr/>
          <p:nvPr/>
        </p:nvSpPr>
        <p:spPr>
          <a:xfrm>
            <a:off x="783264" y="5753058"/>
            <a:ext cx="7791894" cy="605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Takumi K, Watanabe K, Ha Q, et al. Multispectral object detection for autonomous vehicles[C]//Proceedings of the on Thematic Workshops of ACM Multimedia 2017. 2017: 35-43.</a:t>
            </a:r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0D44C7-F8CF-4C84-80D7-5E345E58F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914" y="1758365"/>
            <a:ext cx="4904188" cy="320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2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38EFAE3-E1E0-43DC-95CD-167DAA5A48F8}"/>
              </a:ext>
            </a:extLst>
          </p:cNvPr>
          <p:cNvSpPr txBox="1">
            <a:spLocks/>
          </p:cNvSpPr>
          <p:nvPr/>
        </p:nvSpPr>
        <p:spPr>
          <a:xfrm>
            <a:off x="817720" y="327931"/>
            <a:ext cx="1360978" cy="4605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对比实验</a:t>
            </a:r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A26F904-CA4C-4DE1-AEF8-8D1697798906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0" t="5210" r="8674"/>
          <a:stretch/>
        </p:blipFill>
        <p:spPr bwMode="auto">
          <a:xfrm>
            <a:off x="443204" y="941017"/>
            <a:ext cx="3396344" cy="27525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A4FAFB-2F67-403D-9398-55B608E62085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1" t="5183" r="9367"/>
          <a:stretch/>
        </p:blipFill>
        <p:spPr bwMode="auto">
          <a:xfrm>
            <a:off x="4025336" y="967282"/>
            <a:ext cx="3494108" cy="27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476ED16-D6EB-458C-95AC-4FD34834959D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" t="5882" r="8939"/>
          <a:stretch/>
        </p:blipFill>
        <p:spPr bwMode="auto">
          <a:xfrm>
            <a:off x="7832426" y="967282"/>
            <a:ext cx="3494108" cy="27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88CA374-5C03-40B7-9A7D-84A59FA4F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662215"/>
              </p:ext>
            </p:extLst>
          </p:nvPr>
        </p:nvGraphicFramePr>
        <p:xfrm>
          <a:off x="817720" y="3953016"/>
          <a:ext cx="7050597" cy="228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Document" r:id="rId6" imgW="5759710" imgH="1870267" progId="Word.Document.12">
                  <p:embed/>
                </p:oleObj>
              </mc:Choice>
              <mc:Fallback>
                <p:oleObj name="Document" r:id="rId6" imgW="5759710" imgH="18702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7720" y="3953016"/>
                        <a:ext cx="7050597" cy="2289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F2C7570-B1D2-4C25-90D9-C83FD3937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705973"/>
              </p:ext>
            </p:extLst>
          </p:nvPr>
        </p:nvGraphicFramePr>
        <p:xfrm>
          <a:off x="1145611" y="5977967"/>
          <a:ext cx="57594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Document" r:id="rId8" imgW="5759710" imgH="675744" progId="Word.Document.12">
                  <p:embed/>
                </p:oleObj>
              </mc:Choice>
              <mc:Fallback>
                <p:oleObj name="Document" r:id="rId8" imgW="5759710" imgH="6757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45611" y="5977967"/>
                        <a:ext cx="5759450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6466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641" y="203200"/>
            <a:ext cx="6572471" cy="50249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对数平均漏检率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(Log Average Miss Rate</a:t>
            </a: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LAMR)</a:t>
            </a: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Recall</a:t>
            </a: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0332CB9B-AE05-4FF0-89D8-B7DAA2BB8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061" y="20792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8871AC22-BFBE-49DD-9816-DE043C3A6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79" y="203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749DAF6-BF16-4A15-B7C0-48ABC09A0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52" y="3688301"/>
            <a:ext cx="7032954" cy="28357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4009915-3AC1-4C43-BDC8-506BD1B8E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52" y="760543"/>
            <a:ext cx="6917424" cy="266845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0EE65DE-BCFE-4167-B22B-38ED6DF0B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408" y="2578044"/>
            <a:ext cx="3998977" cy="163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65" y="1404979"/>
            <a:ext cx="4558843" cy="745728"/>
          </a:xfrm>
        </p:spPr>
        <p:txBody>
          <a:bodyPr>
            <a:normAutofit/>
          </a:bodyPr>
          <a:lstStyle/>
          <a:p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A243B6B-62D1-4589-AD95-F6BA5AD5C7F5}"/>
              </a:ext>
            </a:extLst>
          </p:cNvPr>
          <p:cNvSpPr txBox="1">
            <a:spLocks/>
          </p:cNvSpPr>
          <p:nvPr/>
        </p:nvSpPr>
        <p:spPr>
          <a:xfrm>
            <a:off x="442483" y="584839"/>
            <a:ext cx="9745857" cy="8141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第四章：基于多尺度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 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对齐的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RPN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融合双谱行人检测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       (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多尺度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 Align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RPN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融合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</a:p>
          <a:p>
            <a:pPr marL="0" indent="0">
              <a:buNone/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endParaRPr lang="en-US" altLang="zh-CN" sz="1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BE2A04-44E5-4A1B-88BB-3F400FC1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64" y="287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90C2AFD-9B08-4AF8-B1C3-45209A92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372" y="25659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ED593A-CDA1-470B-91A4-1EC173E8F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383" y="6136274"/>
            <a:ext cx="1233052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0B66029-2F03-4FE3-BC5F-C0F252AC72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745668"/>
              </p:ext>
            </p:extLst>
          </p:nvPr>
        </p:nvGraphicFramePr>
        <p:xfrm>
          <a:off x="558483" y="1703271"/>
          <a:ext cx="7314926" cy="1942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Visio" r:id="rId3" imgW="10485952" imgH="2781473" progId="Visio.Drawing.15">
                  <p:embed/>
                </p:oleObj>
              </mc:Choice>
              <mc:Fallback>
                <p:oleObj name="Visio" r:id="rId3" imgW="10485952" imgH="2781473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3" y="1703271"/>
                        <a:ext cx="7314926" cy="19421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>
            <a:extLst>
              <a:ext uri="{FF2B5EF4-FFF2-40B4-BE49-F238E27FC236}">
                <a16:creationId xmlns:a16="http://schemas.microsoft.com/office/drawing/2014/main" id="{A412CF10-7206-4791-AE2F-D1E432FAE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987" y="39197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A8EAE55-C5AC-430D-A0E3-5F26699FF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64648"/>
              </p:ext>
            </p:extLst>
          </p:nvPr>
        </p:nvGraphicFramePr>
        <p:xfrm>
          <a:off x="558483" y="3732849"/>
          <a:ext cx="7096959" cy="2782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Visio" r:id="rId5" imgW="11391857" imgH="4449320" progId="Visio.Drawing.15">
                  <p:embed/>
                </p:oleObj>
              </mc:Choice>
              <mc:Fallback>
                <p:oleObj name="Visio" r:id="rId5" imgW="11391857" imgH="4449320" progId="Visio.Drawing.1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3" y="3732849"/>
                        <a:ext cx="7096959" cy="2782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6978477-5FAB-4634-86A5-F76D4235A179}"/>
              </a:ext>
            </a:extLst>
          </p:cNvPr>
          <p:cNvSpPr/>
          <p:nvPr/>
        </p:nvSpPr>
        <p:spPr>
          <a:xfrm>
            <a:off x="8096853" y="2191526"/>
            <a:ext cx="16054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RPN</a:t>
            </a:r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融合网络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EABB54-0EAD-4CA4-B868-25134845D0F5}"/>
              </a:ext>
            </a:extLst>
          </p:cNvPr>
          <p:cNvSpPr/>
          <p:nvPr/>
        </p:nvSpPr>
        <p:spPr>
          <a:xfrm>
            <a:off x="7873409" y="4879145"/>
            <a:ext cx="3163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多尺度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ROI Align</a:t>
            </a:r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RPN</a:t>
            </a:r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融合网络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084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4" y="203434"/>
            <a:ext cx="2277622" cy="656763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</a:t>
            </a:r>
            <a:b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b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65" y="1404979"/>
            <a:ext cx="4558843" cy="745728"/>
          </a:xfrm>
        </p:spPr>
        <p:txBody>
          <a:bodyPr>
            <a:normAutofit/>
          </a:bodyPr>
          <a:lstStyle/>
          <a:p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BE2A04-44E5-4A1B-88BB-3F400FC1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64" y="287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90C2AFD-9B08-4AF8-B1C3-45209A92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372" y="25659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154" name="图片 52">
            <a:extLst>
              <a:ext uri="{FF2B5EF4-FFF2-40B4-BE49-F238E27FC236}">
                <a16:creationId xmlns:a16="http://schemas.microsoft.com/office/drawing/2014/main" id="{D6F4462C-1270-434F-8A36-CE2D55729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" t="5692" r="9239" b="-2"/>
          <a:stretch>
            <a:fillRect/>
          </a:stretch>
        </p:blipFill>
        <p:spPr bwMode="auto">
          <a:xfrm>
            <a:off x="291987" y="1113741"/>
            <a:ext cx="3301404" cy="27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图片 62">
            <a:extLst>
              <a:ext uri="{FF2B5EF4-FFF2-40B4-BE49-F238E27FC236}">
                <a16:creationId xmlns:a16="http://schemas.microsoft.com/office/drawing/2014/main" id="{4A37371E-4807-4F61-92A9-89F293BB2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" t="5017" r="8794"/>
          <a:stretch>
            <a:fillRect/>
          </a:stretch>
        </p:blipFill>
        <p:spPr bwMode="auto">
          <a:xfrm>
            <a:off x="3906004" y="1113741"/>
            <a:ext cx="3279339" cy="27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图片 63">
            <a:extLst>
              <a:ext uri="{FF2B5EF4-FFF2-40B4-BE49-F238E27FC236}">
                <a16:creationId xmlns:a16="http://schemas.microsoft.com/office/drawing/2014/main" id="{8FA1BBB6-9AE1-4F83-A0E7-6A90C59F0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5" t="6776" r="8691"/>
          <a:stretch>
            <a:fillRect/>
          </a:stretch>
        </p:blipFill>
        <p:spPr bwMode="auto">
          <a:xfrm>
            <a:off x="7608885" y="1117110"/>
            <a:ext cx="3350147" cy="27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C9637A3F-1379-4DFC-A7A9-F38CF1782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AE5FD1A-DA25-4628-8D23-0FD8521B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768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FE33FED-36D1-403D-B787-D5C38005B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326352"/>
              </p:ext>
            </p:extLst>
          </p:nvPr>
        </p:nvGraphicFramePr>
        <p:xfrm>
          <a:off x="359800" y="4103285"/>
          <a:ext cx="9123333" cy="2735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Document" r:id="rId6" imgW="5759710" imgH="1727342" progId="Word.Document.12">
                  <p:embed/>
                </p:oleObj>
              </mc:Choice>
              <mc:Fallback>
                <p:oleObj name="Document" r:id="rId6" imgW="5759710" imgH="17273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9800" y="4103285"/>
                        <a:ext cx="9123333" cy="2735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8405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5C4A2E7-0F35-4946-8167-E7B36014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82" y="1012972"/>
            <a:ext cx="7105099" cy="559533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A188765-0D5E-47C5-A071-4BD2C007A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456" y="415941"/>
            <a:ext cx="3604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Fusion RPN +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增强决策数</a:t>
            </a:r>
            <a:r>
              <a:rPr kumimoji="0" lang="en-US" altLang="zh-CN" sz="2000" b="0" i="0" u="none" strike="noStrike" cap="none" normalizeH="0" baseline="30000" dirty="0">
                <a:ln>
                  <a:noFill/>
                </a:ln>
                <a:solidFill>
                  <a:schemeClr val="accent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[33]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554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A243B6B-62D1-4589-AD95-F6BA5AD5C7F5}"/>
              </a:ext>
            </a:extLst>
          </p:cNvPr>
          <p:cNvSpPr txBox="1">
            <a:spLocks/>
          </p:cNvSpPr>
          <p:nvPr/>
        </p:nvSpPr>
        <p:spPr>
          <a:xfrm>
            <a:off x="486861" y="716575"/>
            <a:ext cx="9745857" cy="58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第五章：双谱行人检测推理速度优化及平台移植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14400" lvl="2" indent="0">
              <a:buNone/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90C2AFD-9B08-4AF8-B1C3-45209A92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372" y="25659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C0C4AF-6CE7-4FE3-8F76-5E95E4BF65FE}"/>
              </a:ext>
            </a:extLst>
          </p:cNvPr>
          <p:cNvSpPr/>
          <p:nvPr/>
        </p:nvSpPr>
        <p:spPr>
          <a:xfrm>
            <a:off x="1049079" y="1601026"/>
            <a:ext cx="6096000" cy="19902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dirty="0" err="1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TensorRT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优化原理</a:t>
            </a: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，软硬件平台</a:t>
            </a: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，部署流程</a:t>
            </a: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，实验及效果</a:t>
            </a: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00100" lvl="1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altLang="zh-CN" dirty="0">
              <a:solidFill>
                <a:prstClr val="black">
                  <a:lumMod val="75000"/>
                  <a:lumOff val="2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06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09" y="233915"/>
            <a:ext cx="2277622" cy="656763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论文工作</a:t>
            </a:r>
            <a:b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b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A243B6B-62D1-4589-AD95-F6BA5AD5C7F5}"/>
              </a:ext>
            </a:extLst>
          </p:cNvPr>
          <p:cNvSpPr txBox="1">
            <a:spLocks/>
          </p:cNvSpPr>
          <p:nvPr/>
        </p:nvSpPr>
        <p:spPr>
          <a:xfrm>
            <a:off x="486861" y="1009886"/>
            <a:ext cx="6002429" cy="58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第五章：双谱行人检测推理速度优化及平台移植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14400" lvl="2" indent="0">
              <a:buNone/>
            </a:pPr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90C2AFD-9B08-4AF8-B1C3-45209A92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372" y="25659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2ED5E69-43D1-4172-887B-D0A92223FE5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86" y="3429000"/>
            <a:ext cx="5207000" cy="29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E7BC85-6141-40AB-AC0C-438FE86FDFC0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" r="7938" b="3088"/>
          <a:stretch/>
        </p:blipFill>
        <p:spPr bwMode="auto">
          <a:xfrm>
            <a:off x="6813268" y="3187382"/>
            <a:ext cx="4826635" cy="34105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A703C76-E276-4165-87A0-56611A950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152656"/>
              </p:ext>
            </p:extLst>
          </p:nvPr>
        </p:nvGraphicFramePr>
        <p:xfrm>
          <a:off x="3784" y="1880427"/>
          <a:ext cx="7001065" cy="107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Document" r:id="rId5" imgW="5759710" imgH="886352" progId="Word.Document.12">
                  <p:embed/>
                </p:oleObj>
              </mc:Choice>
              <mc:Fallback>
                <p:oleObj name="Document" r:id="rId5" imgW="5759710" imgH="8863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84" y="1880427"/>
                        <a:ext cx="7001065" cy="1076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46080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25513</TotalTime>
  <Words>229</Words>
  <Application>Microsoft Office PowerPoint</Application>
  <PresentationFormat>宽屏</PresentationFormat>
  <Paragraphs>34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</vt:lpstr>
      <vt:lpstr>等线 Light</vt:lpstr>
      <vt:lpstr>微软雅黑 Light</vt:lpstr>
      <vt:lpstr>Arial</vt:lpstr>
      <vt:lpstr>Calibri</vt:lpstr>
      <vt:lpstr>Calibri Light</vt:lpstr>
      <vt:lpstr>Times New Roman</vt:lpstr>
      <vt:lpstr>Trebuchet MS</vt:lpstr>
      <vt:lpstr>Wingdings 3</vt:lpstr>
      <vt:lpstr>Facet</vt:lpstr>
      <vt:lpstr>Microsoft Word 文档</vt:lpstr>
      <vt:lpstr>MathType 6.0 Equation</vt:lpstr>
      <vt:lpstr>Microsoft Visio 绘图</vt:lpstr>
      <vt:lpstr>大论文工作</vt:lpstr>
      <vt:lpstr>老师提的几个问题：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   </vt:lpstr>
      <vt:lpstr>PowerPoint 演示文稿</vt:lpstr>
      <vt:lpstr>PowerPoint 演示文稿</vt:lpstr>
      <vt:lpstr>论文工作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of an Inference Run with TensorRT</dc:title>
  <dc:creator>Brant Zhao</dc:creator>
  <cp:lastModifiedBy>Mao Kuancheng</cp:lastModifiedBy>
  <cp:revision>762</cp:revision>
  <dcterms:created xsi:type="dcterms:W3CDTF">2017-12-23T03:55:49Z</dcterms:created>
  <dcterms:modified xsi:type="dcterms:W3CDTF">2020-03-19T11:05:52Z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kmao@nvidia.com</vt:lpwstr>
  </property>
  <property fmtid="{D5CDD505-2E9C-101B-9397-08002B2CF9AE}" pid="5" name="MSIP_Label_6b558183-044c-4105-8d9c-cea02a2a3d86_SetDate">
    <vt:lpwstr>2018-10-15T14:09:33.6637402Z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</Properties>
</file>