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00" autoAdjust="0"/>
    <p:restoredTop sz="94660"/>
  </p:normalViewPr>
  <p:slideViewPr>
    <p:cSldViewPr snapToGrid="0">
      <p:cViewPr varScale="1">
        <p:scale>
          <a:sx n="93" d="100"/>
          <a:sy n="93" d="100"/>
        </p:scale>
        <p:origin x="44" y="2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390A7E-2D24-4BF3-99BB-30BFC91D5F0A}"/>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C1E4FE83-0FD9-4F48-ABAD-C414DB88C3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542DCF3-6C03-4C28-9DF3-82B5A9ABB266}"/>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5" name="页脚占位符 4">
            <a:extLst>
              <a:ext uri="{FF2B5EF4-FFF2-40B4-BE49-F238E27FC236}">
                <a16:creationId xmlns:a16="http://schemas.microsoft.com/office/drawing/2014/main" id="{FC1F10FB-39BE-4490-BE05-13653E1395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7A052D-504C-4510-A72D-FA8DEE1CE5EB}"/>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3264961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E19FD-4FF8-4795-8F2E-BA219B9845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768012E-1AA4-47A1-806D-3DA1E429FF12}"/>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013B1FB-283B-4614-8D8D-938DF27388E9}"/>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5" name="页脚占位符 4">
            <a:extLst>
              <a:ext uri="{FF2B5EF4-FFF2-40B4-BE49-F238E27FC236}">
                <a16:creationId xmlns:a16="http://schemas.microsoft.com/office/drawing/2014/main" id="{DEF3B239-6DF9-4A6A-A888-24BDF45EB06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A86D78-EE42-491D-A175-1136E4D6E8EA}"/>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22914107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0C929B-6EA8-47B3-8DA5-017CC8FD7B8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A6BE056-9331-4480-870B-78700DFA2B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6808AF5-7DAF-4AEE-9B41-D22EB978C44A}"/>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5" name="页脚占位符 4">
            <a:extLst>
              <a:ext uri="{FF2B5EF4-FFF2-40B4-BE49-F238E27FC236}">
                <a16:creationId xmlns:a16="http://schemas.microsoft.com/office/drawing/2014/main" id="{4E1838D3-A0DA-439D-ABE3-1FB2B1A5968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B6E6A7-F282-43D3-AE53-46ADB2B53BB2}"/>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2984795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95D0A-C3B7-40FD-B9B4-B2783E9E23B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153CECE-9ADB-4C17-88D0-6472A1A21D2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A84CF5F-CE6E-491B-80DB-73871A9F7EE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DBA5F0A-382A-4BD8-B50A-2A6CAC3F581D}"/>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6" name="页脚占位符 5">
            <a:extLst>
              <a:ext uri="{FF2B5EF4-FFF2-40B4-BE49-F238E27FC236}">
                <a16:creationId xmlns:a16="http://schemas.microsoft.com/office/drawing/2014/main" id="{0FC05CA1-E596-4BDF-A363-4E47E4E88A2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DE09D8D-9511-4949-A8BD-5F8270E082D8}"/>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2066459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D3DF04-1226-4904-9C02-0A993068221B}"/>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64C9BFA-1964-4002-98F1-79F03DF328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F63FA8D-F819-460C-BE1A-E4B1AB310436}"/>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A6510B5-BC54-48FF-A675-C353182501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0BAF782-FA83-4179-B343-D9D8F1A5038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6398057-FB01-43F9-A1A4-02880562F64B}"/>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8" name="页脚占位符 7">
            <a:extLst>
              <a:ext uri="{FF2B5EF4-FFF2-40B4-BE49-F238E27FC236}">
                <a16:creationId xmlns:a16="http://schemas.microsoft.com/office/drawing/2014/main" id="{047D8F46-02C5-4AEF-AB46-BD6D223369C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672C0ED-1D5A-4BA1-A101-EDAC5A8A4BFB}"/>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4166082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DA842A-3D72-4E86-8CF1-254F8FC46B1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A01863A-843F-46C2-85DC-642012CAA9AC}"/>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4" name="页脚占位符 3">
            <a:extLst>
              <a:ext uri="{FF2B5EF4-FFF2-40B4-BE49-F238E27FC236}">
                <a16:creationId xmlns:a16="http://schemas.microsoft.com/office/drawing/2014/main" id="{49BEDB95-9BDD-40AC-A461-3A97B47569B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A1881292-3495-40EA-ABC3-176DA4C00AEA}"/>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2619430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797D37B-914D-4563-AE05-FDDF7A2B5564}"/>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3" name="页脚占位符 2">
            <a:extLst>
              <a:ext uri="{FF2B5EF4-FFF2-40B4-BE49-F238E27FC236}">
                <a16:creationId xmlns:a16="http://schemas.microsoft.com/office/drawing/2014/main" id="{7034E21E-5CD5-4848-B84A-9246727DCF66}"/>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A148FB1-3E0E-489B-90AC-0F4D2F3DAF60}"/>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859893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062B20-97A8-4E2C-8623-C63A89DB9EE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8F8C3B-1B31-4586-AF47-6151AA97194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F081976-5B63-4526-814E-58B851C600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64F9160-500A-41B4-80A3-BD9EA3C21CD2}"/>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6" name="页脚占位符 5">
            <a:extLst>
              <a:ext uri="{FF2B5EF4-FFF2-40B4-BE49-F238E27FC236}">
                <a16:creationId xmlns:a16="http://schemas.microsoft.com/office/drawing/2014/main" id="{69C7F237-A8AC-49B1-AEE9-7BBC791987A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7F1A940-9E36-447E-85FC-893862A4E589}"/>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3538138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D074BF-5270-4BE5-BCF8-6360D3FDE48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101F99A-52D7-4D5A-9F51-28544B67AB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CB97AF38-7F8A-4611-9575-4C0C835F99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383C77-FCDB-4890-8529-1CEB3BBC4FD6}"/>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6" name="页脚占位符 5">
            <a:extLst>
              <a:ext uri="{FF2B5EF4-FFF2-40B4-BE49-F238E27FC236}">
                <a16:creationId xmlns:a16="http://schemas.microsoft.com/office/drawing/2014/main" id="{081392A8-07DC-479A-B274-0B2392BE39D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4C769FE-DECD-4C4E-BF2B-77DBC0C66BAC}"/>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21041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C3FA00-96E3-472D-B6EA-5F8A055D096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8E95CDF-BF11-4BE8-BF3B-9F499A63E436}"/>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34DC57-9476-43F4-8A18-3113CBEDEF73}"/>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5" name="页脚占位符 4">
            <a:extLst>
              <a:ext uri="{FF2B5EF4-FFF2-40B4-BE49-F238E27FC236}">
                <a16:creationId xmlns:a16="http://schemas.microsoft.com/office/drawing/2014/main" id="{E4D33A9F-05D9-46CD-9901-6942683F09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17FE83C-80C3-4B25-8312-CFCB583A3F00}"/>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34736220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585838D-1C66-4CE2-9960-AA0B69FD91A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66BF569D-3828-4FBC-B7C1-D059832991B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2E7C3F-5903-486A-AF44-7B08B9C23402}"/>
              </a:ext>
            </a:extLst>
          </p:cNvPr>
          <p:cNvSpPr>
            <a:spLocks noGrp="1"/>
          </p:cNvSpPr>
          <p:nvPr>
            <p:ph type="dt" sz="half" idx="10"/>
          </p:nvPr>
        </p:nvSpPr>
        <p:spPr/>
        <p:txBody>
          <a:bodyPr/>
          <a:lstStyle/>
          <a:p>
            <a:fld id="{E779C32C-0F4F-4638-91E1-10F454183488}" type="datetimeFigureOut">
              <a:rPr lang="zh-CN" altLang="en-US" smtClean="0"/>
              <a:t>2020/3/26</a:t>
            </a:fld>
            <a:endParaRPr lang="zh-CN" altLang="en-US"/>
          </a:p>
        </p:txBody>
      </p:sp>
      <p:sp>
        <p:nvSpPr>
          <p:cNvPr id="5" name="页脚占位符 4">
            <a:extLst>
              <a:ext uri="{FF2B5EF4-FFF2-40B4-BE49-F238E27FC236}">
                <a16:creationId xmlns:a16="http://schemas.microsoft.com/office/drawing/2014/main" id="{3FF9F4BA-3240-45D4-A399-DC88C574E5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AAC5699-33F2-4CB4-AAF2-74068475757D}"/>
              </a:ext>
            </a:extLst>
          </p:cNvPr>
          <p:cNvSpPr>
            <a:spLocks noGrp="1"/>
          </p:cNvSpPr>
          <p:nvPr>
            <p:ph type="sldNum" sz="quarter" idx="12"/>
          </p:nvPr>
        </p:nvSpPr>
        <p:spPr/>
        <p:txBody>
          <a:body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2584712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1F9E692-F607-4B25-8C72-F20677ACB3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98BE49E-0E25-4200-8E46-462811A5A7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39E9AAA-F815-49A6-84FF-724B77A62F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79C32C-0F4F-4638-91E1-10F454183488}" type="datetimeFigureOut">
              <a:rPr lang="zh-CN" altLang="en-US" smtClean="0"/>
              <a:t>2020/3/26</a:t>
            </a:fld>
            <a:endParaRPr lang="zh-CN" altLang="en-US"/>
          </a:p>
        </p:txBody>
      </p:sp>
      <p:sp>
        <p:nvSpPr>
          <p:cNvPr id="5" name="页脚占位符 4">
            <a:extLst>
              <a:ext uri="{FF2B5EF4-FFF2-40B4-BE49-F238E27FC236}">
                <a16:creationId xmlns:a16="http://schemas.microsoft.com/office/drawing/2014/main" id="{B7E1FFA6-4CE2-43BA-979A-85408888F14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23938A3-28E6-4B34-A233-6B0F19F3BF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D0B89C-8202-42E6-A265-B9B4CE88827F}" type="slidenum">
              <a:rPr lang="zh-CN" altLang="en-US" smtClean="0"/>
              <a:t>‹#›</a:t>
            </a:fld>
            <a:endParaRPr lang="zh-CN" altLang="en-US"/>
          </a:p>
        </p:txBody>
      </p:sp>
    </p:spTree>
    <p:extLst>
      <p:ext uri="{BB962C8B-B14F-4D97-AF65-F5344CB8AC3E}">
        <p14:creationId xmlns:p14="http://schemas.microsoft.com/office/powerpoint/2010/main" val="2532602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2C5181-ED1C-4836-8D65-4FB152BFCE5F}"/>
              </a:ext>
            </a:extLst>
          </p:cNvPr>
          <p:cNvSpPr>
            <a:spLocks noGrp="1"/>
          </p:cNvSpPr>
          <p:nvPr>
            <p:ph type="ctrTitle"/>
          </p:nvPr>
        </p:nvSpPr>
        <p:spPr>
          <a:xfrm>
            <a:off x="171880" y="661725"/>
            <a:ext cx="12020120" cy="1655762"/>
          </a:xfrm>
        </p:spPr>
        <p:txBody>
          <a:bodyPr>
            <a:normAutofit/>
          </a:bodyPr>
          <a:lstStyle/>
          <a:p>
            <a:r>
              <a:rPr lang="en-US" altLang="zh-CN" sz="4800" dirty="0"/>
              <a:t>Deep Learning for Precipitation Nowcasting:</a:t>
            </a:r>
            <a:br>
              <a:rPr lang="en-US" altLang="zh-CN" sz="4800" dirty="0"/>
            </a:br>
            <a:r>
              <a:rPr lang="en-US" altLang="zh-CN" sz="4800" dirty="0"/>
              <a:t>A Benchmark and A New Model</a:t>
            </a:r>
            <a:endParaRPr lang="zh-CN" altLang="en-US" sz="4800" dirty="0"/>
          </a:p>
        </p:txBody>
      </p:sp>
      <p:sp>
        <p:nvSpPr>
          <p:cNvPr id="3" name="副标题 2">
            <a:extLst>
              <a:ext uri="{FF2B5EF4-FFF2-40B4-BE49-F238E27FC236}">
                <a16:creationId xmlns:a16="http://schemas.microsoft.com/office/drawing/2014/main" id="{625729C4-7F25-48A3-A08F-82230DF77EB9}"/>
              </a:ext>
            </a:extLst>
          </p:cNvPr>
          <p:cNvSpPr>
            <a:spLocks noGrp="1"/>
          </p:cNvSpPr>
          <p:nvPr>
            <p:ph type="subTitle" idx="1"/>
          </p:nvPr>
        </p:nvSpPr>
        <p:spPr>
          <a:xfrm>
            <a:off x="673767" y="2530069"/>
            <a:ext cx="11220307" cy="3348217"/>
          </a:xfrm>
        </p:spPr>
        <p:txBody>
          <a:bodyPr/>
          <a:lstStyle/>
          <a:p>
            <a:r>
              <a:rPr lang="en-US" altLang="zh-CN" dirty="0"/>
              <a:t>Xingjian Shi, </a:t>
            </a:r>
            <a:r>
              <a:rPr lang="en-US" altLang="zh-CN" dirty="0" err="1"/>
              <a:t>Zhihan</a:t>
            </a:r>
            <a:r>
              <a:rPr lang="en-US" altLang="zh-CN" dirty="0"/>
              <a:t> Gao, Leonard </a:t>
            </a:r>
            <a:r>
              <a:rPr lang="en-US" altLang="zh-CN" dirty="0" err="1"/>
              <a:t>Lausen</a:t>
            </a:r>
            <a:r>
              <a:rPr lang="en-US" altLang="zh-CN" dirty="0"/>
              <a:t>, Hao Wang, </a:t>
            </a:r>
            <a:r>
              <a:rPr lang="en-US" altLang="zh-CN" dirty="0" err="1"/>
              <a:t>Dit</a:t>
            </a:r>
            <a:r>
              <a:rPr lang="en-US" altLang="zh-CN" dirty="0"/>
              <a:t>-Yan Yeung</a:t>
            </a:r>
          </a:p>
          <a:p>
            <a:r>
              <a:rPr lang="en-US" altLang="zh-CN" dirty="0"/>
              <a:t>Department of Computer Science and Engineering</a:t>
            </a:r>
          </a:p>
          <a:p>
            <a:r>
              <a:rPr lang="en-US" altLang="zh-CN" dirty="0"/>
              <a:t>Hong Kong University of Science and Technology</a:t>
            </a:r>
            <a:endParaRPr lang="zh-CN" altLang="en-US" dirty="0"/>
          </a:p>
        </p:txBody>
      </p:sp>
    </p:spTree>
    <p:extLst>
      <p:ext uri="{BB962C8B-B14F-4D97-AF65-F5344CB8AC3E}">
        <p14:creationId xmlns:p14="http://schemas.microsoft.com/office/powerpoint/2010/main" val="3839976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1BD06C-368B-48C8-81AB-81C8625FFF76}"/>
              </a:ext>
            </a:extLst>
          </p:cNvPr>
          <p:cNvSpPr>
            <a:spLocks noGrp="1"/>
          </p:cNvSpPr>
          <p:nvPr>
            <p:ph type="title"/>
          </p:nvPr>
        </p:nvSpPr>
        <p:spPr/>
        <p:txBody>
          <a:bodyPr/>
          <a:lstStyle/>
          <a:p>
            <a:r>
              <a:rPr lang="zh-CN" altLang="en-US" dirty="0"/>
              <a:t>简介</a:t>
            </a:r>
          </a:p>
        </p:txBody>
      </p:sp>
      <p:sp>
        <p:nvSpPr>
          <p:cNvPr id="3" name="内容占位符 2">
            <a:extLst>
              <a:ext uri="{FF2B5EF4-FFF2-40B4-BE49-F238E27FC236}">
                <a16:creationId xmlns:a16="http://schemas.microsoft.com/office/drawing/2014/main" id="{33853327-B3CA-457A-871B-B411625DB9C6}"/>
              </a:ext>
            </a:extLst>
          </p:cNvPr>
          <p:cNvSpPr>
            <a:spLocks noGrp="1"/>
          </p:cNvSpPr>
          <p:nvPr>
            <p:ph idx="1"/>
          </p:nvPr>
        </p:nvSpPr>
        <p:spPr>
          <a:xfrm>
            <a:off x="680071" y="1495616"/>
            <a:ext cx="10515600" cy="4351338"/>
          </a:xfrm>
        </p:spPr>
        <p:txBody>
          <a:bodyPr/>
          <a:lstStyle/>
          <a:p>
            <a:r>
              <a:rPr lang="zh-CN" altLang="en-US" sz="1600" dirty="0"/>
              <a:t>降水临近预报是指利用</a:t>
            </a:r>
            <a:r>
              <a:rPr lang="zh-CN" altLang="en-US" sz="1600" b="1" dirty="0"/>
              <a:t>雷达回波图</a:t>
            </a:r>
            <a:r>
              <a:rPr lang="en-US" altLang="zh-CN" sz="1600" b="1" dirty="0"/>
              <a:t>1</a:t>
            </a:r>
            <a:r>
              <a:rPr lang="zh-CN" altLang="en-US" sz="1600" b="1" dirty="0"/>
              <a:t>、雨量计</a:t>
            </a:r>
            <a:r>
              <a:rPr lang="zh-CN" altLang="en-US" sz="1600" dirty="0"/>
              <a:t>等观测数据，结合数值天气预报</a:t>
            </a:r>
            <a:r>
              <a:rPr lang="en-US" altLang="zh-CN" sz="1600" dirty="0"/>
              <a:t>(NWP)</a:t>
            </a:r>
            <a:r>
              <a:rPr lang="zh-CN" altLang="en-US" sz="1600" dirty="0"/>
              <a:t>模型，对局部地区降水强度进行极短时间</a:t>
            </a:r>
            <a:r>
              <a:rPr lang="en-US" altLang="zh-CN" sz="1600" dirty="0"/>
              <a:t>(</a:t>
            </a:r>
            <a:r>
              <a:rPr lang="zh-CN" altLang="en-US" sz="1600" dirty="0"/>
              <a:t>如</a:t>
            </a:r>
            <a:r>
              <a:rPr lang="en-US" altLang="zh-CN" sz="1600" dirty="0"/>
              <a:t>0-6</a:t>
            </a:r>
            <a:r>
              <a:rPr lang="zh-CN" altLang="en-US" sz="1600" dirty="0"/>
              <a:t>小时</a:t>
            </a:r>
            <a:r>
              <a:rPr lang="en-US" altLang="zh-CN" sz="1600" dirty="0"/>
              <a:t>)</a:t>
            </a:r>
            <a:r>
              <a:rPr lang="zh-CN" altLang="en-US" sz="1600" dirty="0"/>
              <a:t>预报的问题。</a:t>
            </a:r>
            <a:endParaRPr lang="zh-CN" altLang="en-US" dirty="0"/>
          </a:p>
        </p:txBody>
      </p:sp>
      <p:pic>
        <p:nvPicPr>
          <p:cNvPr id="5" name="图片 4" descr="黑色的屏幕&#10;&#10;描述已自动生成">
            <a:extLst>
              <a:ext uri="{FF2B5EF4-FFF2-40B4-BE49-F238E27FC236}">
                <a16:creationId xmlns:a16="http://schemas.microsoft.com/office/drawing/2014/main" id="{9DC8E8E9-780F-4F39-BD30-9DE05DB01F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9244" y="2105527"/>
            <a:ext cx="5028627" cy="2473095"/>
          </a:xfrm>
          <a:prstGeom prst="rect">
            <a:avLst/>
          </a:prstGeom>
        </p:spPr>
      </p:pic>
      <p:sp>
        <p:nvSpPr>
          <p:cNvPr id="6" name="文本框 5">
            <a:extLst>
              <a:ext uri="{FF2B5EF4-FFF2-40B4-BE49-F238E27FC236}">
                <a16:creationId xmlns:a16="http://schemas.microsoft.com/office/drawing/2014/main" id="{EE08320F-424A-4C4D-9A78-E7B5409FE9F8}"/>
              </a:ext>
            </a:extLst>
          </p:cNvPr>
          <p:cNvSpPr txBox="1"/>
          <p:nvPr/>
        </p:nvSpPr>
        <p:spPr>
          <a:xfrm>
            <a:off x="1003777" y="5300770"/>
            <a:ext cx="5262979" cy="923330"/>
          </a:xfrm>
          <a:prstGeom prst="rect">
            <a:avLst/>
          </a:prstGeom>
          <a:noFill/>
        </p:spPr>
        <p:txBody>
          <a:bodyPr wrap="none" rtlCol="0">
            <a:spAutoFit/>
          </a:bodyPr>
          <a:lstStyle/>
          <a:p>
            <a:r>
              <a:rPr lang="zh-CN" altLang="en-US" dirty="0"/>
              <a:t>相同点：外形运动特征相似，雨量计（烟雾浓度）</a:t>
            </a:r>
            <a:endParaRPr lang="en-US" altLang="zh-CN" dirty="0"/>
          </a:p>
          <a:p>
            <a:r>
              <a:rPr lang="zh-CN" altLang="en-US" dirty="0"/>
              <a:t>不同点：降水临近预报     时空序列预测问题</a:t>
            </a:r>
            <a:endParaRPr lang="en-US" altLang="zh-CN" dirty="0"/>
          </a:p>
          <a:p>
            <a:r>
              <a:rPr lang="en-US" altLang="zh-CN" dirty="0"/>
              <a:t>	</a:t>
            </a:r>
            <a:r>
              <a:rPr lang="zh-CN" altLang="en-US" dirty="0"/>
              <a:t>烟雾分割            视频语义分割</a:t>
            </a:r>
          </a:p>
        </p:txBody>
      </p:sp>
    </p:spTree>
    <p:extLst>
      <p:ext uri="{BB962C8B-B14F-4D97-AF65-F5344CB8AC3E}">
        <p14:creationId xmlns:p14="http://schemas.microsoft.com/office/powerpoint/2010/main" val="6812374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6CFBDC04-57F6-4256-AE46-E8DC843ABB98}"/>
              </a:ext>
            </a:extLst>
          </p:cNvPr>
          <p:cNvPicPr>
            <a:picLocks noChangeAspect="1"/>
          </p:cNvPicPr>
          <p:nvPr/>
        </p:nvPicPr>
        <p:blipFill>
          <a:blip r:embed="rId2"/>
          <a:stretch>
            <a:fillRect/>
          </a:stretch>
        </p:blipFill>
        <p:spPr>
          <a:xfrm>
            <a:off x="142624" y="789216"/>
            <a:ext cx="5158197" cy="4477180"/>
          </a:xfrm>
          <a:prstGeom prst="rect">
            <a:avLst/>
          </a:prstGeom>
        </p:spPr>
      </p:pic>
      <p:sp>
        <p:nvSpPr>
          <p:cNvPr id="5" name="椭圆 4">
            <a:extLst>
              <a:ext uri="{FF2B5EF4-FFF2-40B4-BE49-F238E27FC236}">
                <a16:creationId xmlns:a16="http://schemas.microsoft.com/office/drawing/2014/main" id="{8C2F7AC7-F208-483B-9FD6-36D632E3C920}"/>
              </a:ext>
            </a:extLst>
          </p:cNvPr>
          <p:cNvSpPr/>
          <p:nvPr/>
        </p:nvSpPr>
        <p:spPr>
          <a:xfrm>
            <a:off x="1601919" y="790649"/>
            <a:ext cx="2454442" cy="29958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箭头连接符 12">
            <a:extLst>
              <a:ext uri="{FF2B5EF4-FFF2-40B4-BE49-F238E27FC236}">
                <a16:creationId xmlns:a16="http://schemas.microsoft.com/office/drawing/2014/main" id="{7BC2C148-A22A-4612-B00D-65B2E087FC0F}"/>
              </a:ext>
            </a:extLst>
          </p:cNvPr>
          <p:cNvCxnSpPr/>
          <p:nvPr/>
        </p:nvCxnSpPr>
        <p:spPr>
          <a:xfrm flipV="1">
            <a:off x="3526971" y="789216"/>
            <a:ext cx="2495694" cy="48269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814B057A-90B7-48AE-873D-E49E487513E5}"/>
              </a:ext>
            </a:extLst>
          </p:cNvPr>
          <p:cNvSpPr txBox="1"/>
          <p:nvPr/>
        </p:nvSpPr>
        <p:spPr>
          <a:xfrm>
            <a:off x="5981413" y="604550"/>
            <a:ext cx="926857" cy="369332"/>
          </a:xfrm>
          <a:prstGeom prst="rect">
            <a:avLst/>
          </a:prstGeom>
          <a:noFill/>
        </p:spPr>
        <p:txBody>
          <a:bodyPr wrap="none" rtlCol="0">
            <a:spAutoFit/>
          </a:bodyPr>
          <a:lstStyle/>
          <a:p>
            <a:r>
              <a:rPr lang="en-US" altLang="zh-CN" dirty="0"/>
              <a:t>3D</a:t>
            </a:r>
            <a:r>
              <a:rPr lang="zh-CN" altLang="en-US" dirty="0"/>
              <a:t>卷积</a:t>
            </a:r>
          </a:p>
        </p:txBody>
      </p:sp>
      <p:sp>
        <p:nvSpPr>
          <p:cNvPr id="15" name="文本框 14">
            <a:extLst>
              <a:ext uri="{FF2B5EF4-FFF2-40B4-BE49-F238E27FC236}">
                <a16:creationId xmlns:a16="http://schemas.microsoft.com/office/drawing/2014/main" id="{B49D0A9A-507E-4BE5-9847-BA3AC280102F}"/>
              </a:ext>
            </a:extLst>
          </p:cNvPr>
          <p:cNvSpPr txBox="1"/>
          <p:nvPr/>
        </p:nvSpPr>
        <p:spPr>
          <a:xfrm>
            <a:off x="6023091" y="2344546"/>
            <a:ext cx="6513322" cy="1323439"/>
          </a:xfrm>
          <a:prstGeom prst="rect">
            <a:avLst/>
          </a:prstGeom>
          <a:noFill/>
        </p:spPr>
        <p:txBody>
          <a:bodyPr wrap="none" rtlCol="0">
            <a:spAutoFit/>
          </a:bodyPr>
          <a:lstStyle/>
          <a:p>
            <a:r>
              <a:rPr lang="en-US" altLang="zh-CN" sz="4000" dirty="0"/>
              <a:t>RNN</a:t>
            </a:r>
            <a:r>
              <a:rPr lang="zh-CN" altLang="en-US" sz="4000" dirty="0"/>
              <a:t>：</a:t>
            </a:r>
            <a:r>
              <a:rPr lang="en-US" altLang="zh-CN" sz="4000" dirty="0" err="1"/>
              <a:t>convgru</a:t>
            </a:r>
            <a:endParaRPr lang="en-US" altLang="zh-CN" sz="4000" dirty="0"/>
          </a:p>
          <a:p>
            <a:r>
              <a:rPr lang="en-US" altLang="zh-CN" sz="4000" dirty="0"/>
              <a:t>	     </a:t>
            </a:r>
            <a:r>
              <a:rPr lang="en-US" altLang="zh-CN" sz="4000" dirty="0" err="1"/>
              <a:t>trajgru</a:t>
            </a:r>
            <a:r>
              <a:rPr lang="zh-CN" altLang="en-US" sz="4000" dirty="0"/>
              <a:t>（本文提出）</a:t>
            </a:r>
          </a:p>
        </p:txBody>
      </p:sp>
      <p:sp>
        <p:nvSpPr>
          <p:cNvPr id="16" name="文本框 15">
            <a:extLst>
              <a:ext uri="{FF2B5EF4-FFF2-40B4-BE49-F238E27FC236}">
                <a16:creationId xmlns:a16="http://schemas.microsoft.com/office/drawing/2014/main" id="{33525EF6-822A-4E77-B307-F7DF3915F74D}"/>
              </a:ext>
            </a:extLst>
          </p:cNvPr>
          <p:cNvSpPr txBox="1"/>
          <p:nvPr/>
        </p:nvSpPr>
        <p:spPr>
          <a:xfrm>
            <a:off x="694394" y="686937"/>
            <a:ext cx="7555831" cy="646331"/>
          </a:xfrm>
          <a:prstGeom prst="rect">
            <a:avLst/>
          </a:prstGeom>
          <a:noFill/>
        </p:spPr>
        <p:txBody>
          <a:bodyPr wrap="square" rtlCol="0">
            <a:spAutoFit/>
          </a:bodyPr>
          <a:lstStyle/>
          <a:p>
            <a:r>
              <a:rPr lang="zh-CN" altLang="en-US" sz="3600" dirty="0"/>
              <a:t>模型结构</a:t>
            </a:r>
          </a:p>
        </p:txBody>
      </p:sp>
      <p:sp>
        <p:nvSpPr>
          <p:cNvPr id="17" name="矩形 16">
            <a:extLst>
              <a:ext uri="{FF2B5EF4-FFF2-40B4-BE49-F238E27FC236}">
                <a16:creationId xmlns:a16="http://schemas.microsoft.com/office/drawing/2014/main" id="{F38E3711-3DF5-46A7-8F3A-58F000431BF1}"/>
              </a:ext>
            </a:extLst>
          </p:cNvPr>
          <p:cNvSpPr/>
          <p:nvPr/>
        </p:nvSpPr>
        <p:spPr>
          <a:xfrm>
            <a:off x="538556" y="5528794"/>
            <a:ext cx="11653443" cy="923330"/>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The reason to reverse the order of the forecasting network is that the high-level states, which have captured the global spatiotemporal </a:t>
            </a:r>
            <a:r>
              <a:rPr lang="en-US" altLang="zh-CN" dirty="0" err="1">
                <a:latin typeface="Times New Roman" panose="02020603050405020304" pitchFamily="18" charset="0"/>
                <a:cs typeface="Times New Roman" panose="02020603050405020304" pitchFamily="18" charset="0"/>
              </a:rPr>
              <a:t>representation,could</a:t>
            </a:r>
            <a:r>
              <a:rPr lang="en-US" altLang="zh-CN" dirty="0">
                <a:latin typeface="Times New Roman" panose="02020603050405020304" pitchFamily="18" charset="0"/>
                <a:cs typeface="Times New Roman" panose="02020603050405020304" pitchFamily="18" charset="0"/>
              </a:rPr>
              <a:t> guide the update of the low-level states. Moreover, the low-level states could further influence the prediction.</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0336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A661D9-9D50-4830-8D81-1C53B125CBEF}"/>
              </a:ext>
            </a:extLst>
          </p:cNvPr>
          <p:cNvSpPr>
            <a:spLocks noGrp="1"/>
          </p:cNvSpPr>
          <p:nvPr>
            <p:ph type="title"/>
          </p:nvPr>
        </p:nvSpPr>
        <p:spPr/>
        <p:txBody>
          <a:bodyPr/>
          <a:lstStyle/>
          <a:p>
            <a:r>
              <a:rPr lang="en-US" altLang="zh-CN" dirty="0" err="1"/>
              <a:t>convGRU</a:t>
            </a:r>
            <a:endParaRPr lang="zh-CN" altLang="en-US" dirty="0"/>
          </a:p>
        </p:txBody>
      </p:sp>
      <p:pic>
        <p:nvPicPr>
          <p:cNvPr id="4" name="内容占位符 3">
            <a:extLst>
              <a:ext uri="{FF2B5EF4-FFF2-40B4-BE49-F238E27FC236}">
                <a16:creationId xmlns:a16="http://schemas.microsoft.com/office/drawing/2014/main" id="{D40F802F-B6F1-47E4-8F86-9FF78684F25D}"/>
              </a:ext>
            </a:extLst>
          </p:cNvPr>
          <p:cNvPicPr>
            <a:picLocks noGrp="1" noChangeAspect="1"/>
          </p:cNvPicPr>
          <p:nvPr>
            <p:ph idx="1"/>
          </p:nvPr>
        </p:nvPicPr>
        <p:blipFill>
          <a:blip r:embed="rId2"/>
          <a:stretch>
            <a:fillRect/>
          </a:stretch>
        </p:blipFill>
        <p:spPr>
          <a:xfrm>
            <a:off x="368467" y="1747306"/>
            <a:ext cx="4808824" cy="1580285"/>
          </a:xfrm>
          <a:prstGeom prst="rect">
            <a:avLst/>
          </a:prstGeom>
        </p:spPr>
      </p:pic>
      <p:pic>
        <p:nvPicPr>
          <p:cNvPr id="6" name="图片 5" descr="手机屏幕截图&#10;&#10;描述已自动生成">
            <a:extLst>
              <a:ext uri="{FF2B5EF4-FFF2-40B4-BE49-F238E27FC236}">
                <a16:creationId xmlns:a16="http://schemas.microsoft.com/office/drawing/2014/main" id="{D4FC93AE-3BA4-4AB4-AB5A-7D00A8949C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5795" y="110628"/>
            <a:ext cx="5727032" cy="3273355"/>
          </a:xfrm>
          <a:prstGeom prst="rect">
            <a:avLst/>
          </a:prstGeom>
        </p:spPr>
      </p:pic>
      <p:pic>
        <p:nvPicPr>
          <p:cNvPr id="1026" name="Picture 2">
            <a:extLst>
              <a:ext uri="{FF2B5EF4-FFF2-40B4-BE49-F238E27FC236}">
                <a16:creationId xmlns:a16="http://schemas.microsoft.com/office/drawing/2014/main" id="{1E15CFAC-2E47-4A15-853A-7806708BDC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8467" y="3914956"/>
            <a:ext cx="6241416" cy="1641682"/>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E235EDA4-E576-4E79-81ED-2E8B2018FD18}"/>
              </a:ext>
            </a:extLst>
          </p:cNvPr>
          <p:cNvSpPr/>
          <p:nvPr/>
        </p:nvSpPr>
        <p:spPr>
          <a:xfrm>
            <a:off x="368467" y="5608251"/>
            <a:ext cx="11085596" cy="1200329"/>
          </a:xfrm>
          <a:prstGeom prst="rect">
            <a:avLst/>
          </a:prstGeom>
        </p:spPr>
        <p:txBody>
          <a:bodyPr wrap="square">
            <a:spAutoFit/>
          </a:bodyPr>
          <a:lstStyle/>
          <a:p>
            <a:r>
              <a:rPr lang="en-US" altLang="zh-CN" dirty="0">
                <a:latin typeface="Times New Roman" panose="02020603050405020304" pitchFamily="18" charset="0"/>
                <a:cs typeface="Times New Roman" panose="02020603050405020304" pitchFamily="18" charset="0"/>
              </a:rPr>
              <a:t>However, the convolutional recurrence structure in </a:t>
            </a:r>
            <a:r>
              <a:rPr lang="en-US" altLang="zh-CN" dirty="0" err="1">
                <a:latin typeface="Times New Roman" panose="02020603050405020304" pitchFamily="18" charset="0"/>
                <a:cs typeface="Times New Roman" panose="02020603050405020304" pitchFamily="18" charset="0"/>
              </a:rPr>
              <a:t>ConvLSTM</a:t>
            </a:r>
            <a:r>
              <a:rPr lang="en-US" altLang="zh-CN" dirty="0">
                <a:latin typeface="Times New Roman" panose="02020603050405020304" pitchFamily="18" charset="0"/>
                <a:cs typeface="Times New Roman" panose="02020603050405020304" pitchFamily="18" charset="0"/>
              </a:rPr>
              <a:t>-based models is location-invariant while natural motion and transformation (e.g., rotation) are location-variant in general.</a:t>
            </a:r>
          </a:p>
          <a:p>
            <a:r>
              <a:rPr lang="en-US" altLang="zh-CN" dirty="0">
                <a:latin typeface="Times New Roman" panose="02020603050405020304" pitchFamily="18" charset="0"/>
                <a:cs typeface="Times New Roman" panose="02020603050405020304" pitchFamily="18" charset="0"/>
              </a:rPr>
              <a:t>Trajectory GRU (</a:t>
            </a:r>
            <a:r>
              <a:rPr lang="en-US" altLang="zh-CN" dirty="0" err="1">
                <a:latin typeface="Times New Roman" panose="02020603050405020304" pitchFamily="18" charset="0"/>
                <a:cs typeface="Times New Roman" panose="02020603050405020304" pitchFamily="18" charset="0"/>
              </a:rPr>
              <a:t>TrajGRU</a:t>
            </a:r>
            <a:r>
              <a:rPr lang="en-US" altLang="zh-CN" dirty="0">
                <a:latin typeface="Times New Roman" panose="02020603050405020304" pitchFamily="18" charset="0"/>
                <a:cs typeface="Times New Roman" panose="02020603050405020304" pitchFamily="18" charset="0"/>
              </a:rPr>
              <a:t>) model that can actively learn the location-variant structure for</a:t>
            </a:r>
          </a:p>
          <a:p>
            <a:r>
              <a:rPr lang="en-US" altLang="zh-CN" dirty="0">
                <a:latin typeface="Times New Roman" panose="02020603050405020304" pitchFamily="18" charset="0"/>
                <a:cs typeface="Times New Roman" panose="02020603050405020304" pitchFamily="18" charset="0"/>
              </a:rPr>
              <a:t>recurrent connections</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343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0CFB25-6DB5-496D-9054-D9DF75459370}"/>
              </a:ext>
            </a:extLst>
          </p:cNvPr>
          <p:cNvSpPr>
            <a:spLocks noGrp="1"/>
          </p:cNvSpPr>
          <p:nvPr>
            <p:ph type="title"/>
          </p:nvPr>
        </p:nvSpPr>
        <p:spPr>
          <a:xfrm>
            <a:off x="838200" y="681036"/>
            <a:ext cx="10515600" cy="542747"/>
          </a:xfrm>
        </p:spPr>
        <p:txBody>
          <a:bodyPr>
            <a:normAutofit fontScale="90000"/>
          </a:bodyPr>
          <a:lstStyle/>
          <a:p>
            <a:r>
              <a:rPr lang="en-US" altLang="zh-CN" dirty="0">
                <a:latin typeface="Times New Roman" panose="02020603050405020304" pitchFamily="18" charset="0"/>
                <a:cs typeface="Times New Roman" panose="02020603050405020304" pitchFamily="18" charset="0"/>
              </a:rPr>
              <a:t>Trajectory GRU</a:t>
            </a:r>
            <a:br>
              <a:rPr lang="en-US" altLang="zh-CN" b="1" dirty="0"/>
            </a:br>
            <a:endParaRPr lang="zh-CN" altLang="en-US" dirty="0"/>
          </a:p>
        </p:txBody>
      </p:sp>
      <p:sp>
        <p:nvSpPr>
          <p:cNvPr id="3" name="内容占位符 2">
            <a:extLst>
              <a:ext uri="{FF2B5EF4-FFF2-40B4-BE49-F238E27FC236}">
                <a16:creationId xmlns:a16="http://schemas.microsoft.com/office/drawing/2014/main" id="{623A6B80-5D08-4479-BE0E-5FD3A49C3CFA}"/>
              </a:ext>
            </a:extLst>
          </p:cNvPr>
          <p:cNvSpPr>
            <a:spLocks noGrp="1"/>
          </p:cNvSpPr>
          <p:nvPr>
            <p:ph idx="1"/>
          </p:nvPr>
        </p:nvSpPr>
        <p:spPr>
          <a:xfrm>
            <a:off x="721321" y="1083105"/>
            <a:ext cx="10515600" cy="4351338"/>
          </a:xfrm>
        </p:spPr>
        <p:txBody>
          <a:bodyPr>
            <a:normAutofit/>
          </a:bodyPr>
          <a:lstStyle/>
          <a:p>
            <a:r>
              <a:rPr lang="zh-CN" altLang="en-US" sz="1400" dirty="0"/>
              <a:t>当用于获取时空相关性时，</a:t>
            </a:r>
            <a:r>
              <a:rPr lang="en-US" altLang="zh-CN" sz="1400" dirty="0" err="1"/>
              <a:t>ConvGRU</a:t>
            </a:r>
            <a:r>
              <a:rPr lang="zh-CN" altLang="en-US" sz="1400" dirty="0"/>
              <a:t>或者其他</a:t>
            </a:r>
            <a:r>
              <a:rPr lang="en-US" altLang="zh-CN" sz="1400" dirty="0" err="1"/>
              <a:t>ConvRNNs</a:t>
            </a:r>
            <a:r>
              <a:rPr lang="zh-CN" altLang="en-US" sz="1400" dirty="0"/>
              <a:t>等的不足在于所有位置的连接结构和权值都是固定的。卷积运算基本上是对输入应用一个位置不变的滤波器。如果输入都是</a:t>
            </a:r>
            <a:r>
              <a:rPr lang="en-US" altLang="zh-CN" sz="1400" dirty="0"/>
              <a:t>0</a:t>
            </a:r>
            <a:r>
              <a:rPr lang="zh-CN" altLang="en-US" sz="1400" dirty="0"/>
              <a:t>，重置门都是</a:t>
            </a:r>
            <a:r>
              <a:rPr lang="en-US" altLang="zh-CN" sz="1400" dirty="0"/>
              <a:t>1</a:t>
            </a:r>
            <a:r>
              <a:rPr lang="zh-CN" altLang="en-US" sz="1400" dirty="0"/>
              <a:t>，我们可以在一个特定的位置</a:t>
            </a:r>
            <a:r>
              <a:rPr lang="en-US" altLang="zh-CN" sz="1400" dirty="0"/>
              <a:t>(</a:t>
            </a:r>
            <a:r>
              <a:rPr lang="en-US" altLang="zh-CN" sz="1400" dirty="0" err="1"/>
              <a:t>i</a:t>
            </a:r>
            <a:r>
              <a:rPr lang="zh-CN" altLang="en-US" sz="1400" dirty="0"/>
              <a:t>，</a:t>
            </a:r>
            <a:r>
              <a:rPr lang="en-US" altLang="zh-CN" sz="1400" dirty="0"/>
              <a:t>j) t</a:t>
            </a:r>
            <a:r>
              <a:rPr lang="zh-CN" altLang="en-US" sz="1400" dirty="0"/>
              <a:t>时刻，重写获取新状态的计算过程，具体如下</a:t>
            </a:r>
            <a:r>
              <a:rPr lang="en-US" altLang="zh-CN" sz="1400" dirty="0"/>
              <a:t>:</a:t>
            </a:r>
            <a:endParaRPr lang="zh-CN" altLang="en-US" sz="1400" dirty="0"/>
          </a:p>
        </p:txBody>
      </p:sp>
      <p:pic>
        <p:nvPicPr>
          <p:cNvPr id="4" name="图片 3">
            <a:extLst>
              <a:ext uri="{FF2B5EF4-FFF2-40B4-BE49-F238E27FC236}">
                <a16:creationId xmlns:a16="http://schemas.microsoft.com/office/drawing/2014/main" id="{23490981-CFC2-45AF-BC19-BF483B644EE2}"/>
              </a:ext>
            </a:extLst>
          </p:cNvPr>
          <p:cNvPicPr>
            <a:picLocks noChangeAspect="1"/>
          </p:cNvPicPr>
          <p:nvPr/>
        </p:nvPicPr>
        <p:blipFill>
          <a:blip r:embed="rId2"/>
          <a:stretch>
            <a:fillRect/>
          </a:stretch>
        </p:blipFill>
        <p:spPr>
          <a:xfrm>
            <a:off x="955079" y="1715798"/>
            <a:ext cx="9249762" cy="2081588"/>
          </a:xfrm>
          <a:prstGeom prst="rect">
            <a:avLst/>
          </a:prstGeom>
        </p:spPr>
      </p:pic>
      <p:sp>
        <p:nvSpPr>
          <p:cNvPr id="5" name="矩形 4">
            <a:extLst>
              <a:ext uri="{FF2B5EF4-FFF2-40B4-BE49-F238E27FC236}">
                <a16:creationId xmlns:a16="http://schemas.microsoft.com/office/drawing/2014/main" id="{E675B408-1FC9-4C9D-8BB7-F8DA1C70891B}"/>
              </a:ext>
            </a:extLst>
          </p:cNvPr>
          <p:cNvSpPr/>
          <p:nvPr/>
        </p:nvSpPr>
        <p:spPr>
          <a:xfrm>
            <a:off x="838200" y="3805187"/>
            <a:ext cx="10693400" cy="1228028"/>
          </a:xfrm>
          <a:prstGeom prst="rect">
            <a:avLst/>
          </a:prstGeom>
        </p:spPr>
        <p:txBody>
          <a:bodyPr wrap="square">
            <a:spAutoFit/>
          </a:bodyPr>
          <a:lstStyle/>
          <a:p>
            <a:pPr marL="228600" indent="-228600">
              <a:lnSpc>
                <a:spcPct val="90000"/>
              </a:lnSpc>
              <a:spcBef>
                <a:spcPts val="1000"/>
              </a:spcBef>
              <a:buFont typeface="Arial" panose="020B0604020202020204" pitchFamily="34" charset="0"/>
              <a:buChar char="•"/>
            </a:pPr>
            <a:r>
              <a:rPr lang="zh-CN" altLang="en-US" sz="1400" dirty="0"/>
              <a:t>当卷积的超参数固定时，邻域集合</a:t>
            </a:r>
            <a:r>
              <a:rPr lang="en-US" altLang="zh-CN" sz="1400" dirty="0"/>
              <a:t>N</a:t>
            </a:r>
            <a:r>
              <a:rPr lang="zh-CN" altLang="en-US" sz="1400" dirty="0"/>
              <a:t>对所有位置保持不变。然而，大多数运动模式对于不同的位置有不同的邻域集。例如，旋转和缩放会产生指向不同方向的不同角度的流场。因此，更合理的做法是使用基于位置变化的连接结构</a:t>
            </a:r>
            <a:r>
              <a:rPr lang="en-US" altLang="zh-CN" sz="1400" dirty="0"/>
              <a:t>location-variant connection structure</a:t>
            </a:r>
            <a:r>
              <a:rPr lang="zh-CN" altLang="en-US" sz="1400" dirty="0"/>
              <a:t>：</a:t>
            </a:r>
          </a:p>
          <a:p>
            <a:br>
              <a:rPr lang="en-US" altLang="zh-CN" dirty="0"/>
            </a:br>
            <a:endParaRPr lang="zh-CN" altLang="en-US" dirty="0"/>
          </a:p>
        </p:txBody>
      </p:sp>
      <p:pic>
        <p:nvPicPr>
          <p:cNvPr id="2050" name="Picture 2">
            <a:extLst>
              <a:ext uri="{FF2B5EF4-FFF2-40B4-BE49-F238E27FC236}">
                <a16:creationId xmlns:a16="http://schemas.microsoft.com/office/drawing/2014/main" id="{6407463C-5976-4B30-935C-E25DF0101F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0543" y="4583816"/>
            <a:ext cx="7686675" cy="9144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6966BDE1-F886-40DF-96DC-39FE5085402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411" y="5434443"/>
            <a:ext cx="10267950" cy="619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625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62F07349-9D09-4609-B22A-A66D05CB2293}"/>
              </a:ext>
            </a:extLst>
          </p:cNvPr>
          <p:cNvSpPr>
            <a:spLocks noGrp="1"/>
          </p:cNvSpPr>
          <p:nvPr>
            <p:ph idx="1"/>
          </p:nvPr>
        </p:nvSpPr>
        <p:spPr>
          <a:xfrm>
            <a:off x="838200" y="295633"/>
            <a:ext cx="10515600" cy="5881330"/>
          </a:xfrm>
        </p:spPr>
        <p:txBody>
          <a:bodyPr>
            <a:normAutofit/>
          </a:bodyPr>
          <a:lstStyle/>
          <a:p>
            <a:r>
              <a:rPr lang="zh-CN" altLang="en-US" sz="1800" dirty="0"/>
              <a:t>基于此，我们提出了</a:t>
            </a:r>
            <a:r>
              <a:rPr lang="en-US" altLang="zh-CN" sz="1800" dirty="0" err="1"/>
              <a:t>TrajGRU</a:t>
            </a:r>
            <a:r>
              <a:rPr lang="zh-CN" altLang="en-US" sz="1800" dirty="0"/>
              <a:t>，它使用当前输入和以前的状态在每个时间戳为每个位置生成本地邻域集。由于位置指数是离散的、不可微的，我们用一组连续的光流来表示它们“指标”。</a:t>
            </a:r>
            <a:r>
              <a:rPr lang="en-US" altLang="zh-CN" sz="1800" dirty="0" err="1"/>
              <a:t>TrajGRU</a:t>
            </a:r>
            <a:r>
              <a:rPr lang="zh-CN" altLang="en-US" sz="1800" dirty="0"/>
              <a:t>的主要公式如下</a:t>
            </a:r>
            <a:r>
              <a:rPr lang="en-US" altLang="zh-CN" sz="1800" dirty="0"/>
              <a:t>:</a:t>
            </a:r>
            <a:endParaRPr lang="zh-CN" altLang="en-US" sz="1800" dirty="0"/>
          </a:p>
        </p:txBody>
      </p:sp>
      <p:pic>
        <p:nvPicPr>
          <p:cNvPr id="4" name="图片 3">
            <a:extLst>
              <a:ext uri="{FF2B5EF4-FFF2-40B4-BE49-F238E27FC236}">
                <a16:creationId xmlns:a16="http://schemas.microsoft.com/office/drawing/2014/main" id="{6C0FFA1F-FC57-4CD5-88E2-DD2CC3AA2511}"/>
              </a:ext>
            </a:extLst>
          </p:cNvPr>
          <p:cNvPicPr>
            <a:picLocks noChangeAspect="1"/>
          </p:cNvPicPr>
          <p:nvPr/>
        </p:nvPicPr>
        <p:blipFill>
          <a:blip r:embed="rId2"/>
          <a:stretch>
            <a:fillRect/>
          </a:stretch>
        </p:blipFill>
        <p:spPr>
          <a:xfrm>
            <a:off x="1067214" y="1562189"/>
            <a:ext cx="5807974" cy="3517838"/>
          </a:xfrm>
          <a:prstGeom prst="rect">
            <a:avLst/>
          </a:prstGeom>
        </p:spPr>
      </p:pic>
      <p:sp>
        <p:nvSpPr>
          <p:cNvPr id="5" name="矩形 4">
            <a:extLst>
              <a:ext uri="{FF2B5EF4-FFF2-40B4-BE49-F238E27FC236}">
                <a16:creationId xmlns:a16="http://schemas.microsoft.com/office/drawing/2014/main" id="{8B7D0CD1-8BAB-4D37-9A06-DBE3D5F8CFB8}"/>
              </a:ext>
            </a:extLst>
          </p:cNvPr>
          <p:cNvSpPr/>
          <p:nvPr/>
        </p:nvSpPr>
        <p:spPr>
          <a:xfrm>
            <a:off x="923201" y="5085039"/>
            <a:ext cx="11060252" cy="923330"/>
          </a:xfrm>
          <a:prstGeom prst="rect">
            <a:avLst/>
          </a:prstGeom>
        </p:spPr>
        <p:txBody>
          <a:bodyPr wrap="square">
            <a:spAutoFit/>
          </a:bodyPr>
          <a:lstStyle/>
          <a:p>
            <a:r>
              <a:rPr lang="zh-CN" altLang="en-US" b="0" i="0" dirty="0">
                <a:solidFill>
                  <a:srgbClr val="1A1A1A"/>
                </a:solidFill>
                <a:effectLst/>
                <a:latin typeface="-apple-system"/>
              </a:rPr>
              <a:t>这种结构的优点是</a:t>
            </a:r>
            <a:r>
              <a:rPr lang="en-US" altLang="zh-CN" b="0" i="0" dirty="0">
                <a:solidFill>
                  <a:srgbClr val="1A1A1A"/>
                </a:solidFill>
                <a:effectLst/>
                <a:latin typeface="-apple-system"/>
              </a:rPr>
              <a:t>,</a:t>
            </a:r>
            <a:r>
              <a:rPr lang="zh-CN" altLang="en-US" b="0" i="0" dirty="0">
                <a:solidFill>
                  <a:srgbClr val="1A1A1A"/>
                </a:solidFill>
                <a:effectLst/>
                <a:latin typeface="-apple-system"/>
              </a:rPr>
              <a:t>我们可以学习子网的连接拓扑通过学习参数</a:t>
            </a:r>
            <a:r>
              <a:rPr lang="en-US" altLang="zh-CN" b="0" i="0" dirty="0">
                <a:solidFill>
                  <a:srgbClr val="1A1A1A"/>
                </a:solidFill>
                <a:effectLst/>
                <a:latin typeface="-apple-system"/>
              </a:rPr>
              <a:t>γ</a:t>
            </a:r>
            <a:r>
              <a:rPr lang="zh-CN" altLang="en-US" b="0" i="0" dirty="0">
                <a:solidFill>
                  <a:srgbClr val="1A1A1A"/>
                </a:solidFill>
                <a:effectLst/>
                <a:latin typeface="-apple-system"/>
              </a:rPr>
              <a:t>。在我们的实验中</a:t>
            </a:r>
            <a:r>
              <a:rPr lang="en-US" altLang="zh-CN" b="0" i="0" dirty="0">
                <a:solidFill>
                  <a:srgbClr val="1A1A1A"/>
                </a:solidFill>
                <a:effectLst/>
                <a:latin typeface="-apple-system"/>
              </a:rPr>
              <a:t>,γ</a:t>
            </a:r>
            <a:r>
              <a:rPr lang="zh-CN" altLang="en-US" b="0" i="0" dirty="0">
                <a:solidFill>
                  <a:srgbClr val="1A1A1A"/>
                </a:solidFill>
                <a:effectLst/>
                <a:latin typeface="-apple-system"/>
              </a:rPr>
              <a:t>需要连接的</a:t>
            </a:r>
            <a:r>
              <a:rPr lang="en-US" altLang="zh-CN" b="0" i="0" dirty="0" err="1">
                <a:solidFill>
                  <a:srgbClr val="1A1A1A"/>
                </a:solidFill>
                <a:effectLst/>
                <a:latin typeface="-apple-system"/>
              </a:rPr>
              <a:t>Xt</a:t>
            </a:r>
            <a:r>
              <a:rPr lang="zh-CN" altLang="en-US" b="0" i="0" dirty="0">
                <a:solidFill>
                  <a:srgbClr val="1A1A1A"/>
                </a:solidFill>
                <a:effectLst/>
                <a:latin typeface="-apple-system"/>
              </a:rPr>
              <a:t>和</a:t>
            </a:r>
            <a:r>
              <a:rPr lang="en-US" altLang="zh-CN" b="0" i="0" dirty="0">
                <a:solidFill>
                  <a:srgbClr val="1A1A1A"/>
                </a:solidFill>
                <a:effectLst/>
                <a:latin typeface="-apple-system"/>
              </a:rPr>
              <a:t>Ht−1</a:t>
            </a:r>
            <a:r>
              <a:rPr lang="zh-CN" altLang="en-US" b="0" i="0" dirty="0">
                <a:solidFill>
                  <a:srgbClr val="1A1A1A"/>
                </a:solidFill>
                <a:effectLst/>
                <a:latin typeface="-apple-system"/>
              </a:rPr>
              <a:t>作为输入和固定是</a:t>
            </a:r>
            <a:r>
              <a:rPr lang="en-US" altLang="zh-CN" b="0" i="0" dirty="0">
                <a:solidFill>
                  <a:srgbClr val="1A1A1A"/>
                </a:solidFill>
                <a:effectLst/>
                <a:latin typeface="-apple-system"/>
              </a:rPr>
              <a:t>one-hidden-layer</a:t>
            </a:r>
            <a:r>
              <a:rPr lang="zh-CN" altLang="en-US" b="0" i="0" dirty="0">
                <a:solidFill>
                  <a:srgbClr val="1A1A1A"/>
                </a:solidFill>
                <a:effectLst/>
                <a:latin typeface="-apple-system"/>
              </a:rPr>
              <a:t>的卷积神经网络（</a:t>
            </a:r>
            <a:r>
              <a:rPr lang="en-US" altLang="zh-CN" b="0" i="0" dirty="0">
                <a:solidFill>
                  <a:srgbClr val="1A1A1A"/>
                </a:solidFill>
                <a:effectLst/>
                <a:latin typeface="-apple-system"/>
              </a:rPr>
              <a:t>5×5</a:t>
            </a:r>
            <a:r>
              <a:rPr lang="zh-CN" altLang="en-US" b="0" i="0" dirty="0">
                <a:solidFill>
                  <a:srgbClr val="1A1A1A"/>
                </a:solidFill>
                <a:effectLst/>
                <a:latin typeface="-apple-system"/>
              </a:rPr>
              <a:t>的</a:t>
            </a:r>
            <a:r>
              <a:rPr lang="en-US" altLang="zh-CN" b="0" i="0" dirty="0">
                <a:solidFill>
                  <a:srgbClr val="1A1A1A"/>
                </a:solidFill>
                <a:effectLst/>
                <a:latin typeface="-apple-system"/>
              </a:rPr>
              <a:t>kernel size</a:t>
            </a:r>
            <a:r>
              <a:rPr lang="zh-CN" altLang="en-US" b="0" i="0" dirty="0">
                <a:solidFill>
                  <a:srgbClr val="1A1A1A"/>
                </a:solidFill>
                <a:effectLst/>
                <a:latin typeface="-apple-system"/>
              </a:rPr>
              <a:t>和</a:t>
            </a:r>
            <a:r>
              <a:rPr lang="en-US" altLang="zh-CN" b="0" i="0" dirty="0">
                <a:solidFill>
                  <a:srgbClr val="1A1A1A"/>
                </a:solidFill>
                <a:effectLst/>
                <a:latin typeface="-apple-system"/>
              </a:rPr>
              <a:t>32</a:t>
            </a:r>
            <a:r>
              <a:rPr lang="zh-CN" altLang="en-US" b="0" i="0" dirty="0">
                <a:solidFill>
                  <a:srgbClr val="1A1A1A"/>
                </a:solidFill>
                <a:effectLst/>
                <a:latin typeface="-apple-system"/>
              </a:rPr>
              <a:t>个</a:t>
            </a:r>
            <a:r>
              <a:rPr lang="en-US" altLang="zh-CN" b="0" i="0" dirty="0">
                <a:solidFill>
                  <a:srgbClr val="1A1A1A"/>
                </a:solidFill>
                <a:effectLst/>
                <a:latin typeface="-apple-system"/>
              </a:rPr>
              <a:t>filter</a:t>
            </a:r>
            <a:r>
              <a:rPr lang="zh-CN" altLang="en-US" b="0" i="0" dirty="0">
                <a:solidFill>
                  <a:srgbClr val="1A1A1A"/>
                </a:solidFill>
                <a:effectLst/>
                <a:latin typeface="-apple-system"/>
              </a:rPr>
              <a:t>）。因此</a:t>
            </a:r>
            <a:r>
              <a:rPr lang="en-US" altLang="zh-CN" b="0" i="0" dirty="0">
                <a:solidFill>
                  <a:srgbClr val="1A1A1A"/>
                </a:solidFill>
                <a:effectLst/>
                <a:latin typeface="-apple-system"/>
              </a:rPr>
              <a:t>,γ</a:t>
            </a:r>
            <a:r>
              <a:rPr lang="zh-CN" altLang="en-US" b="0" i="0" dirty="0">
                <a:solidFill>
                  <a:srgbClr val="1A1A1A"/>
                </a:solidFill>
                <a:effectLst/>
                <a:latin typeface="-apple-system"/>
              </a:rPr>
              <a:t>只有少量的参数并增加几乎没有成本的整体计算量。</a:t>
            </a:r>
            <a:endParaRPr lang="zh-CN" altLang="en-US" dirty="0"/>
          </a:p>
        </p:txBody>
      </p:sp>
      <p:pic>
        <p:nvPicPr>
          <p:cNvPr id="6" name="Picture 2">
            <a:extLst>
              <a:ext uri="{FF2B5EF4-FFF2-40B4-BE49-F238E27FC236}">
                <a16:creationId xmlns:a16="http://schemas.microsoft.com/office/drawing/2014/main" id="{4DC04DAA-4B93-447D-B478-CDD6B30316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59819" y="980259"/>
            <a:ext cx="2764967" cy="3866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145724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1680</TotalTime>
  <Words>482</Words>
  <Application>Microsoft Office PowerPoint</Application>
  <PresentationFormat>宽屏</PresentationFormat>
  <Paragraphs>24</Paragraphs>
  <Slides>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vt:i4>
      </vt:variant>
    </vt:vector>
  </HeadingPairs>
  <TitlesOfParts>
    <vt:vector size="12" baseType="lpstr">
      <vt:lpstr>-apple-system</vt:lpstr>
      <vt:lpstr>等线</vt:lpstr>
      <vt:lpstr>等线 Light</vt:lpstr>
      <vt:lpstr>Arial</vt:lpstr>
      <vt:lpstr>Times New Roman</vt:lpstr>
      <vt:lpstr>Office 主题​​</vt:lpstr>
      <vt:lpstr>Deep Learning for Precipitation Nowcasting: A Benchmark and A New Model</vt:lpstr>
      <vt:lpstr>简介</vt:lpstr>
      <vt:lpstr>PowerPoint 演示文稿</vt:lpstr>
      <vt:lpstr>convGRU</vt:lpstr>
      <vt:lpstr>Trajectory GRU </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林 昊琪</dc:creator>
  <cp:lastModifiedBy>林 昊琪</cp:lastModifiedBy>
  <cp:revision>9</cp:revision>
  <dcterms:created xsi:type="dcterms:W3CDTF">2020-03-26T01:20:01Z</dcterms:created>
  <dcterms:modified xsi:type="dcterms:W3CDTF">2020-03-27T05:20:46Z</dcterms:modified>
</cp:coreProperties>
</file>