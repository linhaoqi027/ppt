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03" r:id="rId2"/>
    <p:sldId id="367" r:id="rId3"/>
    <p:sldId id="374" r:id="rId4"/>
    <p:sldId id="377" r:id="rId5"/>
    <p:sldId id="378" r:id="rId6"/>
    <p:sldId id="379" r:id="rId7"/>
    <p:sldId id="380" r:id="rId8"/>
    <p:sldId id="353" r:id="rId9"/>
  </p:sldIdLst>
  <p:sldSz cx="12192000" cy="6858000"/>
  <p:notesSz cx="6858000" cy="9144000"/>
  <p:embeddedFontLst>
    <p:embeddedFont>
      <p:font typeface="Rockwell" panose="02060603020205020403" pitchFamily="18" charset="0"/>
      <p:regular r:id="rId12"/>
      <p:bold r:id="rId13"/>
      <p:italic r:id="rId14"/>
      <p:boldItalic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等线" panose="02010600030101010101" pitchFamily="2" charset="-122"/>
      <p:regular r:id="rId20"/>
      <p:bold r:id="rId21"/>
    </p:embeddedFont>
    <p:embeddedFont>
      <p:font typeface="微软雅黑" panose="020B0503020204020204" pitchFamily="34" charset="-122"/>
      <p:regular r:id="rId22"/>
      <p:bold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3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00"/>
    <a:srgbClr val="0000FF"/>
    <a:srgbClr val="3333FF"/>
    <a:srgbClr val="009900"/>
    <a:srgbClr val="660066"/>
    <a:srgbClr val="CC00FF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72884" autoAdjust="0"/>
  </p:normalViewPr>
  <p:slideViewPr>
    <p:cSldViewPr snapToGrid="0" snapToObjects="1">
      <p:cViewPr varScale="1">
        <p:scale>
          <a:sx n="59" d="100"/>
          <a:sy n="59" d="100"/>
        </p:scale>
        <p:origin x="1363" y="62"/>
      </p:cViewPr>
      <p:guideLst>
        <p:guide pos="3823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318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137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5063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8080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34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61400" y="1254582"/>
            <a:ext cx="8469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00B050"/>
                </a:solidFill>
                <a:latin typeface="Rockwell" panose="02060603020205020403" pitchFamily="18" charset="0"/>
              </a:rPr>
              <a:t>文献复现进度汇报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25915" y="4754245"/>
            <a:ext cx="2574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  </a:t>
            </a:r>
            <a:r>
              <a:rPr lang="zh-CN" altLang="en-US" sz="3200" b="1" dirty="0">
                <a:latin typeface="+mn-ea"/>
              </a:rPr>
              <a:t>陶翔翔</a:t>
            </a:r>
            <a:endParaRPr lang="en-US" altLang="zh-CN" sz="3200" b="1" dirty="0">
              <a:latin typeface="+mn-ea"/>
            </a:endParaRPr>
          </a:p>
          <a:p>
            <a:r>
              <a:rPr lang="en-US" altLang="zh-CN" sz="3200" b="1" dirty="0">
                <a:latin typeface="+mn-ea"/>
              </a:rPr>
              <a:t>2020.3.26</a:t>
            </a:r>
            <a:endParaRPr lang="zh-CN" altLang="en-US" sz="32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ieeexplore.ieee.org/mediastore_new/IEEE/content/media/8359997/8363198/8363717/8363717-fig-2-source-larg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73444" y="258370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文献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73876" y="18567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FB5F85-DC29-4221-A3C3-1008D2E5A38C}"/>
              </a:ext>
            </a:extLst>
          </p:cNvPr>
          <p:cNvSpPr/>
          <p:nvPr/>
        </p:nvSpPr>
        <p:spPr>
          <a:xfrm>
            <a:off x="1341237" y="1443841"/>
            <a:ext cx="95095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Tian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Hongda,Li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Wanqing,Ogunbona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Philip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O,Wang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Lei.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Separation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of Smoke From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Image Frames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.[J]. IEEE transactions on image processing: a publication of the IEEE Signal Processing Society,2018,27(3).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模块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1203962"/>
            <a:ext cx="9592098" cy="7121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数据集：</a:t>
            </a:r>
            <a:r>
              <a:rPr lang="en-US" altLang="zh-CN" sz="2800" dirty="0"/>
              <a:t>CIFAR10,CIFAR100</a:t>
            </a:r>
            <a:r>
              <a:rPr lang="zh-CN" altLang="en-US" sz="2800" dirty="0"/>
              <a:t>数据集读取成矩阵，</a:t>
            </a:r>
            <a:r>
              <a:rPr lang="en-US" altLang="zh-CN" sz="2800" dirty="0"/>
              <a:t>RGB</a:t>
            </a:r>
            <a:r>
              <a:rPr lang="zh-CN" altLang="en-US" sz="2800" dirty="0"/>
              <a:t>图片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稀疏表示：</a:t>
            </a:r>
            <a:r>
              <a:rPr lang="en-US" altLang="zh-CN" sz="2800" dirty="0"/>
              <a:t>K-</a:t>
            </a:r>
            <a:r>
              <a:rPr lang="en-US" altLang="zh-CN" sz="2800" dirty="0" err="1"/>
              <a:t>svd</a:t>
            </a:r>
            <a:r>
              <a:rPr lang="zh-CN" altLang="en-US" sz="2800" dirty="0"/>
              <a:t>进行字典学习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SVM</a:t>
            </a:r>
            <a:r>
              <a:rPr lang="zh-CN" altLang="en-US" sz="2800" dirty="0"/>
              <a:t>分类器：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SMO</a:t>
            </a:r>
            <a:r>
              <a:rPr lang="zh-CN" altLang="en-US" sz="2800" dirty="0"/>
              <a:t>算法进行线性分类；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RBF</a:t>
            </a:r>
            <a:r>
              <a:rPr lang="zh-CN" altLang="en-US" sz="2800" dirty="0"/>
              <a:t>核函数进行非线性分类；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 err="1"/>
              <a:t>Sklearn.svm.svc</a:t>
            </a:r>
            <a:r>
              <a:rPr lang="zh-CN" altLang="en-US" sz="2800" dirty="0"/>
              <a:t>进行非线性分类；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学习非烟字典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853166"/>
            <a:ext cx="9592098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直接用</a:t>
            </a:r>
            <a:r>
              <a:rPr lang="en-US" altLang="zh-CN" sz="2800" dirty="0"/>
              <a:t>CIFAR100</a:t>
            </a:r>
            <a:r>
              <a:rPr lang="zh-CN" altLang="en-US" sz="2800" dirty="0"/>
              <a:t>的</a:t>
            </a:r>
            <a:r>
              <a:rPr lang="en-US" altLang="zh-CN" sz="2800" dirty="0"/>
              <a:t>3*32*32</a:t>
            </a:r>
            <a:r>
              <a:rPr lang="zh-CN" altLang="en-US" sz="2800" dirty="0"/>
              <a:t>图片学习非烟雾字典</a:t>
            </a:r>
            <a:endParaRPr lang="en-US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7E39B-1153-4134-B225-8A40EFD763C4}"/>
              </a:ext>
            </a:extLst>
          </p:cNvPr>
          <p:cNvSpPr/>
          <p:nvPr/>
        </p:nvSpPr>
        <p:spPr>
          <a:xfrm>
            <a:off x="1293021" y="1781171"/>
            <a:ext cx="357336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train_data (1000, 3072)</a:t>
            </a:r>
          </a:p>
          <a:p>
            <a:r>
              <a:rPr lang="zh-CN" altLang="en-US" dirty="0"/>
              <a:t>train_label (1000,)</a:t>
            </a:r>
            <a:endParaRPr lang="en-US" altLang="zh-CN" dirty="0"/>
          </a:p>
          <a:p>
            <a:r>
              <a:rPr lang="zh-CN" altLang="en-US" dirty="0"/>
              <a:t>字典维度 </a:t>
            </a:r>
            <a:r>
              <a:rPr lang="en-US" altLang="zh-CN" dirty="0"/>
              <a:t>(1000, 50)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0</a:t>
            </a:r>
            <a:r>
              <a:rPr lang="zh-CN" altLang="en-US" dirty="0"/>
              <a:t>次迭代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维度 </a:t>
            </a:r>
            <a:r>
              <a:rPr lang="en-US" altLang="zh-CN" dirty="0"/>
              <a:t>(50, 3072)</a:t>
            </a:r>
          </a:p>
          <a:p>
            <a:r>
              <a:rPr lang="en-US" altLang="zh-CN" dirty="0"/>
              <a:t>e= 69902.53366882777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次迭代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维度 </a:t>
            </a:r>
            <a:r>
              <a:rPr lang="en-US" altLang="zh-CN" dirty="0"/>
              <a:t>(50, 3072)</a:t>
            </a:r>
          </a:p>
          <a:p>
            <a:r>
              <a:rPr lang="en-US" altLang="zh-CN" dirty="0"/>
              <a:t>e= 64384.5021770854</a:t>
            </a:r>
          </a:p>
          <a:p>
            <a:r>
              <a:rPr lang="en-US" altLang="zh-CN" dirty="0"/>
              <a:t>…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28</a:t>
            </a:r>
            <a:r>
              <a:rPr lang="zh-CN" altLang="en-US" dirty="0"/>
              <a:t>次迭代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维度 </a:t>
            </a:r>
            <a:r>
              <a:rPr lang="en-US" altLang="zh-CN" dirty="0"/>
              <a:t>(50, 3072)</a:t>
            </a:r>
          </a:p>
          <a:p>
            <a:r>
              <a:rPr lang="en-US" altLang="zh-CN" dirty="0"/>
              <a:t>e= 48010.250253632745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29</a:t>
            </a:r>
            <a:r>
              <a:rPr lang="zh-CN" altLang="en-US" dirty="0"/>
              <a:t>次迭代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维度 </a:t>
            </a:r>
            <a:r>
              <a:rPr lang="en-US" altLang="zh-CN" dirty="0"/>
              <a:t>(50, 3072)</a:t>
            </a:r>
          </a:p>
          <a:p>
            <a:r>
              <a:rPr lang="en-US" altLang="zh-CN" dirty="0"/>
              <a:t>e= 47957.625940473736</a:t>
            </a:r>
          </a:p>
          <a:p>
            <a:r>
              <a:rPr lang="en-US" altLang="zh-CN" dirty="0" err="1"/>
              <a:t>sparsecode</a:t>
            </a:r>
            <a:r>
              <a:rPr lang="zh-CN" altLang="en-US" dirty="0"/>
              <a:t>维度 </a:t>
            </a:r>
            <a:r>
              <a:rPr lang="en-US" altLang="zh-CN" dirty="0"/>
              <a:t>(50, 3072)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B8FCC4-DDFF-47DF-B801-1493DB496FF9}"/>
              </a:ext>
            </a:extLst>
          </p:cNvPr>
          <p:cNvSpPr/>
          <p:nvPr/>
        </p:nvSpPr>
        <p:spPr>
          <a:xfrm>
            <a:off x="4575682" y="1781171"/>
            <a:ext cx="335715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train_data (1000, 3072)</a:t>
            </a:r>
          </a:p>
          <a:p>
            <a:r>
              <a:rPr lang="zh-CN" altLang="en-US" dirty="0"/>
              <a:t>train_label (1000,)</a:t>
            </a:r>
          </a:p>
          <a:p>
            <a:r>
              <a:rPr lang="zh-CN" altLang="en-US" dirty="0"/>
              <a:t>字典维度 (1000, 100)</a:t>
            </a:r>
          </a:p>
          <a:p>
            <a:r>
              <a:rPr lang="zh-CN" altLang="en-US" dirty="0"/>
              <a:t>第0次迭代</a:t>
            </a:r>
          </a:p>
          <a:p>
            <a:r>
              <a:rPr lang="zh-CN" altLang="en-US" dirty="0"/>
              <a:t>x维度 (100, 3072)</a:t>
            </a:r>
          </a:p>
          <a:p>
            <a:r>
              <a:rPr lang="zh-CN" altLang="en-US" dirty="0"/>
              <a:t>e= 58674.11180300881</a:t>
            </a:r>
          </a:p>
          <a:p>
            <a:r>
              <a:rPr lang="zh-CN" altLang="en-US" dirty="0"/>
              <a:t>第1次迭代</a:t>
            </a:r>
          </a:p>
          <a:p>
            <a:r>
              <a:rPr lang="zh-CN" altLang="en-US" dirty="0"/>
              <a:t>x维度 (100, 3072)</a:t>
            </a:r>
          </a:p>
          <a:p>
            <a:r>
              <a:rPr lang="zh-CN" altLang="en-US" dirty="0"/>
              <a:t>e= 52029.769265839626</a:t>
            </a:r>
            <a:endParaRPr lang="en-US" altLang="zh-CN" dirty="0"/>
          </a:p>
          <a:p>
            <a:r>
              <a:rPr lang="en-US" altLang="zh-CN" dirty="0"/>
              <a:t>…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28</a:t>
            </a:r>
            <a:r>
              <a:rPr lang="zh-CN" altLang="en-US" dirty="0"/>
              <a:t>次迭代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维度 </a:t>
            </a:r>
            <a:r>
              <a:rPr lang="en-US" altLang="zh-CN" dirty="0"/>
              <a:t>(100, 3072)</a:t>
            </a:r>
          </a:p>
          <a:p>
            <a:r>
              <a:rPr lang="en-US" altLang="zh-CN" dirty="0"/>
              <a:t>e= 37873.53221609371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29</a:t>
            </a:r>
            <a:r>
              <a:rPr lang="zh-CN" altLang="en-US" dirty="0"/>
              <a:t>次迭代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维度 </a:t>
            </a:r>
            <a:r>
              <a:rPr lang="en-US" altLang="zh-CN" dirty="0"/>
              <a:t>(100, 3072)</a:t>
            </a:r>
          </a:p>
          <a:p>
            <a:r>
              <a:rPr lang="en-US" altLang="zh-CN" dirty="0"/>
              <a:t>e= 37823.2043846495</a:t>
            </a:r>
          </a:p>
          <a:p>
            <a:r>
              <a:rPr lang="en-US" altLang="zh-CN" dirty="0" err="1"/>
              <a:t>sparsecode</a:t>
            </a:r>
            <a:r>
              <a:rPr lang="zh-CN" altLang="en-US" dirty="0"/>
              <a:t>维度 </a:t>
            </a:r>
            <a:r>
              <a:rPr lang="en-US" altLang="zh-CN" dirty="0"/>
              <a:t>(100, 3072)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95B67C-51C6-4020-A8D6-5E351C33516D}"/>
              </a:ext>
            </a:extLst>
          </p:cNvPr>
          <p:cNvSpPr/>
          <p:nvPr/>
        </p:nvSpPr>
        <p:spPr>
          <a:xfrm>
            <a:off x="7678315" y="1781171"/>
            <a:ext cx="388231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train_data (10000, 3072)</a:t>
            </a:r>
          </a:p>
          <a:p>
            <a:r>
              <a:rPr lang="zh-CN" altLang="en-US" dirty="0"/>
              <a:t>train_label (10000,)</a:t>
            </a:r>
            <a:endParaRPr lang="en-US" altLang="zh-CN" dirty="0"/>
          </a:p>
          <a:p>
            <a:r>
              <a:rPr lang="zh-CN" altLang="en-US" dirty="0"/>
              <a:t>字典维度 </a:t>
            </a:r>
            <a:r>
              <a:rPr lang="en-US" altLang="zh-CN" dirty="0"/>
              <a:t>(10000, 100)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0</a:t>
            </a:r>
            <a:r>
              <a:rPr lang="zh-CN" altLang="en-US" dirty="0"/>
              <a:t>次迭代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维度 </a:t>
            </a:r>
            <a:r>
              <a:rPr lang="en-US" altLang="zh-CN" dirty="0"/>
              <a:t>(100, 3072)</a:t>
            </a:r>
          </a:p>
          <a:p>
            <a:r>
              <a:rPr lang="en-US" altLang="zh-CN" dirty="0"/>
              <a:t>e= 187389.16860184062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次迭代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维度 </a:t>
            </a:r>
            <a:r>
              <a:rPr lang="en-US" altLang="zh-CN" dirty="0"/>
              <a:t>(100, 3072)</a:t>
            </a:r>
          </a:p>
          <a:p>
            <a:r>
              <a:rPr lang="en-US" altLang="zh-CN" dirty="0"/>
              <a:t>e= 169620.47948242206</a:t>
            </a:r>
          </a:p>
          <a:p>
            <a:r>
              <a:rPr lang="en-US" altLang="zh-CN" dirty="0"/>
              <a:t>…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19</a:t>
            </a:r>
            <a:r>
              <a:rPr lang="zh-CN" altLang="en-US" dirty="0"/>
              <a:t>次迭代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维度 </a:t>
            </a:r>
            <a:r>
              <a:rPr lang="en-US" altLang="zh-CN" dirty="0"/>
              <a:t>(100, 3072)</a:t>
            </a:r>
          </a:p>
          <a:p>
            <a:r>
              <a:rPr lang="en-US" altLang="zh-CN" dirty="0"/>
              <a:t>e= 121929.53886736835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20</a:t>
            </a:r>
            <a:r>
              <a:rPr lang="zh-CN" altLang="en-US" dirty="0"/>
              <a:t>次迭代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维度 </a:t>
            </a:r>
            <a:r>
              <a:rPr lang="en-US" altLang="zh-CN" dirty="0"/>
              <a:t>(100, 3072)</a:t>
            </a:r>
          </a:p>
          <a:p>
            <a:r>
              <a:rPr lang="en-US" altLang="zh-CN" dirty="0"/>
              <a:t>e= 121658.05028476313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574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问题：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1203962"/>
            <a:ext cx="9592098" cy="5829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缺少数据集：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1000</a:t>
            </a:r>
            <a:r>
              <a:rPr lang="zh-CN" altLang="en-US" sz="2800" dirty="0"/>
              <a:t>张纯烟雾图像。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5000</a:t>
            </a:r>
            <a:r>
              <a:rPr lang="zh-CN" altLang="en-US" sz="2800" dirty="0"/>
              <a:t>个图像，对</a:t>
            </a:r>
            <a:r>
              <a:rPr lang="en-US" altLang="zh-CN" sz="2800" dirty="0"/>
              <a:t>25</a:t>
            </a:r>
            <a:r>
              <a:rPr lang="zh-CN" altLang="en-US" sz="2800" dirty="0"/>
              <a:t>个公开烟雾视频手动裁剪获得，涵盖室内室外、长短距离。一半是浓烟，另一半是轻烟。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常规非烟雾图像，测试检测算法。从</a:t>
            </a:r>
            <a:r>
              <a:rPr lang="en-US" altLang="zh-CN" sz="2800" dirty="0"/>
              <a:t>15</a:t>
            </a:r>
            <a:r>
              <a:rPr lang="zh-CN" altLang="en-US" sz="2800" dirty="0"/>
              <a:t>个场景数据集随机裁剪得到</a:t>
            </a:r>
            <a:r>
              <a:rPr lang="en-US" altLang="zh-CN" sz="2800" dirty="0"/>
              <a:t>5000</a:t>
            </a:r>
            <a:r>
              <a:rPr lang="zh-CN" altLang="en-US" sz="2800" dirty="0"/>
              <a:t>张图像。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有挑战性的非烟雾图像，挑战来自烟雾形成过程（雾</a:t>
            </a:r>
            <a:r>
              <a:rPr lang="en-US" altLang="zh-CN" sz="2800" dirty="0"/>
              <a:t>/</a:t>
            </a:r>
            <a:r>
              <a:rPr lang="zh-CN" altLang="en-US" sz="2800" dirty="0"/>
              <a:t>霾），透明度（阴影</a:t>
            </a:r>
            <a:r>
              <a:rPr lang="en-US" altLang="zh-CN" sz="2800" dirty="0"/>
              <a:t>/</a:t>
            </a:r>
            <a:r>
              <a:rPr lang="zh-CN" altLang="en-US" sz="2800" dirty="0"/>
              <a:t>玻璃）和同质性（天空</a:t>
            </a:r>
            <a:r>
              <a:rPr lang="en-US" altLang="zh-CN" sz="2800" dirty="0"/>
              <a:t>/</a:t>
            </a:r>
            <a:r>
              <a:rPr lang="zh-CN" altLang="en-US" sz="2800" dirty="0"/>
              <a:t>墙）。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75355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问题：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1203962"/>
            <a:ext cx="9592098" cy="5182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CIFAR100</a:t>
            </a:r>
            <a:r>
              <a:rPr lang="zh-CN" altLang="en-US" sz="2800" dirty="0"/>
              <a:t>的</a:t>
            </a:r>
            <a:r>
              <a:rPr lang="en-US" altLang="zh-CN" sz="2800" dirty="0"/>
              <a:t>3*32*32</a:t>
            </a:r>
            <a:r>
              <a:rPr lang="zh-CN" altLang="en-US" sz="2800" dirty="0"/>
              <a:t>如何裁剪为</a:t>
            </a:r>
            <a:r>
              <a:rPr lang="en-US" altLang="zh-CN" sz="2800" dirty="0"/>
              <a:t>16*16</a:t>
            </a:r>
            <a:r>
              <a:rPr lang="zh-CN" altLang="en-US" sz="2800" dirty="0"/>
              <a:t>尺寸用于非烟字典训练；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60000</a:t>
            </a:r>
            <a:r>
              <a:rPr lang="zh-CN" altLang="en-US" sz="2800" dirty="0"/>
              <a:t>张图片训练非烟字典速度太慢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字典维度</a:t>
            </a:r>
            <a:r>
              <a:rPr lang="en-US" altLang="zh-CN" sz="2800" dirty="0"/>
              <a:t>1000*100 or 100*3072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如何查找文献的数据集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67742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后续安排：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1203962"/>
            <a:ext cx="9592098" cy="3243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学习纯烟雾字典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将烟雾和背景分离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将稀疏系数的级联导入</a:t>
            </a:r>
            <a:r>
              <a:rPr lang="en-US" altLang="zh-CN" sz="2800" dirty="0"/>
              <a:t>SVM</a:t>
            </a:r>
            <a:r>
              <a:rPr lang="zh-CN" altLang="en-US" sz="2800" dirty="0"/>
              <a:t>分类器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75846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7122</TotalTime>
  <Words>534</Words>
  <Application>Microsoft Office PowerPoint</Application>
  <PresentationFormat>宽屏</PresentationFormat>
  <Paragraphs>87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Wingdings</vt:lpstr>
      <vt:lpstr>微软雅黑</vt:lpstr>
      <vt:lpstr>Segoe UI</vt:lpstr>
      <vt:lpstr>Rockwell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t xx</cp:lastModifiedBy>
  <cp:revision>2814</cp:revision>
  <dcterms:created xsi:type="dcterms:W3CDTF">2015-08-18T02:51:00Z</dcterms:created>
  <dcterms:modified xsi:type="dcterms:W3CDTF">2020-03-26T06:30:39Z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2052-10.8.2.6949</vt:lpwstr>
  </property>
</Properties>
</file>