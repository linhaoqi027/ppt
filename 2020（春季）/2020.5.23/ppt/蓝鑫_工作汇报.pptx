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305" r:id="rId3"/>
    <p:sldId id="308" r:id="rId4"/>
    <p:sldId id="304" r:id="rId5"/>
    <p:sldId id="309" r:id="rId6"/>
    <p:sldId id="306" r:id="rId7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2020/5/22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5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22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05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Motivation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515623" y="1042677"/>
            <a:ext cx="928299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多模态语义分割主要方法：</a:t>
            </a:r>
            <a:endParaRPr lang="en-US" altLang="zh-CN" sz="2000" b="1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1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编码器融合（</a:t>
            </a:r>
            <a:r>
              <a:rPr lang="en-US" altLang="zh-CN" sz="2000" dirty="0" err="1" smtClean="0"/>
              <a:t>RTFNet</a:t>
            </a:r>
            <a:r>
              <a:rPr lang="zh-CN" altLang="en-US" sz="2000" dirty="0" smtClean="0"/>
              <a:t>）。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2.</a:t>
            </a:r>
            <a:r>
              <a:rPr lang="zh-CN" altLang="en-US" sz="2000" dirty="0" smtClean="0"/>
              <a:t>解码器融合（</a:t>
            </a:r>
            <a:r>
              <a:rPr lang="en-US" altLang="zh-CN" sz="2000" dirty="0" err="1" smtClean="0"/>
              <a:t>MFNet</a:t>
            </a:r>
            <a:r>
              <a:rPr lang="zh-CN" altLang="en-US" sz="2000" dirty="0" smtClean="0"/>
              <a:t>）。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以上方法不能很好处理单独模态信息，因此提出多阶段多模态语义分割，前一阶段分别处理独立模态，第二阶段处理融合模态。考虑到实用性，因此采用轻量级网络。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Contribution:</a:t>
            </a:r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000" dirty="0" smtClean="0"/>
              <a:t>提出新的</a:t>
            </a:r>
            <a:r>
              <a:rPr lang="zh-CN" altLang="en-US" sz="2000" dirty="0" smtClean="0"/>
              <a:t>多模态多阶段语义</a:t>
            </a:r>
            <a:r>
              <a:rPr lang="zh-CN" altLang="en-US" sz="2000" dirty="0" smtClean="0"/>
              <a:t>分割模式。</a:t>
            </a:r>
            <a:endParaRPr lang="en-US" altLang="zh-CN" sz="2000" dirty="0" smtClean="0"/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000" dirty="0" smtClean="0"/>
              <a:t>设计 </a:t>
            </a:r>
            <a:r>
              <a:rPr lang="en-US" altLang="zh-CN" sz="2000" dirty="0" smtClean="0"/>
              <a:t>Efficient Feature Enhanced </a:t>
            </a:r>
            <a:r>
              <a:rPr lang="en-US" altLang="zh-CN" sz="2000" dirty="0" smtClean="0"/>
              <a:t>Module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Efficient Refinement Block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提升准确率的同时不增大太多参数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457200" indent="-457200">
              <a:lnSpc>
                <a:spcPct val="125000"/>
              </a:lnSpc>
              <a:buAutoNum type="arabicPeriod"/>
            </a:pPr>
            <a:r>
              <a:rPr lang="zh-CN" altLang="en-US" sz="2000" dirty="0" smtClean="0"/>
              <a:t>使用不同</a:t>
            </a:r>
            <a:r>
              <a:rPr lang="en-US" altLang="zh-CN" sz="2000" dirty="0" smtClean="0"/>
              <a:t>backbone</a:t>
            </a:r>
            <a:r>
              <a:rPr lang="zh-CN" altLang="en-US" sz="2000" dirty="0" smtClean="0"/>
              <a:t>，证明该模式能在</a:t>
            </a:r>
            <a:r>
              <a:rPr lang="zh-CN" altLang="en-US" sz="2000" dirty="0" smtClean="0"/>
              <a:t>参数</a:t>
            </a:r>
            <a:r>
              <a:rPr lang="zh-CN" altLang="en-US" sz="2000" dirty="0" smtClean="0"/>
              <a:t>和 </a:t>
            </a:r>
            <a:r>
              <a:rPr lang="en-US" altLang="zh-CN" sz="2000" dirty="0" err="1" smtClean="0"/>
              <a:t>IoU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上取得很好的平衡，取得</a:t>
            </a:r>
            <a:r>
              <a:rPr lang="en-US" altLang="zh-CN" sz="2000" dirty="0" smtClean="0"/>
              <a:t>SOTA</a:t>
            </a:r>
            <a:r>
              <a:rPr lang="zh-CN" altLang="en-US" sz="2000" dirty="0" smtClean="0"/>
              <a:t>结果</a:t>
            </a:r>
            <a:r>
              <a:rPr lang="zh-CN" altLang="en-US" sz="2000" dirty="0" smtClean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16768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4841"/>
            <a:ext cx="12192000" cy="597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411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54077" y="1165769"/>
            <a:ext cx="9282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提出 </a:t>
            </a:r>
            <a:r>
              <a:rPr lang="en-US" altLang="zh-CN" sz="2000" dirty="0" smtClean="0"/>
              <a:t>Efficient Feature Enhanced Module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作用</a:t>
            </a:r>
            <a:r>
              <a:rPr lang="zh-CN" altLang="en-US" sz="2000" dirty="0" smtClean="0"/>
              <a:t>有：</a:t>
            </a:r>
            <a:r>
              <a:rPr lang="en-US" altLang="zh-CN" sz="2000" dirty="0" smtClean="0"/>
              <a:t>1. </a:t>
            </a:r>
            <a:r>
              <a:rPr lang="zh-CN" altLang="en-US" sz="2000" dirty="0" smtClean="0"/>
              <a:t>减少编码器和解码器之间的 </a:t>
            </a:r>
            <a:r>
              <a:rPr lang="en-US" altLang="zh-CN" sz="2000" dirty="0" smtClean="0"/>
              <a:t>semantic gap</a:t>
            </a:r>
            <a:r>
              <a:rPr lang="zh-CN" altLang="en-US" sz="2000" dirty="0" smtClean="0"/>
              <a:t>。</a:t>
            </a:r>
            <a:r>
              <a:rPr lang="en-US" altLang="zh-CN" sz="2000" dirty="0" smtClean="0"/>
              <a:t>2. </a:t>
            </a:r>
            <a:r>
              <a:rPr lang="zh-CN" altLang="en-US" sz="2000" dirty="0" smtClean="0"/>
              <a:t>两个模态融合</a:t>
            </a:r>
            <a:r>
              <a:rPr lang="zh-CN" altLang="en-US" sz="2000" dirty="0" smtClean="0"/>
              <a:t>前后的特征聚合。</a:t>
            </a:r>
            <a:endParaRPr lang="en-US" altLang="zh-CN" sz="2000" dirty="0" smtClean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4868423" y="2874408"/>
            <a:ext cx="461847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第一个卷积降维或做</a:t>
            </a:r>
            <a:r>
              <a:rPr lang="en-US" altLang="zh-CN" sz="2000" dirty="0" smtClean="0"/>
              <a:t>feature transform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然后使用两个深度可分卷积，类似 </a:t>
            </a:r>
            <a:r>
              <a:rPr lang="en-US" altLang="zh-CN" sz="2000" dirty="0" err="1" smtClean="0"/>
              <a:t>MobileNet</a:t>
            </a:r>
            <a:r>
              <a:rPr lang="zh-CN" altLang="en-US" sz="2000" dirty="0" smtClean="0"/>
              <a:t>，增大深度可分卷积的通道数，增加容量，增大感受野。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最后使用 </a:t>
            </a:r>
            <a:r>
              <a:rPr lang="en-US" altLang="zh-CN" sz="2000" dirty="0" smtClean="0"/>
              <a:t>1x1 </a:t>
            </a:r>
            <a:r>
              <a:rPr lang="zh-CN" altLang="en-US" sz="2000" dirty="0" smtClean="0"/>
              <a:t>卷积进行 </a:t>
            </a:r>
            <a:r>
              <a:rPr lang="en-US" altLang="zh-CN" sz="2000" dirty="0" smtClean="0"/>
              <a:t>feature transform </a:t>
            </a:r>
            <a:r>
              <a:rPr lang="zh-CN" altLang="en-US" sz="2000" dirty="0" smtClean="0"/>
              <a:t>和 </a:t>
            </a:r>
            <a:r>
              <a:rPr lang="en-US" altLang="zh-CN" sz="2000" dirty="0" smtClean="0"/>
              <a:t>cross-channel information aggregation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33" y="2219691"/>
            <a:ext cx="1724025" cy="43529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54077" y="1165769"/>
            <a:ext cx="9282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第二阶段中语义信息占主要部分，且仅需对</a:t>
            </a:r>
            <a:r>
              <a:rPr lang="en-US" altLang="zh-CN" sz="2000" dirty="0" smtClean="0"/>
              <a:t>RGB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IR</a:t>
            </a:r>
            <a:r>
              <a:rPr lang="zh-CN" altLang="en-US" sz="2000" dirty="0" smtClean="0"/>
              <a:t>模态进行 </a:t>
            </a:r>
            <a:r>
              <a:rPr lang="en-US" altLang="zh-CN" sz="2000" dirty="0" smtClean="0"/>
              <a:t>refine</a:t>
            </a:r>
            <a:r>
              <a:rPr lang="zh-CN" altLang="en-US" sz="2000" dirty="0" smtClean="0"/>
              <a:t>，因此设计了轻量级的 </a:t>
            </a:r>
            <a:r>
              <a:rPr lang="en-US" altLang="zh-CN" sz="2000" dirty="0" smtClean="0"/>
              <a:t>U-Net</a:t>
            </a:r>
            <a:r>
              <a:rPr lang="zh-CN" altLang="en-US" sz="2000" dirty="0" smtClean="0"/>
              <a:t>，编码器使用 </a:t>
            </a:r>
            <a:r>
              <a:rPr lang="en-US" altLang="zh-CN" sz="2000" dirty="0" smtClean="0"/>
              <a:t>Efficient Refinement Block</a:t>
            </a:r>
            <a:r>
              <a:rPr lang="zh-CN" altLang="en-US" sz="2000" dirty="0" smtClean="0"/>
              <a:t>，解码器和第一阶段相同。</a:t>
            </a:r>
            <a:endParaRPr lang="en-US" altLang="zh-CN" sz="2000" dirty="0" smtClean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4868423" y="2874408"/>
            <a:ext cx="461847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这一阶段编码器和解码器通道都固定为 </a:t>
            </a:r>
            <a:r>
              <a:rPr lang="en-US" altLang="zh-CN" sz="2000" dirty="0" smtClean="0"/>
              <a:t>64</a:t>
            </a:r>
            <a:r>
              <a:rPr lang="zh-CN" altLang="en-US" sz="2000" dirty="0" smtClean="0"/>
              <a:t>。因此先使用步长为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2 </a:t>
            </a:r>
            <a:r>
              <a:rPr lang="zh-CN" altLang="en-US" sz="2000" dirty="0" smtClean="0"/>
              <a:t>的深度可分卷积，减小分辨率。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然后使用 </a:t>
            </a:r>
            <a:r>
              <a:rPr lang="en-US" altLang="zh-CN" sz="2000" dirty="0" smtClean="0"/>
              <a:t>3x3 </a:t>
            </a:r>
            <a:r>
              <a:rPr lang="zh-CN" altLang="en-US" sz="2000" dirty="0" smtClean="0"/>
              <a:t>常规卷积，增大感受野的同时进行 </a:t>
            </a:r>
            <a:r>
              <a:rPr lang="en-US" altLang="zh-CN" sz="2000" dirty="0" smtClean="0"/>
              <a:t>feature aggregation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560" y="2874408"/>
            <a:ext cx="1543050" cy="2352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54076" y="5643061"/>
            <a:ext cx="92829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两个阶段都使用了深度监督。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332020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980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7FF29C-0941-4590-B02C-4E80BBCC6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982319"/>
              </p:ext>
            </p:extLst>
          </p:nvPr>
        </p:nvGraphicFramePr>
        <p:xfrm>
          <a:off x="6774081" y="919051"/>
          <a:ext cx="4491968" cy="5414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2">
                  <a:extLst>
                    <a:ext uri="{9D8B030D-6E8A-4147-A177-3AD203B41FA5}">
                      <a16:colId xmlns:a16="http://schemas.microsoft.com/office/drawing/2014/main" val="1507702433"/>
                    </a:ext>
                  </a:extLst>
                </a:gridCol>
                <a:gridCol w="989642">
                  <a:extLst>
                    <a:ext uri="{9D8B030D-6E8A-4147-A177-3AD203B41FA5}">
                      <a16:colId xmlns:a16="http://schemas.microsoft.com/office/drawing/2014/main" val="2208900642"/>
                    </a:ext>
                  </a:extLst>
                </a:gridCol>
                <a:gridCol w="989642">
                  <a:extLst>
                    <a:ext uri="{9D8B030D-6E8A-4147-A177-3AD203B41FA5}">
                      <a16:colId xmlns:a16="http://schemas.microsoft.com/office/drawing/2014/main" val="3472719043"/>
                    </a:ext>
                  </a:extLst>
                </a:gridCol>
                <a:gridCol w="989642">
                  <a:extLst>
                    <a:ext uri="{9D8B030D-6E8A-4147-A177-3AD203B41FA5}">
                      <a16:colId xmlns:a16="http://schemas.microsoft.com/office/drawing/2014/main" val="2551682508"/>
                    </a:ext>
                  </a:extLst>
                </a:gridCol>
              </a:tblGrid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Backbone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mIoU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params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Flops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673032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56.1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23M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14.17G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28262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ShuffleNet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54.4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4.9M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8.98G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49382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MobileNet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56.6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4.9M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8.93G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65857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791416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RTFNet</a:t>
                      </a:r>
                      <a:r>
                        <a:rPr lang="en-US" altLang="zh-CN" dirty="0" smtClean="0"/>
                        <a:t>(152)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254.5M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112.93G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466123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RTFNet</a:t>
                      </a:r>
                      <a:r>
                        <a:rPr lang="en-US" altLang="zh-CN" dirty="0" smtClean="0"/>
                        <a:t>(101)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223.2M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97.67G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16427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RTFNet</a:t>
                      </a:r>
                      <a:r>
                        <a:rPr lang="en-US" altLang="zh-CN" dirty="0" smtClean="0"/>
                        <a:t>(50)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185.2M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82.44G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72559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RTFNet</a:t>
                      </a:r>
                      <a:r>
                        <a:rPr lang="en-US" altLang="zh-CN" dirty="0" smtClean="0"/>
                        <a:t>(34)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51.2M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19.39G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725727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RTFNet</a:t>
                      </a:r>
                      <a:r>
                        <a:rPr lang="en-US" altLang="zh-CN" dirty="0" smtClean="0"/>
                        <a:t>(18)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31.0M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11.82G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8874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MFNet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43.7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0.7M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2.92G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0787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D7FF29C-0941-4590-B02C-4E80BBCC6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12496"/>
              </p:ext>
            </p:extLst>
          </p:nvPr>
        </p:nvGraphicFramePr>
        <p:xfrm>
          <a:off x="1845016" y="1930167"/>
          <a:ext cx="2512684" cy="317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2">
                  <a:extLst>
                    <a:ext uri="{9D8B030D-6E8A-4147-A177-3AD203B41FA5}">
                      <a16:colId xmlns:a16="http://schemas.microsoft.com/office/drawing/2014/main" val="1507702433"/>
                    </a:ext>
                  </a:extLst>
                </a:gridCol>
                <a:gridCol w="989642">
                  <a:extLst>
                    <a:ext uri="{9D8B030D-6E8A-4147-A177-3AD203B41FA5}">
                      <a16:colId xmlns:a16="http://schemas.microsoft.com/office/drawing/2014/main" val="2208900642"/>
                    </a:ext>
                  </a:extLst>
                </a:gridCol>
              </a:tblGrid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mIoU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673032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50.4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28262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 + aux</a:t>
                      </a:r>
                      <a:r>
                        <a:rPr lang="en-US" altLang="zh-CN" baseline="0" dirty="0" smtClean="0"/>
                        <a:t> loss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55.1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149382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 + aux loss + GAP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55.2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65857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 + aux</a:t>
                      </a:r>
                      <a:r>
                        <a:rPr lang="en-US" altLang="zh-CN" baseline="0" dirty="0" smtClean="0"/>
                        <a:t> loss + GAP + EFE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56.1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79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972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</TotalTime>
  <Words>366</Words>
  <Application>Microsoft Office PowerPoint</Application>
  <PresentationFormat>宽屏</PresentationFormat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294</cp:revision>
  <dcterms:created xsi:type="dcterms:W3CDTF">2017-03-07T08:54:00Z</dcterms:created>
  <dcterms:modified xsi:type="dcterms:W3CDTF">2020-05-22T01:44:04Z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