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61" r:id="rId2"/>
    <p:sldId id="367" r:id="rId3"/>
    <p:sldId id="374" r:id="rId4"/>
    <p:sldId id="464" r:id="rId5"/>
    <p:sldId id="463" r:id="rId6"/>
    <p:sldId id="465" r:id="rId7"/>
    <p:sldId id="466" r:id="rId8"/>
    <p:sldId id="467" r:id="rId9"/>
    <p:sldId id="468" r:id="rId10"/>
    <p:sldId id="449" r:id="rId11"/>
    <p:sldId id="462" r:id="rId12"/>
    <p:sldId id="353" r:id="rId13"/>
  </p:sldIdLst>
  <p:sldSz cx="12192000" cy="6858000"/>
  <p:notesSz cx="6858000" cy="9144000"/>
  <p:embeddedFontLs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微软雅黑" panose="020B0503020204020204" pitchFamily="34" charset="-122"/>
      <p:regular r:id="rId20"/>
      <p:bold r:id="rId21"/>
    </p:embeddedFont>
    <p:embeddedFont>
      <p:font typeface="等线" panose="02010600030101010101" pitchFamily="2" charset="-122"/>
      <p:regular r:id="rId22"/>
      <p:bold r:id="rId23"/>
    </p:embeddedFont>
    <p:embeddedFont>
      <p:font typeface="Rockwell" panose="02060603020205020403" pitchFamily="18" charset="0"/>
      <p:regular r:id="rId24"/>
      <p:bold r:id="rId25"/>
      <p:italic r:id="rId26"/>
      <p:boldItalic r:id="rId2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23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orient="horz" pos="4088">
          <p15:clr>
            <a:srgbClr val="A4A3A4"/>
          </p15:clr>
        </p15:guide>
        <p15:guide id="5" pos="5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" initials="C" lastIdx="1" clrIdx="0"/>
  <p:cmAuthor id="2" name="zh" initials="z" lastIdx="1" clrIdx="1">
    <p:extLst>
      <p:ext uri="{19B8F6BF-5375-455C-9EA6-DF929625EA0E}">
        <p15:presenceInfo xmlns:p15="http://schemas.microsoft.com/office/powerpoint/2012/main" userId="z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6600"/>
    <a:srgbClr val="0000FF"/>
    <a:srgbClr val="3333FF"/>
    <a:srgbClr val="009900"/>
    <a:srgbClr val="660066"/>
    <a:srgbClr val="CC00FF"/>
    <a:srgbClr val="6600FF"/>
    <a:srgbClr val="00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76355" autoAdjust="0"/>
  </p:normalViewPr>
  <p:slideViewPr>
    <p:cSldViewPr snapToGrid="0" snapToObjects="1">
      <p:cViewPr>
        <p:scale>
          <a:sx n="66" d="100"/>
          <a:sy n="66" d="100"/>
        </p:scale>
        <p:origin x="1190" y="528"/>
      </p:cViewPr>
      <p:guideLst>
        <p:guide pos="3823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28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 smtClean="0"/>
              <a:t>2018</a:t>
            </a:r>
            <a:r>
              <a:rPr lang="zh-CN" altLang="en-US" dirty="0" smtClean="0"/>
              <a:t>年 ，韩国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652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469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二维空间，使用水平或者垂直的直线作为分类器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962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838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442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数据的权重主要用于弱分类器寻找其分类误差最小的决策点，找到之后用这个最小误差计算出该弱分类器的权重（发言权），分类器权重越大说明该弱分类器在最终决策时拥有更大的发言权。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599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9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24125" y="1448618"/>
            <a:ext cx="59541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00B050"/>
                </a:solidFill>
                <a:latin typeface="Rockwell" panose="02060603020205020403" pitchFamily="18" charset="0"/>
              </a:rPr>
              <a:t>文献引出的知识点</a:t>
            </a:r>
            <a:endParaRPr lang="en-US" altLang="zh-CN" sz="54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17710" y="4754245"/>
            <a:ext cx="22580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    </a:t>
            </a:r>
            <a:r>
              <a:rPr lang="en-US" altLang="zh-CN" sz="3200" b="1" dirty="0"/>
              <a:t> </a:t>
            </a:r>
            <a:r>
              <a:rPr lang="zh-CN" altLang="en-US" sz="3200" b="1" dirty="0" smtClean="0">
                <a:latin typeface="+mn-ea"/>
              </a:rPr>
              <a:t>张鹤</a:t>
            </a:r>
            <a:endParaRPr lang="en-US" altLang="zh-CN" sz="3200" b="1" dirty="0" smtClean="0">
              <a:latin typeface="+mn-ea"/>
            </a:endParaRPr>
          </a:p>
          <a:p>
            <a:r>
              <a:rPr lang="en-US" altLang="zh-CN" sz="3200" b="1" dirty="0" smtClean="0">
                <a:latin typeface="+mn-ea"/>
              </a:rPr>
              <a:t>2020.3.12</a:t>
            </a:r>
            <a:endParaRPr lang="zh-CN" altLang="en-US" sz="3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39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ieeexplore.ieee.org/mediastore_new/IEEE/content/media/8359997/8363198/8363717/8363717-fig-2-source-large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73444" y="258370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文献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010025" y="21574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49112" y="1027366"/>
            <a:ext cx="950952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3600" dirty="0"/>
          </a:p>
          <a:p>
            <a:r>
              <a:rPr lang="en-US" altLang="zh-CN" sz="3600" dirty="0"/>
              <a:t>A Video Based Fire Smoke Detection </a:t>
            </a:r>
            <a:r>
              <a:rPr lang="en-US" altLang="zh-CN" sz="3600" dirty="0" smtClean="0"/>
              <a:t>Using Robust </a:t>
            </a:r>
            <a:r>
              <a:rPr lang="en-US" altLang="zh-CN" sz="3600" dirty="0" err="1" smtClean="0">
                <a:solidFill>
                  <a:srgbClr val="FF0000"/>
                </a:solidFill>
              </a:rPr>
              <a:t>AdaBoost</a:t>
            </a:r>
            <a:endParaRPr lang="en-US" altLang="zh-CN" sz="3600" dirty="0" smtClean="0">
              <a:solidFill>
                <a:srgbClr val="FF0000"/>
              </a:solidFill>
            </a:endParaRPr>
          </a:p>
          <a:p>
            <a:endParaRPr lang="en-US" altLang="zh-CN" dirty="0" smtClean="0"/>
          </a:p>
          <a:p>
            <a:pPr algn="just"/>
            <a:r>
              <a:rPr lang="en-US" altLang="zh-CN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Published in:  </a:t>
            </a:r>
            <a:r>
              <a:rPr lang="en-US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sensors</a:t>
            </a:r>
            <a:r>
              <a:rPr lang="zh-CN" altLang="en-US" sz="3600" dirty="0" smtClean="0"/>
              <a:t>，</a:t>
            </a:r>
            <a:r>
              <a:rPr lang="en-US" altLang="zh-CN" sz="3600" dirty="0" smtClean="0"/>
              <a:t>2018.9</a:t>
            </a:r>
            <a:endParaRPr lang="en-US" altLang="zh-C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r="10401"/>
          <a:stretch/>
        </p:blipFill>
        <p:spPr>
          <a:xfrm>
            <a:off x="155575" y="3858465"/>
            <a:ext cx="11837133" cy="2209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 smtClean="0">
                <a:solidFill>
                  <a:srgbClr val="4B11BF"/>
                </a:solidFill>
              </a:rPr>
              <a:t>AdaBoost</a:t>
            </a:r>
            <a:r>
              <a:rPr lang="zh-CN" altLang="en-US" sz="2800" dirty="0" smtClean="0">
                <a:solidFill>
                  <a:srgbClr val="4B11BF"/>
                </a:solidFill>
              </a:rPr>
              <a:t>的诞生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670" y="2776218"/>
            <a:ext cx="8305800" cy="23907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74" y="2709049"/>
            <a:ext cx="2379345" cy="2525115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79252" y="5298913"/>
            <a:ext cx="119879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 smtClean="0">
                <a:solidFill>
                  <a:srgbClr val="333333"/>
                </a:solidFill>
                <a:latin typeface="+mn-ea"/>
              </a:rPr>
              <a:t>Freund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73798" y="5254511"/>
            <a:ext cx="16527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err="1">
                <a:latin typeface="+mn-ea"/>
              </a:rPr>
              <a:t>Schapire</a:t>
            </a:r>
            <a:endParaRPr lang="zh-CN" altLang="en-US" dirty="0"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6960" y="1219200"/>
            <a:ext cx="1043051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1. 1990</a:t>
            </a:r>
            <a:r>
              <a:rPr lang="zh-CN" altLang="en-US" dirty="0"/>
              <a:t>年，</a:t>
            </a:r>
            <a:r>
              <a:rPr lang="en-US" altLang="zh-CN" dirty="0" err="1"/>
              <a:t>Schapire</a:t>
            </a:r>
            <a:r>
              <a:rPr lang="zh-CN" altLang="en-US" dirty="0"/>
              <a:t>提出了</a:t>
            </a:r>
            <a:r>
              <a:rPr lang="en-US" altLang="zh-CN" dirty="0"/>
              <a:t>Boosting</a:t>
            </a:r>
            <a:r>
              <a:rPr lang="zh-CN" altLang="en-US" dirty="0" smtClean="0"/>
              <a:t>算法，算法核心是把</a:t>
            </a:r>
            <a:r>
              <a:rPr lang="zh-CN" altLang="en-US" dirty="0" smtClean="0">
                <a:solidFill>
                  <a:srgbClr val="FF0000"/>
                </a:solidFill>
              </a:rPr>
              <a:t>弱分类器</a:t>
            </a:r>
            <a:r>
              <a:rPr lang="zh-CN" altLang="en-US" dirty="0" smtClean="0"/>
              <a:t>提升成</a:t>
            </a:r>
            <a:r>
              <a:rPr lang="zh-CN" altLang="en-US" dirty="0" smtClean="0">
                <a:solidFill>
                  <a:srgbClr val="FF0000"/>
                </a:solidFill>
              </a:rPr>
              <a:t>强分类器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弱</a:t>
            </a:r>
            <a:r>
              <a:rPr lang="zh-CN" altLang="en-US" dirty="0" smtClean="0">
                <a:solidFill>
                  <a:srgbClr val="FF0000"/>
                </a:solidFill>
              </a:rPr>
              <a:t>分类器</a:t>
            </a:r>
            <a:r>
              <a:rPr lang="zh-CN" altLang="en-US" dirty="0" smtClean="0"/>
              <a:t>：仅</a:t>
            </a:r>
            <a:r>
              <a:rPr lang="zh-CN" altLang="en-US" dirty="0"/>
              <a:t>比随机猜测略</a:t>
            </a:r>
            <a:r>
              <a:rPr lang="zh-CN" altLang="en-US" dirty="0" smtClean="0"/>
              <a:t>好，错误率在</a:t>
            </a:r>
            <a:r>
              <a:rPr lang="en-US" altLang="zh-CN" dirty="0" smtClean="0"/>
              <a:t>50%</a:t>
            </a:r>
            <a:r>
              <a:rPr lang="zh-CN" altLang="en-US" dirty="0" smtClean="0"/>
              <a:t>左右；</a:t>
            </a:r>
            <a:r>
              <a:rPr lang="zh-CN" altLang="en-US" dirty="0" smtClean="0">
                <a:solidFill>
                  <a:srgbClr val="FF0000"/>
                </a:solidFill>
              </a:rPr>
              <a:t>强分类器</a:t>
            </a:r>
            <a:r>
              <a:rPr lang="zh-CN" altLang="en-US" dirty="0" smtClean="0"/>
              <a:t>：“强有力”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2.</a:t>
            </a:r>
            <a:r>
              <a:rPr lang="zh-CN" altLang="en-US" dirty="0"/>
              <a:t> </a:t>
            </a:r>
            <a:r>
              <a:rPr lang="en-US" altLang="zh-CN" dirty="0"/>
              <a:t>1995</a:t>
            </a:r>
            <a:r>
              <a:rPr lang="zh-CN" altLang="en-US" dirty="0"/>
              <a:t>年，</a:t>
            </a:r>
            <a:r>
              <a:rPr lang="en-US" altLang="zh-CN" dirty="0"/>
              <a:t>Freund</a:t>
            </a:r>
            <a:r>
              <a:rPr lang="zh-CN" altLang="en-US" dirty="0"/>
              <a:t>和</a:t>
            </a:r>
            <a:r>
              <a:rPr lang="en-US" altLang="zh-CN" dirty="0" err="1"/>
              <a:t>Schapire</a:t>
            </a:r>
            <a:r>
              <a:rPr lang="zh-CN" altLang="en-US" dirty="0"/>
              <a:t>共同改进了</a:t>
            </a:r>
            <a:r>
              <a:rPr lang="en-US" altLang="zh-CN" dirty="0"/>
              <a:t>Boosting</a:t>
            </a:r>
            <a:r>
              <a:rPr lang="zh-CN" altLang="en-US" dirty="0" smtClean="0"/>
              <a:t>算法，</a:t>
            </a:r>
            <a:r>
              <a:rPr lang="en-US" altLang="zh-CN" dirty="0"/>
              <a:t> ,</a:t>
            </a:r>
            <a:r>
              <a:rPr lang="zh-CN" altLang="en-US" dirty="0"/>
              <a:t>提出了 </a:t>
            </a:r>
            <a:r>
              <a:rPr lang="en-US" altLang="zh-CN" dirty="0" err="1"/>
              <a:t>AdaBoost</a:t>
            </a:r>
            <a:r>
              <a:rPr lang="en-US" altLang="zh-CN" dirty="0"/>
              <a:t> (</a:t>
            </a:r>
            <a:r>
              <a:rPr lang="en-US" altLang="zh-CN" dirty="0" smtClean="0"/>
              <a:t>Adaptive </a:t>
            </a:r>
            <a:r>
              <a:rPr lang="en-US" altLang="zh-CN" dirty="0"/>
              <a:t>Boosting)</a:t>
            </a:r>
            <a:r>
              <a:rPr lang="zh-CN" altLang="en-US" dirty="0"/>
              <a:t>算法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实现过程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81760" y="1169015"/>
            <a:ext cx="94386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弱分类器</a:t>
            </a:r>
            <a:r>
              <a:rPr lang="en-US" altLang="zh-CN" dirty="0" smtClean="0"/>
              <a:t>=</a:t>
            </a:r>
            <a:r>
              <a:rPr lang="zh-CN" altLang="en-US" dirty="0" smtClean="0"/>
              <a:t>强分类器    如何成立？</a:t>
            </a:r>
            <a:endParaRPr lang="en-US" altLang="zh-CN" dirty="0" smtClean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075" y="1538347"/>
            <a:ext cx="8705850" cy="52863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54" y="1612730"/>
            <a:ext cx="10664262" cy="551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55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6446" y="1134319"/>
            <a:ext cx="10347767" cy="5243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992" y="1224746"/>
            <a:ext cx="9199312" cy="127538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/>
          <a:srcRect t="8808" b="3114"/>
          <a:stretch/>
        </p:blipFill>
        <p:spPr>
          <a:xfrm>
            <a:off x="1367439" y="2474600"/>
            <a:ext cx="10376187" cy="1964291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446" y="4430030"/>
            <a:ext cx="3219450" cy="212407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335929" y="5034987"/>
            <a:ext cx="5161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10</a:t>
            </a:r>
            <a:r>
              <a:rPr lang="zh-CN" altLang="en-US" dirty="0" smtClean="0"/>
              <a:t>个数据点，每个点权重是</a:t>
            </a:r>
            <a:r>
              <a:rPr lang="en-US" altLang="zh-CN" dirty="0" smtClean="0"/>
              <a:t>1/10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算法</a:t>
            </a:r>
            <a:r>
              <a:rPr lang="zh-CN" altLang="en-US" sz="2800" dirty="0" smtClean="0">
                <a:solidFill>
                  <a:srgbClr val="4B11BF"/>
                </a:solidFill>
              </a:rPr>
              <a:t>步骤（</a:t>
            </a:r>
            <a:r>
              <a:rPr lang="zh-CN" altLang="en-US" sz="2800" dirty="0">
                <a:solidFill>
                  <a:srgbClr val="4B11BF"/>
                </a:solidFill>
              </a:rPr>
              <a:t>一</a:t>
            </a:r>
            <a:r>
              <a:rPr lang="zh-CN" altLang="en-US" sz="2800" dirty="0" smtClean="0">
                <a:solidFill>
                  <a:srgbClr val="4B11BF"/>
                </a:solidFill>
              </a:rPr>
              <a:t>）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9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算法</a:t>
            </a:r>
            <a:r>
              <a:rPr lang="zh-CN" altLang="en-US" sz="2800" dirty="0" smtClean="0">
                <a:solidFill>
                  <a:srgbClr val="4B11BF"/>
                </a:solidFill>
              </a:rPr>
              <a:t>步骤（二）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b="38710"/>
          <a:stretch/>
        </p:blipFill>
        <p:spPr>
          <a:xfrm>
            <a:off x="1703528" y="798735"/>
            <a:ext cx="8553450" cy="3619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8585" y="4418235"/>
            <a:ext cx="8017370" cy="2522799"/>
          </a:xfrm>
          <a:prstGeom prst="rect">
            <a:avLst/>
          </a:prstGeom>
        </p:spPr>
      </p:pic>
      <p:sp>
        <p:nvSpPr>
          <p:cNvPr id="10" name="右箭头 9">
            <a:hlinkClick r:id="rId5" action="ppaction://hlinksldjump"/>
          </p:cNvPr>
          <p:cNvSpPr/>
          <p:nvPr/>
        </p:nvSpPr>
        <p:spPr>
          <a:xfrm>
            <a:off x="11111696" y="6296628"/>
            <a:ext cx="613458" cy="474562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109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t="4360"/>
          <a:stretch/>
        </p:blipFill>
        <p:spPr>
          <a:xfrm>
            <a:off x="1713656" y="1076445"/>
            <a:ext cx="8324850" cy="221365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算法</a:t>
            </a:r>
            <a:r>
              <a:rPr lang="zh-CN" altLang="en-US" sz="2800" dirty="0" smtClean="0">
                <a:solidFill>
                  <a:srgbClr val="4B11BF"/>
                </a:solidFill>
              </a:rPr>
              <a:t>步骤（</a:t>
            </a:r>
            <a:r>
              <a:rPr lang="zh-CN" altLang="en-US" sz="2800" dirty="0">
                <a:solidFill>
                  <a:srgbClr val="4B11BF"/>
                </a:solidFill>
              </a:rPr>
              <a:t>三</a:t>
            </a:r>
            <a:r>
              <a:rPr lang="zh-CN" altLang="en-US" sz="2800" dirty="0" smtClean="0">
                <a:solidFill>
                  <a:srgbClr val="4B11BF"/>
                </a:solidFill>
              </a:rPr>
              <a:t>）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7"/>
          <a:stretch/>
        </p:blipFill>
        <p:spPr>
          <a:xfrm rot="16200000">
            <a:off x="4323044" y="1351442"/>
            <a:ext cx="3417987" cy="729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478" y="1021646"/>
            <a:ext cx="7886700" cy="23145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762" y="3428999"/>
            <a:ext cx="5324475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31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算法</a:t>
            </a:r>
            <a:r>
              <a:rPr lang="zh-CN" altLang="en-US" sz="2800" dirty="0" smtClean="0">
                <a:solidFill>
                  <a:srgbClr val="4B11BF"/>
                </a:solidFill>
              </a:rPr>
              <a:t>步骤（四）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793" y="942273"/>
            <a:ext cx="8515350" cy="21907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16" y="3133023"/>
            <a:ext cx="7477125" cy="35337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059838" y="4299745"/>
            <a:ext cx="31387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此例的阈值是</a:t>
            </a:r>
            <a:r>
              <a:rPr lang="en-US" altLang="zh-CN" dirty="0"/>
              <a:t>1</a:t>
            </a:r>
            <a:r>
              <a:rPr lang="zh-CN" altLang="en-US" dirty="0"/>
              <a:t>，即加权平均后对于</a:t>
            </a:r>
            <a:r>
              <a:rPr lang="zh-CN" altLang="en-US" dirty="0" smtClean="0"/>
              <a:t>蓝色中</a:t>
            </a:r>
            <a:r>
              <a:rPr lang="zh-CN" altLang="en-US" dirty="0"/>
              <a:t>大于</a:t>
            </a:r>
            <a:r>
              <a:rPr lang="en-US" altLang="zh-CN" dirty="0"/>
              <a:t>1</a:t>
            </a:r>
            <a:r>
              <a:rPr lang="zh-CN" altLang="en-US" dirty="0"/>
              <a:t>的区域就划分为蓝色</a:t>
            </a:r>
            <a:r>
              <a:rPr lang="zh-CN" altLang="en-US" dirty="0" smtClean="0"/>
              <a:t>种类（</a:t>
            </a:r>
            <a:r>
              <a:rPr lang="en-US" altLang="zh-CN" dirty="0" smtClean="0"/>
              <a:t>+1</a:t>
            </a:r>
            <a:r>
              <a:rPr lang="zh-CN" altLang="en-US" dirty="0" smtClean="0"/>
              <a:t>） ，</a:t>
            </a:r>
            <a:r>
              <a:rPr lang="zh-CN" altLang="en-US" dirty="0"/>
              <a:t>其他部分为红色</a:t>
            </a:r>
            <a:r>
              <a:rPr lang="zh-CN" altLang="en-US" dirty="0" smtClean="0"/>
              <a:t>种类（</a:t>
            </a:r>
            <a:r>
              <a:rPr lang="en-US" altLang="zh-CN" dirty="0" smtClean="0"/>
              <a:t>-1</a:t>
            </a:r>
            <a:r>
              <a:rPr lang="zh-CN" altLang="en-US" dirty="0" smtClean="0"/>
              <a:t>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204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小结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30" y="1100897"/>
            <a:ext cx="12054840" cy="441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4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应用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3182" y="1137742"/>
            <a:ext cx="5484194" cy="45397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机器学习领域中十分</a:t>
            </a:r>
            <a:r>
              <a:rPr lang="zh-CN" altLang="en-US" sz="2800" dirty="0" smtClean="0"/>
              <a:t>重要：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1.</a:t>
            </a:r>
            <a:r>
              <a:rPr lang="zh-CN" altLang="en-US" sz="2800" dirty="0"/>
              <a:t>为其他算法提供了一种框架</a:t>
            </a:r>
            <a:r>
              <a:rPr lang="zh-CN" altLang="en-US" sz="2800" dirty="0" smtClean="0"/>
              <a:t>结构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2.</a:t>
            </a:r>
            <a:r>
              <a:rPr lang="zh-CN" altLang="en-US" sz="2800" dirty="0"/>
              <a:t>实现了手写体</a:t>
            </a:r>
            <a:r>
              <a:rPr lang="zh-CN" altLang="en-US" sz="2800" dirty="0" smtClean="0"/>
              <a:t>字符识别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3.</a:t>
            </a:r>
            <a:r>
              <a:rPr lang="zh-CN" altLang="en-US" sz="2800" dirty="0"/>
              <a:t>图像</a:t>
            </a:r>
            <a:r>
              <a:rPr lang="zh-CN" altLang="en-US" sz="2800" dirty="0" smtClean="0"/>
              <a:t>识别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4.</a:t>
            </a:r>
            <a:r>
              <a:rPr lang="zh-CN" altLang="en-US" sz="2800" dirty="0" smtClean="0"/>
              <a:t>语音识别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5.</a:t>
            </a:r>
            <a:r>
              <a:rPr lang="zh-CN" altLang="en-US" sz="2800" dirty="0"/>
              <a:t>文本</a:t>
            </a:r>
            <a:r>
              <a:rPr lang="zh-CN" altLang="en-US" sz="2800" dirty="0" smtClean="0"/>
              <a:t>分类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6.</a:t>
            </a:r>
            <a:r>
              <a:rPr lang="zh-CN" altLang="en-US" sz="2800" dirty="0" smtClean="0"/>
              <a:t>医疗诊断</a:t>
            </a:r>
            <a:endParaRPr lang="zh-CN" altLang="en-US" sz="28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/>
          <a:srcRect r="7208"/>
          <a:stretch/>
        </p:blipFill>
        <p:spPr>
          <a:xfrm>
            <a:off x="3360588" y="3395600"/>
            <a:ext cx="8549761" cy="169562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070" y="5102567"/>
            <a:ext cx="8615279" cy="32766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5070" y="5441574"/>
            <a:ext cx="8615279" cy="58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3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4498</TotalTime>
  <Words>284</Words>
  <Application>Microsoft Office PowerPoint</Application>
  <PresentationFormat>宽屏</PresentationFormat>
  <Paragraphs>42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Segoe UI</vt:lpstr>
      <vt:lpstr>微软雅黑</vt:lpstr>
      <vt:lpstr>Arial</vt:lpstr>
      <vt:lpstr>等线</vt:lpstr>
      <vt:lpstr>Rockwell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zh</cp:lastModifiedBy>
  <cp:revision>1426</cp:revision>
  <dcterms:created xsi:type="dcterms:W3CDTF">2015-08-18T02:51:00Z</dcterms:created>
  <dcterms:modified xsi:type="dcterms:W3CDTF">2020-03-12T07:50:29Z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2052-10.8.2.6949</vt:lpwstr>
  </property>
</Properties>
</file>