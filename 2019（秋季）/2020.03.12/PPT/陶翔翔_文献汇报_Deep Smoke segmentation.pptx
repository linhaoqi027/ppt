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5"/>
  </p:notesMasterIdLst>
  <p:handoutMasterIdLst>
    <p:handoutMasterId r:id="rId26"/>
  </p:handoutMasterIdLst>
  <p:sldIdLst>
    <p:sldId id="303" r:id="rId2"/>
    <p:sldId id="367" r:id="rId3"/>
    <p:sldId id="374" r:id="rId4"/>
    <p:sldId id="511" r:id="rId5"/>
    <p:sldId id="480" r:id="rId6"/>
    <p:sldId id="513" r:id="rId7"/>
    <p:sldId id="481" r:id="rId8"/>
    <p:sldId id="485" r:id="rId9"/>
    <p:sldId id="486" r:id="rId10"/>
    <p:sldId id="488" r:id="rId11"/>
    <p:sldId id="489" r:id="rId12"/>
    <p:sldId id="490" r:id="rId13"/>
    <p:sldId id="491" r:id="rId14"/>
    <p:sldId id="515" r:id="rId15"/>
    <p:sldId id="492" r:id="rId16"/>
    <p:sldId id="493" r:id="rId17"/>
    <p:sldId id="494" r:id="rId18"/>
    <p:sldId id="496" r:id="rId19"/>
    <p:sldId id="516" r:id="rId20"/>
    <p:sldId id="517" r:id="rId21"/>
    <p:sldId id="499" r:id="rId22"/>
    <p:sldId id="500" r:id="rId23"/>
    <p:sldId id="353" r:id="rId24"/>
  </p:sldIdLst>
  <p:sldSz cx="12192000" cy="6858000"/>
  <p:notesSz cx="6858000" cy="9144000"/>
  <p:embeddedFontLst>
    <p:embeddedFont>
      <p:font typeface="Rockwell" panose="02060603020205020403" pitchFamily="18" charset="0"/>
      <p:regular r:id="rId27"/>
      <p:bold r:id="rId28"/>
      <p:italic r:id="rId29"/>
      <p:boldItalic r:id="rId30"/>
    </p:embeddedFont>
    <p:embeddedFont>
      <p:font typeface="Segoe UI" panose="020B0502040204020203" pitchFamily="34" charset="0"/>
      <p:regular r:id="rId31"/>
      <p:bold r:id="rId32"/>
      <p:italic r:id="rId33"/>
      <p:boldItalic r:id="rId34"/>
    </p:embeddedFont>
    <p:embeddedFont>
      <p:font typeface="等线" panose="02010600030101010101" pitchFamily="2" charset="-122"/>
      <p:regular r:id="rId35"/>
      <p:bold r:id="rId36"/>
    </p:embeddedFont>
    <p:embeddedFont>
      <p:font typeface="微软雅黑" panose="020B0503020204020204" pitchFamily="34" charset="-122"/>
      <p:regular r:id="rId37"/>
      <p:bold r:id="rId38"/>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23">
          <p15:clr>
            <a:srgbClr val="A4A3A4"/>
          </p15:clr>
        </p15:guide>
        <p15:guide id="2" orient="horz" pos="2160">
          <p15:clr>
            <a:srgbClr val="A4A3A4"/>
          </p15:clr>
        </p15:guide>
        <p15:guide id="3" orient="horz" pos="232">
          <p15:clr>
            <a:srgbClr val="A4A3A4"/>
          </p15:clr>
        </p15:guide>
        <p15:guide id="4" orient="horz" pos="4088">
          <p15:clr>
            <a:srgbClr val="A4A3A4"/>
          </p15:clr>
        </p15:guide>
        <p15:guide id="5" pos="574">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A" initials="C"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F6600"/>
    <a:srgbClr val="0000FF"/>
    <a:srgbClr val="3333FF"/>
    <a:srgbClr val="009900"/>
    <a:srgbClr val="660066"/>
    <a:srgbClr val="CC00FF"/>
    <a:srgbClr val="6600FF"/>
    <a:srgbClr val="0033CC"/>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533" autoAdjust="0"/>
    <p:restoredTop sz="76355" autoAdjust="0"/>
  </p:normalViewPr>
  <p:slideViewPr>
    <p:cSldViewPr snapToGrid="0" snapToObjects="1">
      <p:cViewPr varScale="1">
        <p:scale>
          <a:sx n="62" d="100"/>
          <a:sy n="62" d="100"/>
        </p:scale>
        <p:origin x="1234" y="53"/>
      </p:cViewPr>
      <p:guideLst>
        <p:guide pos="3823"/>
        <p:guide orient="horz" pos="2160"/>
        <p:guide orient="horz" pos="232"/>
        <p:guide orient="horz" pos="4088"/>
        <p:guide pos="574"/>
      </p:guideLst>
    </p:cSldViewPr>
  </p:slideViewPr>
  <p:notesTextViewPr>
    <p:cViewPr>
      <p:scale>
        <a:sx n="125" d="100"/>
        <a:sy n="125" d="100"/>
      </p:scale>
      <p:origin x="0" y="0"/>
    </p:cViewPr>
  </p:notesTextViewPr>
  <p:sorterViewPr>
    <p:cViewPr varScale="1">
      <p:scale>
        <a:sx n="1" d="1"/>
        <a:sy n="1" d="1"/>
      </p:scale>
      <p:origin x="0" y="0"/>
    </p:cViewPr>
  </p:sorterViewPr>
  <p:notesViewPr>
    <p:cSldViewPr snapToGrid="0" snapToObjects="1">
      <p:cViewPr varScale="1">
        <p:scale>
          <a:sx n="66" d="100"/>
          <a:sy n="66" d="100"/>
        </p:scale>
        <p:origin x="3330" y="5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9"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7.fntdata"/><Relationship Id="rId38"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A2E08C6-A8D6-4426-B0F6-8365D5E90C3D}" type="datetimeFigureOut">
              <a:rPr lang="zh-CN" altLang="en-US" smtClean="0"/>
              <a:t>2020/3/12</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635310C-31F2-4F7E-95AC-1A51EFB82AFE}" type="slidenum">
              <a:rPr lang="zh-CN" altLang="en-US" smtClean="0"/>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FCA7BF-183C-46C8-9282-AFD276260CB2}" type="datetimeFigureOut">
              <a:rPr lang="zh-CN" altLang="en-US" smtClean="0"/>
              <a:t>2020/3/12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E2F600-D6BF-48F3-BE94-005CF5FB96EE}"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p>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受</a:t>
            </a:r>
            <a:r>
              <a:rPr lang="en-US" altLang="zh-CN" sz="1200" dirty="0"/>
              <a:t>α</a:t>
            </a:r>
            <a:r>
              <a:rPr lang="en-US" altLang="zh-CN" sz="1200" baseline="-25000" dirty="0"/>
              <a:t>s</a:t>
            </a:r>
            <a:r>
              <a:rPr lang="zh-CN" altLang="en-US" sz="1200" dirty="0"/>
              <a:t>约束是经典的</a:t>
            </a:r>
            <a:r>
              <a:rPr lang="en-US" altLang="zh-CN" sz="1200" dirty="0"/>
              <a:t>lasso</a:t>
            </a:r>
            <a:r>
              <a:rPr lang="zh-CN" altLang="en-US" sz="1200" dirty="0"/>
              <a:t>问题，但预测变量的数量远大于观测值的数量，即数据维度过高时，</a:t>
            </a:r>
            <a:r>
              <a:rPr lang="en-US" altLang="zh-CN" sz="1200" dirty="0"/>
              <a:t>lasso</a:t>
            </a:r>
            <a:r>
              <a:rPr lang="zh-CN" altLang="en-US" sz="1200" dirty="0"/>
              <a:t>是效果不好。</a:t>
            </a:r>
            <a:endParaRPr lang="en-US" altLang="zh-CN" sz="1200" dirty="0"/>
          </a:p>
          <a:p>
            <a:endParaRPr lang="en-US" altLang="zh-CN" sz="1200" dirty="0"/>
          </a:p>
        </p:txBody>
      </p:sp>
    </p:spTree>
    <p:extLst>
      <p:ext uri="{BB962C8B-B14F-4D97-AF65-F5344CB8AC3E}">
        <p14:creationId xmlns:p14="http://schemas.microsoft.com/office/powerpoint/2010/main" val="19147249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13372496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5503908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图二描述了视频烟雾检测框架。</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给定视频，执行背景建模，对每个块得到</a:t>
            </a:r>
            <a:r>
              <a:rPr lang="en-US" altLang="zh-CN" sz="1200" kern="1200" dirty="0">
                <a:solidFill>
                  <a:schemeClr val="tx1"/>
                </a:solidFill>
                <a:effectLst/>
                <a:latin typeface="+mn-lt"/>
                <a:ea typeface="+mn-ea"/>
                <a:cs typeface="+mn-cs"/>
              </a:rPr>
              <a:t>x</a:t>
            </a:r>
            <a:r>
              <a:rPr lang="zh-CN" altLang="en-US"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b</a:t>
            </a:r>
            <a:r>
              <a:rPr lang="zh-CN" altLang="en-US" sz="1200" kern="1200" dirty="0">
                <a:solidFill>
                  <a:schemeClr val="tx1"/>
                </a:solidFill>
                <a:effectLst/>
                <a:latin typeface="+mn-lt"/>
                <a:ea typeface="+mn-ea"/>
                <a:cs typeface="+mn-cs"/>
              </a:rPr>
              <a:t>，估计烟雾成分</a:t>
            </a:r>
            <a:r>
              <a:rPr lang="en-US" altLang="zh-CN" sz="1200" kern="1200" dirty="0">
                <a:solidFill>
                  <a:schemeClr val="tx1"/>
                </a:solidFill>
                <a:effectLst/>
                <a:latin typeface="+mn-lt"/>
                <a:ea typeface="+mn-ea"/>
                <a:cs typeface="+mn-cs"/>
              </a:rPr>
              <a:t>s</a:t>
            </a:r>
            <a:r>
              <a:rPr lang="zh-CN" altLang="en-US" sz="1200" kern="1200" dirty="0">
                <a:solidFill>
                  <a:schemeClr val="tx1"/>
                </a:solidFill>
                <a:effectLst/>
                <a:latin typeface="+mn-lt"/>
                <a:ea typeface="+mn-ea"/>
                <a:cs typeface="+mn-cs"/>
              </a:rPr>
              <a:t>和混合参数</a:t>
            </a:r>
            <a:r>
              <a:rPr lang="en-US" altLang="zh-CN" sz="1200" kern="1200" dirty="0">
                <a:solidFill>
                  <a:schemeClr val="tx1"/>
                </a:solidFill>
                <a:effectLst/>
                <a:latin typeface="+mn-lt"/>
                <a:ea typeface="+mn-ea"/>
                <a:cs typeface="+mn-cs"/>
              </a:rPr>
              <a:t>ω</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混合参数</a:t>
            </a:r>
            <a:r>
              <a:rPr lang="en-US" altLang="zh-CN" sz="1200" kern="1200" dirty="0">
                <a:solidFill>
                  <a:schemeClr val="tx1"/>
                </a:solidFill>
                <a:effectLst/>
                <a:latin typeface="+mn-lt"/>
                <a:ea typeface="+mn-ea"/>
                <a:cs typeface="+mn-cs"/>
              </a:rPr>
              <a:t>w</a:t>
            </a:r>
            <a:r>
              <a:rPr lang="zh-CN" altLang="en-US" sz="1200" kern="1200" dirty="0">
                <a:solidFill>
                  <a:schemeClr val="tx1"/>
                </a:solidFill>
                <a:effectLst/>
                <a:latin typeface="+mn-lt"/>
                <a:ea typeface="+mn-ea"/>
                <a:cs typeface="+mn-cs"/>
              </a:rPr>
              <a:t>太小时，为非烟雾。设置一个小阈值</a:t>
            </a:r>
            <a:r>
              <a:rPr lang="en-US" altLang="zh-CN" sz="1200" kern="1200" dirty="0" err="1">
                <a:solidFill>
                  <a:schemeClr val="tx1"/>
                </a:solidFill>
                <a:effectLst/>
                <a:latin typeface="+mn-lt"/>
                <a:ea typeface="+mn-ea"/>
                <a:cs typeface="+mn-cs"/>
              </a:rPr>
              <a:t>Tω</a:t>
            </a:r>
            <a:r>
              <a:rPr lang="zh-CN" altLang="en-US" sz="1200" kern="1200" dirty="0">
                <a:solidFill>
                  <a:schemeClr val="tx1"/>
                </a:solidFill>
                <a:effectLst/>
                <a:latin typeface="+mn-lt"/>
                <a:ea typeface="+mn-ea"/>
                <a:cs typeface="+mn-cs"/>
              </a:rPr>
              <a:t>，当</a:t>
            </a:r>
            <a:r>
              <a:rPr lang="en-US" altLang="zh-CN" sz="1200" kern="1200" dirty="0">
                <a:solidFill>
                  <a:schemeClr val="tx1"/>
                </a:solidFill>
                <a:effectLst/>
                <a:latin typeface="+mn-lt"/>
                <a:ea typeface="+mn-ea"/>
                <a:cs typeface="+mn-cs"/>
              </a:rPr>
              <a:t>ω&lt;</a:t>
            </a:r>
            <a:r>
              <a:rPr lang="en-US" altLang="zh-CN" sz="1200" kern="1200" dirty="0" err="1">
                <a:solidFill>
                  <a:schemeClr val="tx1"/>
                </a:solidFill>
                <a:effectLst/>
                <a:latin typeface="+mn-lt"/>
                <a:ea typeface="+mn-ea"/>
                <a:cs typeface="+mn-cs"/>
              </a:rPr>
              <a:t>Tω</a:t>
            </a:r>
            <a:r>
              <a:rPr lang="zh-CN" altLang="en-US" sz="1200" kern="1200" dirty="0">
                <a:solidFill>
                  <a:schemeClr val="tx1"/>
                </a:solidFill>
                <a:effectLst/>
                <a:latin typeface="+mn-lt"/>
                <a:ea typeface="+mn-ea"/>
                <a:cs typeface="+mn-cs"/>
              </a:rPr>
              <a:t>时为非烟块，当</a:t>
            </a:r>
            <a:r>
              <a:rPr lang="en-US" altLang="zh-CN" sz="1200" kern="1200" dirty="0">
                <a:solidFill>
                  <a:schemeClr val="tx1"/>
                </a:solidFill>
                <a:effectLst/>
                <a:latin typeface="+mn-lt"/>
                <a:ea typeface="+mn-ea"/>
                <a:cs typeface="+mn-cs"/>
              </a:rPr>
              <a:t>ω&gt;=</a:t>
            </a:r>
            <a:r>
              <a:rPr lang="en-US" altLang="zh-CN" sz="1200" kern="1200" dirty="0" err="1">
                <a:solidFill>
                  <a:schemeClr val="tx1"/>
                </a:solidFill>
                <a:effectLst/>
                <a:latin typeface="+mn-lt"/>
                <a:ea typeface="+mn-ea"/>
                <a:cs typeface="+mn-cs"/>
              </a:rPr>
              <a:t>Tω</a:t>
            </a:r>
            <a:r>
              <a:rPr lang="zh-CN" altLang="en-US" sz="1200" kern="1200" dirty="0">
                <a:solidFill>
                  <a:schemeClr val="tx1"/>
                </a:solidFill>
                <a:effectLst/>
                <a:latin typeface="+mn-lt"/>
                <a:ea typeface="+mn-ea"/>
                <a:cs typeface="+mn-cs"/>
              </a:rPr>
              <a:t>，对分离的分量</a:t>
            </a:r>
            <a:r>
              <a:rPr lang="en-US" altLang="zh-CN" sz="1200" kern="1200" dirty="0">
                <a:solidFill>
                  <a:schemeClr val="tx1"/>
                </a:solidFill>
                <a:effectLst/>
                <a:latin typeface="+mn-lt"/>
                <a:ea typeface="+mn-ea"/>
                <a:cs typeface="+mn-cs"/>
              </a:rPr>
              <a:t>s</a:t>
            </a:r>
            <a:r>
              <a:rPr lang="zh-CN" altLang="en-US" sz="1200" kern="1200" dirty="0">
                <a:solidFill>
                  <a:schemeClr val="tx1"/>
                </a:solidFill>
                <a:effectLst/>
                <a:latin typeface="+mn-lt"/>
                <a:ea typeface="+mn-ea"/>
                <a:cs typeface="+mn-cs"/>
              </a:rPr>
              <a:t>或稀疏系数</a:t>
            </a:r>
            <a:r>
              <a:rPr lang="en-US" altLang="zh-CN" sz="1200" kern="1200" dirty="0">
                <a:solidFill>
                  <a:schemeClr val="tx1"/>
                </a:solidFill>
                <a:effectLst/>
                <a:latin typeface="+mn-lt"/>
                <a:ea typeface="+mn-ea"/>
                <a:cs typeface="+mn-cs"/>
              </a:rPr>
              <a:t>αs</a:t>
            </a:r>
            <a:r>
              <a:rPr lang="zh-CN" altLang="en-US" sz="1200" kern="1200" dirty="0">
                <a:solidFill>
                  <a:schemeClr val="tx1"/>
                </a:solidFill>
                <a:effectLst/>
                <a:latin typeface="+mn-lt"/>
                <a:ea typeface="+mn-ea"/>
                <a:cs typeface="+mn-cs"/>
              </a:rPr>
              <a:t>进行进一步分类。稀疏系数向量</a:t>
            </a:r>
            <a:r>
              <a:rPr lang="en-US" altLang="zh-CN" sz="1200" kern="1200" dirty="0">
                <a:solidFill>
                  <a:schemeClr val="tx1"/>
                </a:solidFill>
                <a:effectLst/>
                <a:latin typeface="+mn-lt"/>
                <a:ea typeface="+mn-ea"/>
                <a:cs typeface="+mn-cs"/>
              </a:rPr>
              <a:t>αs</a:t>
            </a:r>
            <a:r>
              <a:rPr lang="zh-CN" altLang="en-US" sz="1200" kern="1200" dirty="0">
                <a:solidFill>
                  <a:schemeClr val="tx1"/>
                </a:solidFill>
                <a:effectLst/>
                <a:latin typeface="+mn-lt"/>
                <a:ea typeface="+mn-ea"/>
                <a:cs typeface="+mn-cs"/>
              </a:rPr>
              <a:t>作为特征输入到</a:t>
            </a:r>
            <a:r>
              <a:rPr lang="en-US" altLang="zh-CN" sz="1200" kern="1200" dirty="0">
                <a:solidFill>
                  <a:schemeClr val="tx1"/>
                </a:solidFill>
                <a:effectLst/>
                <a:latin typeface="+mn-lt"/>
                <a:ea typeface="+mn-ea"/>
                <a:cs typeface="+mn-cs"/>
              </a:rPr>
              <a:t>SVM</a:t>
            </a:r>
            <a:r>
              <a:rPr lang="zh-CN" altLang="en-US" sz="1200" kern="1200" dirty="0">
                <a:solidFill>
                  <a:schemeClr val="tx1"/>
                </a:solidFill>
                <a:effectLst/>
                <a:latin typeface="+mn-lt"/>
                <a:ea typeface="+mn-ea"/>
                <a:cs typeface="+mn-cs"/>
              </a:rPr>
              <a:t>分类器，进一步检测是否为烟雾。</a:t>
            </a:r>
            <a:endParaRPr lang="en-US" altLang="zh-CN" dirty="0"/>
          </a:p>
        </p:txBody>
      </p:sp>
      <p:sp>
        <p:nvSpPr>
          <p:cNvPr id="4" name="灯片编号占位符 3"/>
          <p:cNvSpPr>
            <a:spLocks noGrp="1"/>
          </p:cNvSpPr>
          <p:nvPr>
            <p:ph type="sldNum" sz="quarter" idx="5"/>
          </p:nvPr>
        </p:nvSpPr>
        <p:spPr/>
        <p:txBody>
          <a:bodyPr/>
          <a:lstStyle/>
          <a:p>
            <a:fld id="{76E2F600-D6BF-48F3-BE94-005CF5FB96EE}" type="slidenum">
              <a:rPr lang="zh-CN" altLang="en-US" smtClean="0"/>
              <a:t>7</a:t>
            </a:fld>
            <a:endParaRPr lang="zh-CN" altLang="en-US"/>
          </a:p>
        </p:txBody>
      </p:sp>
    </p:spTree>
    <p:extLst>
      <p:ext uri="{BB962C8B-B14F-4D97-AF65-F5344CB8AC3E}">
        <p14:creationId xmlns:p14="http://schemas.microsoft.com/office/powerpoint/2010/main" val="8520504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41595283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18175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图</a:t>
            </a:r>
            <a:r>
              <a:rPr lang="en-US" altLang="zh-CN" dirty="0"/>
              <a:t>6</a:t>
            </a:r>
            <a:r>
              <a:rPr lang="zh-CN" altLang="en-US" dirty="0"/>
              <a:t>显示了估计的混合参数 </a:t>
            </a:r>
            <a:r>
              <a:rPr lang="en-US" altLang="zh-CN" dirty="0"/>
              <a:t>ω</a:t>
            </a:r>
            <a:r>
              <a:rPr lang="zh-CN" altLang="en-US" dirty="0"/>
              <a:t>。两种基于</a:t>
            </a:r>
            <a:r>
              <a:rPr lang="en-US" altLang="zh-CN" dirty="0"/>
              <a:t>elastic net</a:t>
            </a:r>
            <a:r>
              <a:rPr lang="zh-CN" altLang="en-US" dirty="0"/>
              <a:t>的方法可以获得更好的结果。其他三个模型的混合参数估计值均较差。</a:t>
            </a:r>
            <a:endParaRPr lang="en-US" altLang="zh-CN" dirty="0"/>
          </a:p>
        </p:txBody>
      </p:sp>
    </p:spTree>
    <p:extLst>
      <p:ext uri="{BB962C8B-B14F-4D97-AF65-F5344CB8AC3E}">
        <p14:creationId xmlns:p14="http://schemas.microsoft.com/office/powerpoint/2010/main" val="11071570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表</a:t>
            </a:r>
            <a:r>
              <a:rPr lang="en-US" altLang="zh-CN" dirty="0"/>
              <a:t>1</a:t>
            </a:r>
            <a:r>
              <a:rPr lang="zh-CN" altLang="en-US" dirty="0"/>
              <a:t>：估计值和预设</a:t>
            </a:r>
            <a:r>
              <a:rPr lang="en-US" altLang="zh-CN" dirty="0"/>
              <a:t>ω</a:t>
            </a:r>
            <a:r>
              <a:rPr lang="zh-CN" altLang="en-US" dirty="0"/>
              <a:t>之间的平均绝对误差。使用</a:t>
            </a:r>
            <a:r>
              <a:rPr lang="en-US" altLang="zh-CN" dirty="0"/>
              <a:t>elastic net</a:t>
            </a:r>
            <a:r>
              <a:rPr lang="zh-CN" altLang="en-US" dirty="0"/>
              <a:t>方法和本文的方法提供了较小的绝对误差。</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归一化互相关算法（</a:t>
            </a:r>
            <a:r>
              <a:rPr lang="en-US" altLang="zh-CN" sz="1200" kern="1200" dirty="0">
                <a:solidFill>
                  <a:schemeClr val="tx1"/>
                </a:solidFill>
                <a:effectLst/>
                <a:latin typeface="+mn-lt"/>
                <a:ea typeface="+mn-ea"/>
                <a:cs typeface="+mn-cs"/>
              </a:rPr>
              <a:t>NCC</a:t>
            </a:r>
            <a:r>
              <a:rPr lang="zh-CN" altLang="en-US" sz="1200" kern="1200" dirty="0">
                <a:solidFill>
                  <a:schemeClr val="tx1"/>
                </a:solidFill>
                <a:effectLst/>
                <a:latin typeface="+mn-lt"/>
                <a:ea typeface="+mn-ea"/>
                <a:cs typeface="+mn-cs"/>
              </a:rPr>
              <a:t>）用于比较原烟雾和重建烟雾之间的匹配度。</a:t>
            </a:r>
            <a:r>
              <a:rPr lang="en-US" altLang="zh-CN" sz="1200" kern="1200" dirty="0">
                <a:solidFill>
                  <a:schemeClr val="tx1"/>
                </a:solidFill>
                <a:effectLst/>
                <a:latin typeface="+mn-lt"/>
                <a:ea typeface="+mn-ea"/>
                <a:cs typeface="+mn-cs"/>
              </a:rPr>
              <a:t>NCC</a:t>
            </a:r>
            <a:r>
              <a:rPr lang="zh-CN" altLang="en-US" sz="1200" kern="1200" dirty="0">
                <a:solidFill>
                  <a:schemeClr val="tx1"/>
                </a:solidFill>
                <a:effectLst/>
                <a:latin typeface="+mn-lt"/>
                <a:ea typeface="+mn-ea"/>
                <a:cs typeface="+mn-cs"/>
              </a:rPr>
              <a:t>值越高，分离性能越好。</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effectLst/>
                <a:latin typeface="+mn-lt"/>
                <a:ea typeface="+mn-ea"/>
                <a:cs typeface="+mn-cs"/>
              </a:rPr>
              <a:t>表</a:t>
            </a:r>
            <a:r>
              <a:rPr lang="en-US" altLang="zh-CN" sz="1200" b="0" kern="1200" dirty="0">
                <a:solidFill>
                  <a:schemeClr val="tx1"/>
                </a:solidFill>
                <a:effectLst/>
                <a:latin typeface="+mn-lt"/>
                <a:ea typeface="+mn-ea"/>
                <a:cs typeface="+mn-cs"/>
              </a:rPr>
              <a:t>1</a:t>
            </a:r>
            <a:r>
              <a:rPr lang="zh-CN" altLang="en-US" sz="1200" kern="1200" dirty="0">
                <a:solidFill>
                  <a:schemeClr val="tx1"/>
                </a:solidFill>
                <a:effectLst/>
                <a:latin typeface="+mn-lt"/>
                <a:ea typeface="+mn-ea"/>
                <a:cs typeface="+mn-cs"/>
              </a:rPr>
              <a:t>展示了基于</a:t>
            </a:r>
            <a:r>
              <a:rPr lang="en-US" altLang="zh-CN" sz="1200" kern="1200" dirty="0">
                <a:solidFill>
                  <a:schemeClr val="tx1"/>
                </a:solidFill>
                <a:effectLst/>
                <a:latin typeface="+mn-lt"/>
                <a:ea typeface="+mn-ea"/>
                <a:cs typeface="+mn-cs"/>
              </a:rPr>
              <a:t>elastic net</a:t>
            </a:r>
            <a:r>
              <a:rPr lang="zh-CN" altLang="en-US" sz="1200" kern="1200" dirty="0">
                <a:solidFill>
                  <a:schemeClr val="tx1"/>
                </a:solidFill>
                <a:effectLst/>
                <a:latin typeface="+mn-lt"/>
                <a:ea typeface="+mn-ea"/>
                <a:cs typeface="+mn-cs"/>
              </a:rPr>
              <a:t>的方法在估计平均</a:t>
            </a:r>
            <a:r>
              <a:rPr lang="en-US" altLang="zh-CN" sz="1200" kern="1200" dirty="0">
                <a:solidFill>
                  <a:schemeClr val="tx1"/>
                </a:solidFill>
                <a:effectLst/>
                <a:latin typeface="+mn-lt"/>
                <a:ea typeface="+mn-ea"/>
                <a:cs typeface="+mn-cs"/>
              </a:rPr>
              <a:t>NCC</a:t>
            </a:r>
            <a:r>
              <a:rPr lang="zh-CN" altLang="en-US" sz="1200" kern="1200" dirty="0">
                <a:solidFill>
                  <a:schemeClr val="tx1"/>
                </a:solidFill>
                <a:effectLst/>
                <a:latin typeface="+mn-lt"/>
                <a:ea typeface="+mn-ea"/>
                <a:cs typeface="+mn-cs"/>
              </a:rPr>
              <a:t>方面的更好性能。</a:t>
            </a:r>
            <a:endParaRPr lang="en-US" altLang="zh-CN" sz="1200" kern="1200" dirty="0">
              <a:solidFill>
                <a:schemeClr val="tx1"/>
              </a:solidFill>
              <a:effectLst/>
              <a:latin typeface="+mn-lt"/>
              <a:ea typeface="+mn-ea"/>
              <a:cs typeface="+mn-cs"/>
            </a:endParaRPr>
          </a:p>
          <a:p>
            <a:endParaRPr lang="en-US" altLang="zh-CN" dirty="0"/>
          </a:p>
        </p:txBody>
      </p:sp>
    </p:spTree>
    <p:extLst>
      <p:ext uri="{BB962C8B-B14F-4D97-AF65-F5344CB8AC3E}">
        <p14:creationId xmlns:p14="http://schemas.microsoft.com/office/powerpoint/2010/main" val="16374245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7</a:t>
            </a:r>
            <a:r>
              <a:rPr lang="zh-CN" altLang="en-US" sz="1200" kern="1200" dirty="0">
                <a:solidFill>
                  <a:schemeClr val="tx1"/>
                </a:solidFill>
                <a:effectLst/>
                <a:latin typeface="+mn-lt"/>
                <a:ea typeface="+mn-ea"/>
                <a:cs typeface="+mn-cs"/>
              </a:rPr>
              <a:t>：通过改变混合参数估计烟气成分和真实烟气成分的匹配度</a:t>
            </a:r>
            <a:r>
              <a:rPr lang="en-US" altLang="zh-CN" sz="1200" kern="1200" dirty="0">
                <a:solidFill>
                  <a:schemeClr val="tx1"/>
                </a:solidFill>
                <a:effectLst/>
                <a:latin typeface="+mn-lt"/>
                <a:ea typeface="+mn-ea"/>
                <a:cs typeface="+mn-cs"/>
              </a:rPr>
              <a:t>NCC</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proposed</a:t>
            </a:r>
            <a:r>
              <a:rPr lang="zh-CN" altLang="en-US" sz="1200" kern="1200" dirty="0">
                <a:solidFill>
                  <a:schemeClr val="tx1"/>
                </a:solidFill>
                <a:effectLst/>
                <a:latin typeface="+mn-lt"/>
                <a:ea typeface="+mn-ea"/>
                <a:cs typeface="+mn-cs"/>
              </a:rPr>
              <a:t>方法中获得了最好和最稳定的结果。</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综合上述的图和表，可以看到基于</a:t>
            </a:r>
            <a:r>
              <a:rPr lang="en-US" altLang="zh-CN" sz="1200" kern="1200" dirty="0">
                <a:solidFill>
                  <a:schemeClr val="tx1"/>
                </a:solidFill>
                <a:effectLst/>
                <a:latin typeface="+mn-lt"/>
                <a:ea typeface="+mn-ea"/>
                <a:cs typeface="+mn-cs"/>
              </a:rPr>
              <a:t>elastic net</a:t>
            </a:r>
            <a:r>
              <a:rPr lang="zh-CN" altLang="en-US" sz="1200" kern="1200" dirty="0">
                <a:solidFill>
                  <a:schemeClr val="tx1"/>
                </a:solidFill>
                <a:effectLst/>
                <a:latin typeface="+mn-lt"/>
                <a:ea typeface="+mn-ea"/>
                <a:cs typeface="+mn-cs"/>
              </a:rPr>
              <a:t>可以获得更准确的结果，并且该方法的判别约束能进一步提高烟雾分离中稀疏表示的性能。</a:t>
            </a:r>
          </a:p>
        </p:txBody>
      </p:sp>
    </p:spTree>
    <p:extLst>
      <p:ext uri="{BB962C8B-B14F-4D97-AF65-F5344CB8AC3E}">
        <p14:creationId xmlns:p14="http://schemas.microsoft.com/office/powerpoint/2010/main" val="5427968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8</a:t>
            </a:r>
            <a:r>
              <a:rPr lang="zh-CN" altLang="en-US" sz="1200" kern="1200" dirty="0">
                <a:solidFill>
                  <a:schemeClr val="tx1"/>
                </a:solidFill>
                <a:effectLst/>
                <a:latin typeface="+mn-lt"/>
                <a:ea typeface="+mn-ea"/>
                <a:cs typeface="+mn-cs"/>
              </a:rPr>
              <a:t>：无烟图像的分离效果。如图估计的</a:t>
            </a:r>
            <a:r>
              <a:rPr lang="en-US" altLang="zh-CN" sz="1200" kern="1200" dirty="0">
                <a:solidFill>
                  <a:schemeClr val="tx1"/>
                </a:solidFill>
                <a:effectLst/>
                <a:latin typeface="+mn-lt"/>
                <a:ea typeface="+mn-ea"/>
                <a:cs typeface="+mn-cs"/>
              </a:rPr>
              <a:t>ω</a:t>
            </a:r>
            <a:r>
              <a:rPr lang="zh-CN" altLang="en-US" sz="1200" kern="1200" dirty="0">
                <a:solidFill>
                  <a:schemeClr val="tx1"/>
                </a:solidFill>
                <a:effectLst/>
                <a:latin typeface="+mn-lt"/>
                <a:ea typeface="+mn-ea"/>
                <a:cs typeface="+mn-cs"/>
              </a:rPr>
              <a:t>几乎为零，并且分离出的烟雾与原烟雾的匹配度高。</a:t>
            </a:r>
            <a:endParaRPr lang="en-US" altLang="zh-CN" sz="12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1863272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9</a:t>
            </a:r>
            <a:r>
              <a:rPr lang="zh-CN" altLang="en-US" sz="1200" kern="1200" dirty="0">
                <a:solidFill>
                  <a:schemeClr val="tx1"/>
                </a:solidFill>
                <a:effectLst/>
                <a:latin typeface="+mn-lt"/>
                <a:ea typeface="+mn-ea"/>
                <a:cs typeface="+mn-cs"/>
              </a:rPr>
              <a:t>：分离浓烟时，估计的</a:t>
            </a:r>
            <a:r>
              <a:rPr lang="en-US" altLang="zh-CN" sz="1200" kern="1200" dirty="0">
                <a:solidFill>
                  <a:schemeClr val="tx1"/>
                </a:solidFill>
                <a:effectLst/>
                <a:latin typeface="+mn-lt"/>
                <a:ea typeface="+mn-ea"/>
                <a:cs typeface="+mn-cs"/>
              </a:rPr>
              <a:t>ω</a:t>
            </a:r>
            <a:r>
              <a:rPr lang="zh-CN" altLang="en-US" sz="1200" kern="1200" dirty="0">
                <a:solidFill>
                  <a:schemeClr val="tx1"/>
                </a:solidFill>
                <a:effectLst/>
                <a:latin typeface="+mn-lt"/>
                <a:ea typeface="+mn-ea"/>
                <a:cs typeface="+mn-cs"/>
              </a:rPr>
              <a:t>值都接近</a:t>
            </a:r>
            <a:r>
              <a:rPr lang="en-US" altLang="zh-CN" sz="1200" kern="1200" dirty="0">
                <a:solidFill>
                  <a:schemeClr val="tx1"/>
                </a:solidFill>
                <a:effectLst/>
                <a:latin typeface="+mn-lt"/>
                <a:ea typeface="+mn-ea"/>
                <a:cs typeface="+mn-cs"/>
              </a:rPr>
              <a:t>1</a:t>
            </a:r>
            <a:r>
              <a:rPr lang="zh-CN" altLang="en-US" sz="1200" kern="1200" dirty="0">
                <a:solidFill>
                  <a:schemeClr val="tx1"/>
                </a:solidFill>
                <a:effectLst/>
                <a:latin typeface="+mn-lt"/>
                <a:ea typeface="+mn-ea"/>
                <a:cs typeface="+mn-cs"/>
              </a:rPr>
              <a:t>。显然，两种方法都能取得良好的分离效果，而</a:t>
            </a:r>
            <a:r>
              <a:rPr lang="en-US" altLang="zh-CN" sz="1200" kern="1200" dirty="0">
                <a:solidFill>
                  <a:schemeClr val="tx1"/>
                </a:solidFill>
                <a:effectLst/>
                <a:latin typeface="+mn-lt"/>
                <a:ea typeface="+mn-ea"/>
                <a:cs typeface="+mn-cs"/>
              </a:rPr>
              <a:t>proposed</a:t>
            </a:r>
            <a:r>
              <a:rPr lang="zh-CN" altLang="en-US" sz="1200" kern="1200" dirty="0">
                <a:solidFill>
                  <a:schemeClr val="tx1"/>
                </a:solidFill>
                <a:effectLst/>
                <a:latin typeface="+mn-lt"/>
                <a:ea typeface="+mn-ea"/>
                <a:cs typeface="+mn-cs"/>
              </a:rPr>
              <a:t>方法却很小的提升。</a:t>
            </a:r>
            <a:endParaRPr lang="en-US" altLang="zh-CN" sz="12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2627772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10</a:t>
            </a:r>
            <a:r>
              <a:rPr lang="zh-CN" altLang="en-US" sz="1200" kern="1200" dirty="0">
                <a:solidFill>
                  <a:schemeClr val="tx1"/>
                </a:solidFill>
                <a:effectLst/>
                <a:latin typeface="+mn-lt"/>
                <a:ea typeface="+mn-ea"/>
                <a:cs typeface="+mn-cs"/>
              </a:rPr>
              <a:t>：对真实视频中的烟雾进行了视觉评估，显示分离的烟雾成分以及估计的混合参数。</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所提出的方法在具有纹理（第</a:t>
            </a:r>
            <a:r>
              <a:rPr lang="en-US" altLang="zh-CN" sz="1200" kern="1200" dirty="0">
                <a:solidFill>
                  <a:schemeClr val="tx1"/>
                </a:solidFill>
                <a:effectLst/>
                <a:latin typeface="+mn-lt"/>
                <a:ea typeface="+mn-ea"/>
                <a:cs typeface="+mn-cs"/>
              </a:rPr>
              <a:t>1,2,6,7,10</a:t>
            </a:r>
            <a:r>
              <a:rPr lang="zh-CN" altLang="en-US" sz="1200" kern="1200" dirty="0">
                <a:solidFill>
                  <a:schemeClr val="tx1"/>
                </a:solidFill>
                <a:effectLst/>
                <a:latin typeface="+mn-lt"/>
                <a:ea typeface="+mn-ea"/>
                <a:cs typeface="+mn-cs"/>
              </a:rPr>
              <a:t>列）和分段平滑背景（第</a:t>
            </a:r>
            <a:r>
              <a:rPr lang="en-US" altLang="zh-CN" sz="1200" kern="1200" dirty="0">
                <a:solidFill>
                  <a:schemeClr val="tx1"/>
                </a:solidFill>
                <a:effectLst/>
                <a:latin typeface="+mn-lt"/>
                <a:ea typeface="+mn-ea"/>
                <a:cs typeface="+mn-cs"/>
              </a:rPr>
              <a:t>3</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4</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5</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8</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9</a:t>
            </a:r>
            <a:r>
              <a:rPr lang="zh-CN" altLang="en-US" sz="1200" kern="1200" dirty="0">
                <a:solidFill>
                  <a:schemeClr val="tx1"/>
                </a:solidFill>
                <a:effectLst/>
                <a:latin typeface="+mn-lt"/>
                <a:ea typeface="+mn-ea"/>
                <a:cs typeface="+mn-cs"/>
              </a:rPr>
              <a:t>列）的真实烟雾视频中估计效果较好。</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可以看到在原图像（第</a:t>
            </a:r>
            <a:r>
              <a:rPr lang="en-US" altLang="zh-CN" sz="1200" kern="1200" dirty="0">
                <a:solidFill>
                  <a:schemeClr val="tx1"/>
                </a:solidFill>
                <a:effectLst/>
                <a:latin typeface="+mn-lt"/>
                <a:ea typeface="+mn-ea"/>
                <a:cs typeface="+mn-cs"/>
              </a:rPr>
              <a:t>2</a:t>
            </a:r>
            <a:r>
              <a:rPr lang="zh-CN" altLang="en-US" sz="1200" kern="1200" dirty="0">
                <a:solidFill>
                  <a:schemeClr val="tx1"/>
                </a:solidFill>
                <a:effectLst/>
                <a:latin typeface="+mn-lt"/>
                <a:ea typeface="+mn-ea"/>
                <a:cs typeface="+mn-cs"/>
              </a:rPr>
              <a:t>列和第</a:t>
            </a:r>
            <a:r>
              <a:rPr lang="en-US" altLang="zh-CN" sz="1200" kern="1200" dirty="0">
                <a:solidFill>
                  <a:schemeClr val="tx1"/>
                </a:solidFill>
                <a:effectLst/>
                <a:latin typeface="+mn-lt"/>
                <a:ea typeface="+mn-ea"/>
                <a:cs typeface="+mn-cs"/>
              </a:rPr>
              <a:t>6</a:t>
            </a:r>
            <a:r>
              <a:rPr lang="zh-CN" altLang="en-US" sz="1200" kern="1200" dirty="0">
                <a:solidFill>
                  <a:schemeClr val="tx1"/>
                </a:solidFill>
                <a:effectLst/>
                <a:latin typeface="+mn-lt"/>
                <a:ea typeface="+mn-ea"/>
                <a:cs typeface="+mn-cs"/>
              </a:rPr>
              <a:t>列）中看不到背景时，混合参数接近</a:t>
            </a:r>
            <a:r>
              <a:rPr lang="en-US" altLang="zh-CN" sz="1200" kern="1200" dirty="0">
                <a:solidFill>
                  <a:schemeClr val="tx1"/>
                </a:solidFill>
                <a:effectLst/>
                <a:latin typeface="+mn-lt"/>
                <a:ea typeface="+mn-ea"/>
                <a:cs typeface="+mn-cs"/>
              </a:rPr>
              <a:t>1</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9449143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11</a:t>
            </a:r>
            <a:r>
              <a:rPr lang="zh-CN" altLang="en-US" sz="1200" kern="1200" dirty="0">
                <a:solidFill>
                  <a:schemeClr val="tx1"/>
                </a:solidFill>
                <a:effectLst/>
                <a:latin typeface="+mn-lt"/>
                <a:ea typeface="+mn-ea"/>
                <a:cs typeface="+mn-cs"/>
              </a:rPr>
              <a:t>：第一行：当前输入帧；第二行：局部平滑法；第三行：</a:t>
            </a:r>
            <a:r>
              <a:rPr lang="en-US" altLang="zh-CN" sz="1200" kern="1200" dirty="0" err="1">
                <a:solidFill>
                  <a:schemeClr val="tx1"/>
                </a:solidFill>
                <a:effectLst/>
                <a:latin typeface="+mn-lt"/>
                <a:ea typeface="+mn-ea"/>
                <a:cs typeface="+mn-cs"/>
              </a:rPr>
              <a:t>pca</a:t>
            </a:r>
            <a:r>
              <a:rPr lang="zh-CN" altLang="en-US" sz="1200" kern="1200" dirty="0">
                <a:solidFill>
                  <a:schemeClr val="tx1"/>
                </a:solidFill>
                <a:effectLst/>
                <a:latin typeface="+mn-lt"/>
                <a:ea typeface="+mn-ea"/>
                <a:cs typeface="+mn-cs"/>
              </a:rPr>
              <a:t>法；第四行：特征符号法；第五行：</a:t>
            </a:r>
            <a:r>
              <a:rPr lang="en-US" altLang="zh-CN" sz="1200" kern="1200" dirty="0">
                <a:solidFill>
                  <a:schemeClr val="tx1"/>
                </a:solidFill>
                <a:effectLst/>
                <a:latin typeface="+mn-lt"/>
                <a:ea typeface="+mn-ea"/>
                <a:cs typeface="+mn-cs"/>
              </a:rPr>
              <a:t>elastic net</a:t>
            </a:r>
            <a:r>
              <a:rPr lang="zh-CN" altLang="en-US" sz="1200" kern="1200" dirty="0">
                <a:solidFill>
                  <a:schemeClr val="tx1"/>
                </a:solidFill>
                <a:effectLst/>
                <a:latin typeface="+mn-lt"/>
                <a:ea typeface="+mn-ea"/>
                <a:cs typeface="+mn-cs"/>
              </a:rPr>
              <a:t>法；第六行：</a:t>
            </a:r>
            <a:r>
              <a:rPr lang="en-US" altLang="zh-CN" sz="1200" kern="1200" dirty="0">
                <a:solidFill>
                  <a:schemeClr val="tx1"/>
                </a:solidFill>
                <a:effectLst/>
                <a:latin typeface="+mn-lt"/>
                <a:ea typeface="+mn-ea"/>
                <a:cs typeface="+mn-cs"/>
              </a:rPr>
              <a:t>proposed</a:t>
            </a:r>
            <a:r>
              <a:rPr lang="zh-CN" altLang="en-US" sz="1200" kern="1200" dirty="0">
                <a:solidFill>
                  <a:schemeClr val="tx1"/>
                </a:solidFill>
                <a:effectLst/>
                <a:latin typeface="+mn-lt"/>
                <a:ea typeface="+mn-ea"/>
                <a:cs typeface="+mn-cs"/>
              </a:rPr>
              <a:t>方法。</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测试了远近距离，浓烟和淡烟，纹理背景和照明不同的场景。</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使用稀疏表示的方法可以在视觉评估和定量评估中获得更好的烟雾分离结果。</a:t>
            </a:r>
            <a:endParaRPr lang="en-US" altLang="zh-CN" sz="12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1842074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sz="12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41422455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sz="1200" kern="1200" dirty="0">
                <a:solidFill>
                  <a:schemeClr val="tx1"/>
                </a:solidFill>
                <a:effectLst/>
                <a:latin typeface="+mn-lt"/>
                <a:ea typeface="+mn-ea"/>
                <a:cs typeface="+mn-cs"/>
              </a:rPr>
              <a:t>表</a:t>
            </a:r>
            <a:r>
              <a:rPr lang="en-US" altLang="zh-CN" sz="1200" kern="1200" dirty="0">
                <a:solidFill>
                  <a:schemeClr val="tx1"/>
                </a:solidFill>
                <a:effectLst/>
                <a:latin typeface="+mn-lt"/>
                <a:ea typeface="+mn-ea"/>
                <a:cs typeface="+mn-cs"/>
              </a:rPr>
              <a:t>2</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SVM</a:t>
            </a:r>
            <a:r>
              <a:rPr lang="zh-CN" altLang="en-US" sz="1200" kern="1200" dirty="0">
                <a:solidFill>
                  <a:schemeClr val="tx1"/>
                </a:solidFill>
                <a:effectLst/>
                <a:latin typeface="+mn-lt"/>
                <a:ea typeface="+mn-ea"/>
                <a:cs typeface="+mn-cs"/>
              </a:rPr>
              <a:t>被用作分类器，以训练和测试稀疏系数特征。</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对没有分离烟雾直接提取特征的方法，轻烟的分类效果比重烟的分类效果差。采用烟气分离方法对可见背景的影响较小。这表明可见背景可以在一定程度上影响特征提取。</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基于特征符号的方法不能像基于</a:t>
            </a:r>
            <a:r>
              <a:rPr lang="en-US" altLang="zh-CN" sz="1200" kern="1200" dirty="0">
                <a:solidFill>
                  <a:schemeClr val="tx1"/>
                </a:solidFill>
                <a:effectLst/>
                <a:latin typeface="+mn-lt"/>
                <a:ea typeface="+mn-ea"/>
                <a:cs typeface="+mn-cs"/>
              </a:rPr>
              <a:t>elastic net</a:t>
            </a:r>
            <a:r>
              <a:rPr lang="zh-CN" altLang="en-US" sz="1200" kern="1200" dirty="0">
                <a:solidFill>
                  <a:schemeClr val="tx1"/>
                </a:solidFill>
                <a:effectLst/>
                <a:latin typeface="+mn-lt"/>
                <a:ea typeface="+mn-ea"/>
                <a:cs typeface="+mn-cs"/>
              </a:rPr>
              <a:t>的方法那样在分类中很好地工作。</a:t>
            </a:r>
            <a:endParaRPr lang="en-US" altLang="zh-CN" sz="12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2575305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12</a:t>
            </a:r>
            <a:r>
              <a:rPr lang="zh-CN" altLang="en-US" sz="1200" kern="1200" dirty="0">
                <a:solidFill>
                  <a:schemeClr val="tx1"/>
                </a:solidFill>
                <a:effectLst/>
                <a:latin typeface="+mn-lt"/>
                <a:ea typeface="+mn-ea"/>
                <a:cs typeface="+mn-cs"/>
              </a:rPr>
              <a:t>：从分离烟雾中提取稀疏系数特征，用</a:t>
            </a:r>
            <a:r>
              <a:rPr lang="en-US" altLang="zh-CN" sz="1200" kern="1200" dirty="0">
                <a:solidFill>
                  <a:schemeClr val="tx1"/>
                </a:solidFill>
                <a:effectLst/>
                <a:latin typeface="+mn-lt"/>
                <a:ea typeface="+mn-ea"/>
                <a:cs typeface="+mn-cs"/>
              </a:rPr>
              <a:t>elastic net</a:t>
            </a:r>
            <a:r>
              <a:rPr lang="zh-CN" altLang="en-US" sz="1200" kern="1200" dirty="0">
                <a:solidFill>
                  <a:schemeClr val="tx1"/>
                </a:solidFill>
                <a:effectLst/>
                <a:latin typeface="+mn-lt"/>
                <a:ea typeface="+mn-ea"/>
                <a:cs typeface="+mn-cs"/>
              </a:rPr>
              <a:t>可以在稀疏编码中找出更可靠的特征</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13</a:t>
            </a:r>
            <a:r>
              <a:rPr lang="zh-CN" altLang="en-US" sz="1200" kern="1200" dirty="0">
                <a:solidFill>
                  <a:schemeClr val="tx1"/>
                </a:solidFill>
                <a:effectLst/>
                <a:latin typeface="+mn-lt"/>
                <a:ea typeface="+mn-ea"/>
                <a:cs typeface="+mn-cs"/>
              </a:rPr>
              <a:t>：从分离烟雾中提取</a:t>
            </a:r>
            <a:r>
              <a:rPr lang="en-US" altLang="zh-CN" sz="1200" kern="1200" dirty="0">
                <a:solidFill>
                  <a:schemeClr val="tx1"/>
                </a:solidFill>
                <a:effectLst/>
                <a:latin typeface="+mn-lt"/>
                <a:ea typeface="+mn-ea"/>
                <a:cs typeface="+mn-cs"/>
              </a:rPr>
              <a:t>LBP</a:t>
            </a:r>
            <a:r>
              <a:rPr lang="zh-CN" altLang="en-US" sz="1200" kern="1200" dirty="0">
                <a:solidFill>
                  <a:schemeClr val="tx1"/>
                </a:solidFill>
                <a:effectLst/>
                <a:latin typeface="+mn-lt"/>
                <a:ea typeface="+mn-ea"/>
                <a:cs typeface="+mn-cs"/>
              </a:rPr>
              <a:t>，同上</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表</a:t>
            </a:r>
            <a:r>
              <a:rPr lang="en-US" altLang="zh-CN" sz="1200" kern="1200" dirty="0">
                <a:solidFill>
                  <a:schemeClr val="tx1"/>
                </a:solidFill>
                <a:effectLst/>
                <a:latin typeface="+mn-lt"/>
                <a:ea typeface="+mn-ea"/>
                <a:cs typeface="+mn-cs"/>
              </a:rPr>
              <a:t>3</a:t>
            </a:r>
            <a:r>
              <a:rPr lang="zh-CN" altLang="en-US" sz="1200" kern="1200" dirty="0">
                <a:solidFill>
                  <a:schemeClr val="tx1"/>
                </a:solidFill>
                <a:effectLst/>
                <a:latin typeface="+mn-lt"/>
                <a:ea typeface="+mn-ea"/>
                <a:cs typeface="+mn-cs"/>
              </a:rPr>
              <a:t>：不同方法从分离烟雾中提取</a:t>
            </a:r>
            <a:r>
              <a:rPr lang="en-US" altLang="zh-CN" sz="1200" kern="1200" dirty="0">
                <a:solidFill>
                  <a:schemeClr val="tx1"/>
                </a:solidFill>
                <a:effectLst/>
                <a:latin typeface="+mn-lt"/>
                <a:ea typeface="+mn-ea"/>
                <a:cs typeface="+mn-cs"/>
              </a:rPr>
              <a:t>LBPs</a:t>
            </a:r>
            <a:r>
              <a:rPr lang="zh-CN" altLang="en-US"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SC</a:t>
            </a:r>
            <a:r>
              <a:rPr lang="zh-CN" altLang="en-US" sz="1200" kern="1200" dirty="0">
                <a:solidFill>
                  <a:schemeClr val="tx1"/>
                </a:solidFill>
                <a:effectLst/>
                <a:latin typeface="+mn-lt"/>
                <a:ea typeface="+mn-ea"/>
                <a:cs typeface="+mn-cs"/>
              </a:rPr>
              <a:t>的分类精度的对比，可以看到</a:t>
            </a:r>
            <a:r>
              <a:rPr lang="en-US" altLang="zh-CN" sz="1200" kern="1200" dirty="0">
                <a:solidFill>
                  <a:schemeClr val="tx1"/>
                </a:solidFill>
                <a:effectLst/>
                <a:latin typeface="+mn-lt"/>
                <a:ea typeface="+mn-ea"/>
                <a:cs typeface="+mn-cs"/>
              </a:rPr>
              <a:t>proposed</a:t>
            </a:r>
            <a:r>
              <a:rPr lang="zh-CN" altLang="en-US" sz="1200" kern="1200" dirty="0">
                <a:solidFill>
                  <a:schemeClr val="tx1"/>
                </a:solidFill>
                <a:effectLst/>
                <a:latin typeface="+mn-lt"/>
                <a:ea typeface="+mn-ea"/>
                <a:cs typeface="+mn-cs"/>
              </a:rPr>
              <a:t>方法为</a:t>
            </a:r>
            <a:r>
              <a:rPr lang="en-US" altLang="zh-CN" sz="1200" kern="1200" dirty="0">
                <a:solidFill>
                  <a:schemeClr val="tx1"/>
                </a:solidFill>
                <a:effectLst/>
                <a:latin typeface="+mn-lt"/>
                <a:ea typeface="+mn-ea"/>
                <a:cs typeface="+mn-cs"/>
              </a:rPr>
              <a:t>LBP</a:t>
            </a:r>
            <a:r>
              <a:rPr lang="zh-CN" altLang="en-US" sz="1200" kern="1200" dirty="0">
                <a:solidFill>
                  <a:schemeClr val="tx1"/>
                </a:solidFill>
                <a:effectLst/>
                <a:latin typeface="+mn-lt"/>
                <a:ea typeface="+mn-ea"/>
                <a:cs typeface="+mn-cs"/>
              </a:rPr>
              <a:t>特征提取提供了更可靠的烟雾信息。此外，从分离的烟雾提取</a:t>
            </a:r>
            <a:r>
              <a:rPr lang="en-US" altLang="zh-CN" sz="1200" kern="1200" dirty="0">
                <a:solidFill>
                  <a:schemeClr val="tx1"/>
                </a:solidFill>
                <a:effectLst/>
                <a:latin typeface="+mn-lt"/>
                <a:ea typeface="+mn-ea"/>
                <a:cs typeface="+mn-cs"/>
              </a:rPr>
              <a:t>LBP</a:t>
            </a:r>
            <a:r>
              <a:rPr lang="zh-CN" altLang="en-US" sz="1200" kern="1200" dirty="0">
                <a:solidFill>
                  <a:schemeClr val="tx1"/>
                </a:solidFill>
                <a:effectLst/>
                <a:latin typeface="+mn-lt"/>
                <a:ea typeface="+mn-ea"/>
                <a:cs typeface="+mn-cs"/>
              </a:rPr>
              <a:t>的性能要比直接背景减法提取的要好得多。</a:t>
            </a:r>
            <a:endParaRPr lang="en-US" altLang="zh-CN" sz="12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4333273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14</a:t>
            </a:r>
            <a:r>
              <a:rPr lang="zh-CN" altLang="en-US" sz="1200" kern="1200" dirty="0">
                <a:solidFill>
                  <a:schemeClr val="tx1"/>
                </a:solidFill>
                <a:effectLst/>
                <a:latin typeface="+mn-lt"/>
                <a:ea typeface="+mn-ea"/>
                <a:cs typeface="+mn-cs"/>
              </a:rPr>
              <a:t>描述了使用</a:t>
            </a:r>
            <a:r>
              <a:rPr lang="en-US" altLang="zh-CN" sz="1200" kern="1200" dirty="0">
                <a:solidFill>
                  <a:schemeClr val="tx1"/>
                </a:solidFill>
                <a:effectLst/>
                <a:latin typeface="+mn-lt"/>
                <a:ea typeface="+mn-ea"/>
                <a:cs typeface="+mn-cs"/>
              </a:rPr>
              <a:t>proposed</a:t>
            </a:r>
            <a:r>
              <a:rPr lang="zh-CN" altLang="en-US"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SC</a:t>
            </a:r>
            <a:r>
              <a:rPr lang="zh-CN" altLang="en-US" sz="1200" kern="1200" dirty="0">
                <a:solidFill>
                  <a:schemeClr val="tx1"/>
                </a:solidFill>
                <a:effectLst/>
                <a:latin typeface="+mn-lt"/>
                <a:ea typeface="+mn-ea"/>
                <a:cs typeface="+mn-cs"/>
              </a:rPr>
              <a:t>特征在真实视频上的检测结果。</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a</a:t>
            </a:r>
            <a:r>
              <a:rPr lang="zh-CN" altLang="en-US" sz="1200" kern="1200" dirty="0">
                <a:solidFill>
                  <a:schemeClr val="tx1"/>
                </a:solidFill>
                <a:effectLst/>
                <a:latin typeface="+mn-lt"/>
                <a:ea typeface="+mn-ea"/>
                <a:cs typeface="+mn-cs"/>
              </a:rPr>
              <a:t>）：原视频，通过简单的运动检测来</a:t>
            </a:r>
            <a:r>
              <a:rPr lang="zh-CN" altLang="en-US" sz="1200" b="1" kern="1200" dirty="0">
                <a:solidFill>
                  <a:schemeClr val="tx1"/>
                </a:solidFill>
                <a:effectLst/>
                <a:latin typeface="+mn-lt"/>
                <a:ea typeface="+mn-ea"/>
                <a:cs typeface="+mn-cs"/>
              </a:rPr>
              <a:t>定位运动对象</a:t>
            </a:r>
            <a:r>
              <a:rPr lang="zh-CN" altLang="en-US" sz="1200" kern="1200" dirty="0">
                <a:solidFill>
                  <a:schemeClr val="tx1"/>
                </a:solidFill>
                <a:effectLst/>
                <a:latin typeface="+mn-lt"/>
                <a:ea typeface="+mn-ea"/>
                <a:cs typeface="+mn-cs"/>
              </a:rPr>
              <a:t>，对运动区域中的每个块进行</a:t>
            </a:r>
            <a:r>
              <a:rPr lang="zh-CN" altLang="en-US" sz="1200" b="1" kern="1200" dirty="0">
                <a:solidFill>
                  <a:schemeClr val="tx1"/>
                </a:solidFill>
                <a:effectLst/>
                <a:latin typeface="+mn-lt"/>
                <a:ea typeface="+mn-ea"/>
                <a:cs typeface="+mn-cs"/>
              </a:rPr>
              <a:t>分类。</a:t>
            </a:r>
            <a:endParaRPr lang="en-US" altLang="zh-CN" sz="1200" b="1"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b</a:t>
            </a:r>
            <a:r>
              <a:rPr lang="zh-CN" altLang="en-US" sz="1200" kern="1200" dirty="0">
                <a:solidFill>
                  <a:schemeClr val="tx1"/>
                </a:solidFill>
                <a:effectLst/>
                <a:latin typeface="+mn-lt"/>
                <a:ea typeface="+mn-ea"/>
                <a:cs typeface="+mn-cs"/>
              </a:rPr>
              <a:t>）：红色，黄色和绿色矩形分别标记为重烟（</a:t>
            </a:r>
            <a:r>
              <a:rPr lang="en-US" altLang="zh-CN" sz="1200" kern="1200" dirty="0">
                <a:solidFill>
                  <a:schemeClr val="tx1"/>
                </a:solidFill>
                <a:effectLst/>
                <a:latin typeface="+mn-lt"/>
                <a:ea typeface="+mn-ea"/>
                <a:cs typeface="+mn-cs"/>
              </a:rPr>
              <a:t>ω∈[0.6</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1]</a:t>
            </a:r>
            <a:r>
              <a:rPr lang="zh-CN" altLang="en-US" sz="1200" kern="1200" dirty="0">
                <a:solidFill>
                  <a:schemeClr val="tx1"/>
                </a:solidFill>
                <a:effectLst/>
                <a:latin typeface="+mn-lt"/>
                <a:ea typeface="+mn-ea"/>
                <a:cs typeface="+mn-cs"/>
              </a:rPr>
              <a:t>），轻烟（</a:t>
            </a:r>
            <a:r>
              <a:rPr lang="en-US" altLang="zh-CN" sz="1200" kern="1200" dirty="0">
                <a:solidFill>
                  <a:schemeClr val="tx1"/>
                </a:solidFill>
                <a:effectLst/>
                <a:latin typeface="+mn-lt"/>
                <a:ea typeface="+mn-ea"/>
                <a:cs typeface="+mn-cs"/>
              </a:rPr>
              <a:t>ω∈[0.01</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0.6</a:t>
            </a:r>
            <a:r>
              <a:rPr lang="zh-CN" altLang="en-US" sz="1200" kern="1200" dirty="0">
                <a:solidFill>
                  <a:schemeClr val="tx1"/>
                </a:solidFill>
                <a:effectLst/>
                <a:latin typeface="+mn-lt"/>
                <a:ea typeface="+mn-ea"/>
                <a:cs typeface="+mn-cs"/>
              </a:rPr>
              <a:t>）），尽管非烟的块存在一些错误分类，但是如果在每个运动区域中采用简单多数表决，则所有区域都不会被错误分类。</a:t>
            </a:r>
            <a:endParaRPr lang="en-US" altLang="zh-CN" sz="12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6870726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sz="12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6535259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在学习过的</a:t>
            </a:r>
            <a:r>
              <a:rPr lang="en-US" altLang="zh-CN" sz="1200" dirty="0"/>
              <a:t>D</a:t>
            </a:r>
            <a:r>
              <a:rPr lang="en-US" altLang="zh-CN" sz="1200" baseline="-25000" dirty="0"/>
              <a:t>s</a:t>
            </a:r>
            <a:r>
              <a:rPr lang="zh-CN" altLang="en-US" sz="1200" dirty="0"/>
              <a:t>上重建的任何图像都应由非烟字典</a:t>
            </a:r>
            <a:r>
              <a:rPr lang="en-US" altLang="zh-CN" sz="1200" dirty="0"/>
              <a:t>D</a:t>
            </a:r>
            <a:r>
              <a:rPr lang="en-US" altLang="zh-CN" sz="1200" baseline="-25000" dirty="0"/>
              <a:t>b</a:t>
            </a:r>
            <a:r>
              <a:rPr lang="zh-CN" altLang="en-US" sz="1200" dirty="0"/>
              <a:t>进行“</a:t>
            </a:r>
            <a:r>
              <a:rPr lang="zh-CN" altLang="en-US" sz="1200" b="1" dirty="0"/>
              <a:t>惩罚</a:t>
            </a:r>
            <a:r>
              <a:rPr lang="zh-CN" altLang="en-US" sz="1200" dirty="0"/>
              <a:t>”，以使在</a:t>
            </a:r>
            <a:r>
              <a:rPr lang="en-US" altLang="zh-CN" sz="1200" dirty="0"/>
              <a:t>D</a:t>
            </a:r>
            <a:r>
              <a:rPr lang="en-US" altLang="zh-CN" sz="1200" baseline="-25000" dirty="0"/>
              <a:t>b</a:t>
            </a:r>
            <a:r>
              <a:rPr lang="zh-CN" altLang="en-US" sz="1200" dirty="0"/>
              <a:t>上表示的</a:t>
            </a:r>
            <a:r>
              <a:rPr lang="en-US" altLang="zh-CN" sz="1200" dirty="0"/>
              <a:t>α</a:t>
            </a:r>
            <a:r>
              <a:rPr lang="en-US" altLang="zh-CN" sz="1200" baseline="-25000" dirty="0"/>
              <a:t>s</a:t>
            </a:r>
            <a:r>
              <a:rPr lang="zh-CN" altLang="en-US" sz="1200" dirty="0"/>
              <a:t>产生较小的值。</a:t>
            </a:r>
            <a:endParaRPr lang="en-US" altLang="zh-CN" sz="1200" dirty="0"/>
          </a:p>
          <a:p>
            <a:endParaRPr lang="en-US" altLang="zh-CN" sz="12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6285930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6E2F600-D6BF-48F3-BE94-005CF5FB96EE}" type="slidenum">
              <a:rPr lang="zh-CN" altLang="en-US" smtClean="0"/>
              <a:t>23</a:t>
            </a:fld>
            <a:endParaRPr lang="zh-CN" altLang="en-US"/>
          </a:p>
        </p:txBody>
      </p:sp>
    </p:spTree>
    <p:extLst>
      <p:ext uri="{BB962C8B-B14F-4D97-AF65-F5344CB8AC3E}">
        <p14:creationId xmlns:p14="http://schemas.microsoft.com/office/powerpoint/2010/main" val="29173496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cxnSp>
        <p:nvCxnSpPr>
          <p:cNvPr id="3" name="直接连接符 2"/>
          <p:cNvCxnSpPr/>
          <p:nvPr userDrawn="1"/>
        </p:nvCxnSpPr>
        <p:spPr>
          <a:xfrm flipV="1">
            <a:off x="1325217" y="927652"/>
            <a:ext cx="9342783" cy="13252"/>
          </a:xfrm>
          <a:prstGeom prst="line">
            <a:avLst/>
          </a:prstGeom>
          <a:ln w="28575">
            <a:solidFill>
              <a:schemeClr val="tx1"/>
            </a:solidFill>
          </a:ln>
        </p:spPr>
        <p:style>
          <a:lnRef idx="3">
            <a:schemeClr val="dk1"/>
          </a:lnRef>
          <a:fillRef idx="0">
            <a:schemeClr val="dk1"/>
          </a:fillRef>
          <a:effectRef idx="2">
            <a:schemeClr val="dk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srcRect l="61489" t="25058" r="12143" b="25081"/>
          <a:stretch>
            <a:fillRect/>
          </a:stretch>
        </p:blipFill>
        <p:spPr>
          <a:xfrm>
            <a:off x="3882314" y="1181451"/>
            <a:ext cx="4495104" cy="4495104"/>
          </a:xfrm>
          <a:prstGeom prst="ellipse">
            <a:avLst/>
          </a:prstGeom>
        </p:spPr>
      </p:pic>
      <p:cxnSp>
        <p:nvCxnSpPr>
          <p:cNvPr id="6" name="直接连接符 5"/>
          <p:cNvCxnSpPr/>
          <p:nvPr userDrawn="1"/>
        </p:nvCxnSpPr>
        <p:spPr>
          <a:xfrm flipV="1">
            <a:off x="1325217" y="927652"/>
            <a:ext cx="9342783" cy="13252"/>
          </a:xfrm>
          <a:prstGeom prst="line">
            <a:avLst/>
          </a:prstGeom>
          <a:ln w="28575">
            <a:solidFill>
              <a:schemeClr val="tx1"/>
            </a:solidFill>
          </a:ln>
        </p:spPr>
        <p:style>
          <a:lnRef idx="3">
            <a:schemeClr val="dk1"/>
          </a:lnRef>
          <a:fillRef idx="0">
            <a:schemeClr val="dk1"/>
          </a:fillRef>
          <a:effectRef idx="2">
            <a:schemeClr val="dk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srcRect t="22049" r="54675" b="21936"/>
          <a:stretch>
            <a:fillRect/>
          </a:stretch>
        </p:blipFill>
        <p:spPr>
          <a:xfrm>
            <a:off x="952455" y="-12701"/>
            <a:ext cx="10492980" cy="6858001"/>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srcRect t="15838" r="78197" b="16675"/>
          <a:stretch>
            <a:fillRect/>
          </a:stretch>
        </p:blipFill>
        <p:spPr>
          <a:xfrm>
            <a:off x="8015258" y="-12700"/>
            <a:ext cx="4189442" cy="6858000"/>
          </a:xfrm>
          <a:prstGeom prst="rect">
            <a:avLst/>
          </a:prstGeom>
        </p:spPr>
      </p:pic>
      <p:cxnSp>
        <p:nvCxnSpPr>
          <p:cNvPr id="4" name="直接连接符 3"/>
          <p:cNvCxnSpPr/>
          <p:nvPr userDrawn="1"/>
        </p:nvCxnSpPr>
        <p:spPr>
          <a:xfrm flipV="1">
            <a:off x="1325217" y="927652"/>
            <a:ext cx="9342783" cy="13252"/>
          </a:xfrm>
          <a:prstGeom prst="line">
            <a:avLst/>
          </a:prstGeom>
          <a:ln w="28575">
            <a:solidFill>
              <a:schemeClr val="tx1"/>
            </a:solidFill>
          </a:ln>
        </p:spPr>
        <p:style>
          <a:lnRef idx="3">
            <a:schemeClr val="dk1"/>
          </a:lnRef>
          <a:fillRef idx="0">
            <a:schemeClr val="dk1"/>
          </a:fillRef>
          <a:effectRef idx="2">
            <a:schemeClr val="dk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pic>
        <p:nvPicPr>
          <p:cNvPr id="4" name="图片 3"/>
          <p:cNvPicPr>
            <a:picLocks noChangeAspect="1"/>
          </p:cNvPicPr>
          <p:nvPr userDrawn="1"/>
        </p:nvPicPr>
        <p:blipFill rotWithShape="1">
          <a:blip r:embed="rId2"/>
          <a:srcRect t="15838" r="78197" b="16675"/>
          <a:stretch>
            <a:fillRect/>
          </a:stretch>
        </p:blipFill>
        <p:spPr>
          <a:xfrm flipH="1">
            <a:off x="0" y="-12700"/>
            <a:ext cx="4189442" cy="6858000"/>
          </a:xfrm>
          <a:prstGeom prst="rect">
            <a:avLst/>
          </a:prstGeom>
        </p:spPr>
      </p:pic>
      <p:cxnSp>
        <p:nvCxnSpPr>
          <p:cNvPr id="3" name="直接连接符 2"/>
          <p:cNvCxnSpPr/>
          <p:nvPr userDrawn="1"/>
        </p:nvCxnSpPr>
        <p:spPr>
          <a:xfrm flipV="1">
            <a:off x="1325217" y="927652"/>
            <a:ext cx="9342783" cy="13252"/>
          </a:xfrm>
          <a:prstGeom prst="line">
            <a:avLst/>
          </a:prstGeom>
          <a:ln w="28575">
            <a:solidFill>
              <a:schemeClr val="tx1"/>
            </a:solidFill>
          </a:ln>
        </p:spPr>
        <p:style>
          <a:lnRef idx="3">
            <a:schemeClr val="dk1"/>
          </a:lnRef>
          <a:fillRef idx="0">
            <a:schemeClr val="dk1"/>
          </a:fillRef>
          <a:effectRef idx="2">
            <a:schemeClr val="dk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srcRect l="54115" t="20375" r="25555" b="20378"/>
          <a:stretch>
            <a:fillRect/>
          </a:stretch>
        </p:blipFill>
        <p:spPr>
          <a:xfrm>
            <a:off x="7739212" y="-4813"/>
            <a:ext cx="4452788" cy="6862813"/>
          </a:xfrm>
          <a:prstGeom prst="rect">
            <a:avLst/>
          </a:prstGeom>
        </p:spPr>
      </p:pic>
      <p:cxnSp>
        <p:nvCxnSpPr>
          <p:cNvPr id="4" name="直接连接符 3"/>
          <p:cNvCxnSpPr/>
          <p:nvPr userDrawn="1"/>
        </p:nvCxnSpPr>
        <p:spPr>
          <a:xfrm flipV="1">
            <a:off x="1325217" y="927652"/>
            <a:ext cx="9342783" cy="13252"/>
          </a:xfrm>
          <a:prstGeom prst="line">
            <a:avLst/>
          </a:prstGeom>
          <a:ln w="28575">
            <a:solidFill>
              <a:schemeClr val="tx1"/>
            </a:solidFill>
          </a:ln>
        </p:spPr>
        <p:style>
          <a:lnRef idx="3">
            <a:schemeClr val="dk1"/>
          </a:lnRef>
          <a:fillRef idx="0">
            <a:schemeClr val="dk1"/>
          </a:fillRef>
          <a:effectRef idx="2">
            <a:schemeClr val="dk1"/>
          </a:effectRef>
          <a:fontRef idx="minor">
            <a:schemeClr val="tx1"/>
          </a:fontRef>
        </p:style>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srcRect l="54115" t="20375" r="25555" b="20378"/>
          <a:stretch>
            <a:fillRect/>
          </a:stretch>
        </p:blipFill>
        <p:spPr>
          <a:xfrm>
            <a:off x="7739212" y="0"/>
            <a:ext cx="4452788" cy="6862813"/>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401415" y="1254308"/>
            <a:ext cx="8469199" cy="923330"/>
          </a:xfrm>
          <a:prstGeom prst="rect">
            <a:avLst/>
          </a:prstGeom>
          <a:noFill/>
        </p:spPr>
        <p:txBody>
          <a:bodyPr wrap="square" rtlCol="0">
            <a:spAutoFit/>
          </a:bodyPr>
          <a:lstStyle/>
          <a:p>
            <a:r>
              <a:rPr lang="zh-CN" altLang="en-US" sz="5400" b="1" dirty="0">
                <a:solidFill>
                  <a:srgbClr val="00B050"/>
                </a:solidFill>
                <a:latin typeface="Rockwell" panose="02060603020205020403" pitchFamily="18" charset="0"/>
              </a:rPr>
              <a:t>文献汇报</a:t>
            </a:r>
            <a:endParaRPr lang="en-US" altLang="zh-CN" sz="5400" b="1" dirty="0">
              <a:solidFill>
                <a:srgbClr val="00B050"/>
              </a:solidFill>
              <a:latin typeface="Rockwell" panose="02060603020205020403" pitchFamily="18" charset="0"/>
            </a:endParaRPr>
          </a:p>
        </p:txBody>
      </p:sp>
      <p:sp>
        <p:nvSpPr>
          <p:cNvPr id="3" name="文本框 2"/>
          <p:cNvSpPr txBox="1"/>
          <p:nvPr/>
        </p:nvSpPr>
        <p:spPr>
          <a:xfrm>
            <a:off x="9225915" y="4754245"/>
            <a:ext cx="2574290" cy="1076325"/>
          </a:xfrm>
          <a:prstGeom prst="rect">
            <a:avLst/>
          </a:prstGeom>
          <a:noFill/>
        </p:spPr>
        <p:txBody>
          <a:bodyPr wrap="square" rtlCol="0">
            <a:spAutoFit/>
          </a:bodyPr>
          <a:lstStyle/>
          <a:p>
            <a:r>
              <a:rPr lang="zh-CN" altLang="en-US" sz="3200" b="1" dirty="0"/>
              <a:t>  </a:t>
            </a:r>
            <a:r>
              <a:rPr lang="zh-CN" altLang="en-US" sz="3200" b="1" dirty="0">
                <a:latin typeface="+mn-ea"/>
              </a:rPr>
              <a:t>陶翔翔</a:t>
            </a:r>
            <a:endParaRPr lang="en-US" altLang="zh-CN" sz="3200" b="1" dirty="0">
              <a:latin typeface="+mn-ea"/>
            </a:endParaRPr>
          </a:p>
          <a:p>
            <a:r>
              <a:rPr lang="en-US" altLang="zh-CN" sz="3200" b="1" dirty="0">
                <a:latin typeface="+mn-ea"/>
              </a:rPr>
              <a:t>2020.3.12</a:t>
            </a:r>
            <a:endParaRPr lang="zh-CN" altLang="en-US" sz="3200" b="1" dirty="0">
              <a:latin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https://ieeexplore.ieee.org/mediastore_new/IEEE/content/media/8359997/8363198/8363717/8363717-fig-2-source-large.gif"/>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2" name="文本框 11"/>
          <p:cNvSpPr txBox="1"/>
          <p:nvPr/>
        </p:nvSpPr>
        <p:spPr>
          <a:xfrm>
            <a:off x="1473444" y="258370"/>
            <a:ext cx="4797960" cy="523220"/>
          </a:xfrm>
          <a:prstGeom prst="rect">
            <a:avLst/>
          </a:prstGeom>
          <a:noFill/>
        </p:spPr>
        <p:txBody>
          <a:bodyPr wrap="square" rtlCol="0">
            <a:spAutoFit/>
          </a:bodyPr>
          <a:lstStyle/>
          <a:p>
            <a:r>
              <a:rPr lang="zh-CN" altLang="en-US" sz="2800" dirty="0">
                <a:solidFill>
                  <a:srgbClr val="4B11BF"/>
                </a:solidFill>
              </a:rPr>
              <a:t>文献</a:t>
            </a:r>
          </a:p>
        </p:txBody>
      </p:sp>
      <p:sp>
        <p:nvSpPr>
          <p:cNvPr id="4" name="Rectangle 1"/>
          <p:cNvSpPr>
            <a:spLocks noChangeArrowheads="1"/>
          </p:cNvSpPr>
          <p:nvPr/>
        </p:nvSpPr>
        <p:spPr bwMode="auto">
          <a:xfrm>
            <a:off x="4010025" y="21574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zh-CN" altLang="zh-CN" sz="1800" b="0" i="0" u="none" strike="noStrike" cap="none" normalizeH="0" baseline="0">
                <a:ln>
                  <a:noFill/>
                </a:ln>
                <a:solidFill>
                  <a:schemeClr val="tx1"/>
                </a:solidFill>
                <a:effectLst/>
                <a:latin typeface="Arial" panose="020B0604020202020204" pitchFamily="34" charset="0"/>
              </a:rPr>
            </a:b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5" name="矩形 4"/>
          <p:cNvSpPr/>
          <p:nvPr/>
        </p:nvSpPr>
        <p:spPr>
          <a:xfrm>
            <a:off x="1341237" y="1443841"/>
            <a:ext cx="9509525" cy="2862322"/>
          </a:xfrm>
          <a:prstGeom prst="rect">
            <a:avLst/>
          </a:prstGeom>
        </p:spPr>
        <p:txBody>
          <a:bodyPr wrap="square">
            <a:spAutoFit/>
          </a:bodyPr>
          <a:lstStyle/>
          <a:p>
            <a:pPr algn="just"/>
            <a:endParaRPr lang="en-US" altLang="zh-CN" sz="3600" dirty="0">
              <a:latin typeface="Arial" panose="020B0604020202020204" pitchFamily="34" charset="0"/>
              <a:cs typeface="Arial" panose="020B0604020202020204" pitchFamily="34" charset="0"/>
            </a:endParaRPr>
          </a:p>
          <a:p>
            <a:pPr algn="just"/>
            <a:endParaRPr lang="en-US" altLang="zh-CN" sz="3600" dirty="0">
              <a:latin typeface="Arial" panose="020B0604020202020204" pitchFamily="34" charset="0"/>
              <a:cs typeface="Arial" panose="020B0604020202020204" pitchFamily="34" charset="0"/>
            </a:endParaRPr>
          </a:p>
          <a:p>
            <a:pPr algn="just"/>
            <a:r>
              <a:rPr lang="en-US" altLang="zh-CN" sz="3600" dirty="0" err="1">
                <a:latin typeface="Arial" panose="020B0604020202020204" pitchFamily="34" charset="0"/>
                <a:cs typeface="Arial" panose="020B0604020202020204" pitchFamily="34" charset="0"/>
              </a:rPr>
              <a:t>Xuehui</a:t>
            </a:r>
            <a:r>
              <a:rPr lang="en-US" altLang="zh-CN" sz="3600" dirty="0">
                <a:latin typeface="Arial" panose="020B0604020202020204" pitchFamily="34" charset="0"/>
                <a:cs typeface="Arial" panose="020B0604020202020204" pitchFamily="34" charset="0"/>
              </a:rPr>
              <a:t> Wu, Xiaobo Lu, Henry Leung. </a:t>
            </a:r>
            <a:r>
              <a:rPr lang="en-US" altLang="zh-CN" sz="3600" b="1" dirty="0">
                <a:latin typeface="Arial" panose="020B0604020202020204" pitchFamily="34" charset="0"/>
                <a:cs typeface="Arial" panose="020B0604020202020204" pitchFamily="34" charset="0"/>
              </a:rPr>
              <a:t>Video</a:t>
            </a:r>
            <a:r>
              <a:rPr lang="en-US" altLang="zh-CN" sz="3600" dirty="0">
                <a:latin typeface="Arial" panose="020B0604020202020204" pitchFamily="34" charset="0"/>
                <a:cs typeface="Arial" panose="020B0604020202020204" pitchFamily="34" charset="0"/>
              </a:rPr>
              <a:t> smoke </a:t>
            </a:r>
            <a:r>
              <a:rPr lang="en-US" altLang="zh-CN" sz="3600" b="1" dirty="0">
                <a:latin typeface="Arial" panose="020B0604020202020204" pitchFamily="34" charset="0"/>
                <a:cs typeface="Arial" panose="020B0604020202020204" pitchFamily="34" charset="0"/>
              </a:rPr>
              <a:t>separation</a:t>
            </a:r>
            <a:r>
              <a:rPr lang="en-US" altLang="zh-CN" sz="3600" dirty="0">
                <a:latin typeface="Arial" panose="020B0604020202020204" pitchFamily="34" charset="0"/>
                <a:cs typeface="Arial" panose="020B0604020202020204" pitchFamily="34" charset="0"/>
              </a:rPr>
              <a:t> and </a:t>
            </a:r>
            <a:r>
              <a:rPr lang="en-US" altLang="zh-CN" sz="3600" b="1" dirty="0">
                <a:latin typeface="Arial" panose="020B0604020202020204" pitchFamily="34" charset="0"/>
                <a:cs typeface="Arial" panose="020B0604020202020204" pitchFamily="34" charset="0"/>
              </a:rPr>
              <a:t>detection</a:t>
            </a:r>
            <a:r>
              <a:rPr lang="en-US" altLang="zh-CN" sz="3600" dirty="0">
                <a:latin typeface="Arial" panose="020B0604020202020204" pitchFamily="34" charset="0"/>
                <a:cs typeface="Arial" panose="020B0604020202020204" pitchFamily="34" charset="0"/>
              </a:rPr>
              <a:t> via </a:t>
            </a:r>
            <a:r>
              <a:rPr lang="en-US" altLang="zh-CN" sz="3600" b="1" dirty="0">
                <a:latin typeface="Arial" panose="020B0604020202020204" pitchFamily="34" charset="0"/>
                <a:cs typeface="Arial" panose="020B0604020202020204" pitchFamily="34" charset="0"/>
              </a:rPr>
              <a:t>sparse representation</a:t>
            </a:r>
            <a:r>
              <a:rPr lang="en-US" altLang="zh-CN" sz="3600" dirty="0">
                <a:latin typeface="Arial" panose="020B0604020202020204" pitchFamily="34" charset="0"/>
                <a:cs typeface="Arial" panose="020B0604020202020204" pitchFamily="34" charset="0"/>
              </a:rPr>
              <a:t>[J]. Neurocomputing,2019,360.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456299" y="275515"/>
            <a:ext cx="4797960" cy="523220"/>
          </a:xfrm>
          <a:prstGeom prst="rect">
            <a:avLst/>
          </a:prstGeom>
          <a:noFill/>
        </p:spPr>
        <p:txBody>
          <a:bodyPr wrap="square" rtlCol="0">
            <a:spAutoFit/>
          </a:bodyPr>
          <a:lstStyle/>
          <a:p>
            <a:r>
              <a:rPr lang="zh-CN" altLang="en-US" sz="2800" dirty="0">
                <a:solidFill>
                  <a:srgbClr val="4B11BF"/>
                </a:solidFill>
              </a:rPr>
              <a:t>摘要</a:t>
            </a:r>
          </a:p>
        </p:txBody>
      </p:sp>
      <p:sp>
        <p:nvSpPr>
          <p:cNvPr id="3" name="矩形 2">
            <a:extLst>
              <a:ext uri="{FF2B5EF4-FFF2-40B4-BE49-F238E27FC236}">
                <a16:creationId xmlns:a16="http://schemas.microsoft.com/office/drawing/2014/main" id="{7A880A5E-E455-4B4C-B544-B7C5CB2D1217}"/>
              </a:ext>
            </a:extLst>
          </p:cNvPr>
          <p:cNvSpPr/>
          <p:nvPr/>
        </p:nvSpPr>
        <p:spPr>
          <a:xfrm>
            <a:off x="1293021" y="1203962"/>
            <a:ext cx="9592098" cy="5186035"/>
          </a:xfrm>
          <a:prstGeom prst="rect">
            <a:avLst/>
          </a:prstGeom>
        </p:spPr>
        <p:txBody>
          <a:bodyPr wrap="square">
            <a:spAutoFit/>
          </a:bodyPr>
          <a:lstStyle/>
          <a:p>
            <a:pPr marL="457200" indent="-457200">
              <a:lnSpc>
                <a:spcPct val="150000"/>
              </a:lnSpc>
              <a:buFont typeface="Wingdings" panose="05000000000000000000" pitchFamily="2" charset="2"/>
              <a:buChar char="l"/>
            </a:pPr>
            <a:r>
              <a:rPr lang="zh-CN" altLang="en-US" sz="2800" dirty="0"/>
              <a:t>视觉检测方法：依赖特征提取</a:t>
            </a:r>
            <a:endParaRPr lang="en-US" altLang="zh-CN" sz="2800" dirty="0"/>
          </a:p>
          <a:p>
            <a:pPr marL="914400" lvl="1" indent="-457200">
              <a:lnSpc>
                <a:spcPct val="150000"/>
              </a:lnSpc>
              <a:buFont typeface="Wingdings" panose="05000000000000000000" pitchFamily="2" charset="2"/>
              <a:buChar char="l"/>
            </a:pPr>
            <a:r>
              <a:rPr lang="zh-CN" altLang="en-US" sz="2800" dirty="0"/>
              <a:t>不透明：原图像可直接提供可靠的信息</a:t>
            </a:r>
            <a:endParaRPr lang="en-US" altLang="zh-CN" sz="2800" dirty="0"/>
          </a:p>
          <a:p>
            <a:pPr marL="914400" lvl="1" indent="-457200">
              <a:lnSpc>
                <a:spcPct val="150000"/>
              </a:lnSpc>
              <a:buFont typeface="Wingdings" panose="05000000000000000000" pitchFamily="2" charset="2"/>
              <a:buChar char="l"/>
            </a:pPr>
            <a:r>
              <a:rPr lang="zh-CN" altLang="en-US" sz="2800" dirty="0"/>
              <a:t>烟雾：透明、厚度可变和散射</a:t>
            </a:r>
            <a:endParaRPr lang="en-US" altLang="zh-CN" sz="2800" dirty="0"/>
          </a:p>
          <a:p>
            <a:pPr marL="457200" indent="-457200">
              <a:lnSpc>
                <a:spcPct val="150000"/>
              </a:lnSpc>
              <a:buFont typeface="Wingdings" panose="05000000000000000000" pitchFamily="2" charset="2"/>
              <a:buChar char="l"/>
            </a:pPr>
            <a:r>
              <a:rPr lang="zh-CN" altLang="en-US" sz="2800" dirty="0"/>
              <a:t>烟雾模型：将图像视为烟雾和背景成分的线性组合</a:t>
            </a:r>
            <a:endParaRPr lang="en-US" altLang="zh-CN" sz="2800" dirty="0"/>
          </a:p>
          <a:p>
            <a:pPr marL="457200" indent="-457200">
              <a:lnSpc>
                <a:spcPct val="150000"/>
              </a:lnSpc>
              <a:buFont typeface="Wingdings" panose="05000000000000000000" pitchFamily="2" charset="2"/>
              <a:buChar char="l"/>
            </a:pPr>
            <a:r>
              <a:rPr lang="zh-CN" altLang="en-US" sz="2800" dirty="0"/>
              <a:t>在稀疏表示基础上提出</a:t>
            </a:r>
            <a:r>
              <a:rPr lang="en-US" altLang="zh-CN" sz="2800" b="1" dirty="0"/>
              <a:t>elastic net</a:t>
            </a:r>
            <a:r>
              <a:rPr lang="zh-CN" altLang="en-US" sz="2800" b="1" dirty="0"/>
              <a:t>约束和变量选择</a:t>
            </a:r>
            <a:r>
              <a:rPr lang="zh-CN" altLang="en-US" sz="2800" dirty="0"/>
              <a:t>方法</a:t>
            </a:r>
            <a:r>
              <a:rPr lang="zh-CN" altLang="en-US" sz="2800" b="1" dirty="0"/>
              <a:t>分离</a:t>
            </a:r>
            <a:r>
              <a:rPr lang="zh-CN" altLang="en-US" sz="2800" dirty="0"/>
              <a:t>烟雾</a:t>
            </a:r>
            <a:endParaRPr lang="en-US" altLang="zh-CN" sz="2800" dirty="0"/>
          </a:p>
          <a:p>
            <a:pPr marL="457200" indent="-457200">
              <a:lnSpc>
                <a:spcPct val="150000"/>
              </a:lnSpc>
              <a:buFont typeface="Wingdings" panose="05000000000000000000" pitchFamily="2" charset="2"/>
              <a:buChar char="l"/>
            </a:pPr>
            <a:r>
              <a:rPr lang="zh-CN" altLang="en-US" sz="2800" dirty="0"/>
              <a:t>选择与稀疏系数有关的判别特征用于烟雾</a:t>
            </a:r>
            <a:r>
              <a:rPr lang="zh-CN" altLang="en-US" sz="2800" b="1" dirty="0"/>
              <a:t>检测</a:t>
            </a:r>
            <a:endParaRPr lang="en-US" altLang="zh-CN" sz="2800" b="1" dirty="0"/>
          </a:p>
          <a:p>
            <a:pPr marL="457200" indent="-457200">
              <a:lnSpc>
                <a:spcPct val="150000"/>
              </a:lnSpc>
              <a:buFont typeface="Wingdings" panose="05000000000000000000" pitchFamily="2" charset="2"/>
              <a:buChar char="l"/>
            </a:pPr>
            <a:r>
              <a:rPr lang="zh-CN" altLang="en-US" sz="2800" dirty="0"/>
              <a:t>在</a:t>
            </a:r>
            <a:r>
              <a:rPr lang="zh-CN" altLang="en-US" sz="2800" b="1" dirty="0"/>
              <a:t>合成</a:t>
            </a:r>
            <a:r>
              <a:rPr lang="zh-CN" altLang="en-US" sz="2800" dirty="0"/>
              <a:t>和真实视频数据集上进行实验</a:t>
            </a:r>
            <a:endParaRPr lang="en-US" altLang="zh-C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456298" y="275515"/>
            <a:ext cx="6538523" cy="523220"/>
          </a:xfrm>
          <a:prstGeom prst="rect">
            <a:avLst/>
          </a:prstGeom>
          <a:noFill/>
        </p:spPr>
        <p:txBody>
          <a:bodyPr wrap="square" rtlCol="0">
            <a:spAutoFit/>
          </a:bodyPr>
          <a:lstStyle/>
          <a:p>
            <a:r>
              <a:rPr lang="zh-CN" altLang="en-US" sz="2800" dirty="0">
                <a:solidFill>
                  <a:srgbClr val="4B11BF"/>
                </a:solidFill>
              </a:rPr>
              <a:t>估计烟雾模型参数</a:t>
            </a:r>
          </a:p>
        </p:txBody>
      </p:sp>
      <p:sp>
        <p:nvSpPr>
          <p:cNvPr id="3" name="矩形 2">
            <a:extLst>
              <a:ext uri="{FF2B5EF4-FFF2-40B4-BE49-F238E27FC236}">
                <a16:creationId xmlns:a16="http://schemas.microsoft.com/office/drawing/2014/main" id="{113508EE-EA28-4849-8EB8-5D135CF1704E}"/>
              </a:ext>
            </a:extLst>
          </p:cNvPr>
          <p:cNvSpPr/>
          <p:nvPr/>
        </p:nvSpPr>
        <p:spPr>
          <a:xfrm>
            <a:off x="774354" y="1537821"/>
            <a:ext cx="10062518" cy="5324535"/>
          </a:xfrm>
          <a:prstGeom prst="rect">
            <a:avLst/>
          </a:prstGeom>
        </p:spPr>
        <p:txBody>
          <a:bodyPr wrap="square">
            <a:spAutoFit/>
          </a:bodyPr>
          <a:lstStyle/>
          <a:p>
            <a:pPr marL="457200" indent="-457200">
              <a:buFont typeface="Wingdings" panose="05000000000000000000" pitchFamily="2" charset="2"/>
              <a:buChar char="l"/>
            </a:pPr>
            <a:r>
              <a:rPr lang="zh-CN" altLang="en-US" sz="2800" dirty="0"/>
              <a:t>假设</a:t>
            </a:r>
            <a:r>
              <a:rPr lang="en-US" altLang="zh-CN" sz="2800" dirty="0"/>
              <a:t>x</a:t>
            </a:r>
            <a:r>
              <a:rPr lang="zh-CN" altLang="en-US" sz="2800" dirty="0"/>
              <a:t>由固定相机获取，用鲁棒正交子空间学习进行</a:t>
            </a:r>
            <a:r>
              <a:rPr lang="zh-CN" altLang="en-US" sz="2800" b="1" dirty="0"/>
              <a:t>背景差分</a:t>
            </a:r>
            <a:r>
              <a:rPr lang="zh-CN" altLang="en-US" sz="2800" dirty="0"/>
              <a:t>。</a:t>
            </a:r>
            <a:endParaRPr lang="en-US" altLang="zh-CN" sz="2800" dirty="0"/>
          </a:p>
          <a:p>
            <a:pPr marL="457200" indent="-457200">
              <a:buFont typeface="Wingdings" panose="05000000000000000000" pitchFamily="2" charset="2"/>
              <a:buChar char="l"/>
            </a:pPr>
            <a:r>
              <a:rPr lang="zh-CN" altLang="en-US" sz="2800" dirty="0"/>
              <a:t>给定</a:t>
            </a:r>
            <a:r>
              <a:rPr lang="en-US" altLang="zh-CN" sz="2800" dirty="0"/>
              <a:t>x</a:t>
            </a:r>
            <a:r>
              <a:rPr lang="zh-CN" altLang="en-US" sz="2800" dirty="0"/>
              <a:t>和</a:t>
            </a:r>
            <a:r>
              <a:rPr lang="en-US" altLang="zh-CN" sz="2800" dirty="0"/>
              <a:t>b</a:t>
            </a:r>
            <a:r>
              <a:rPr lang="zh-CN" altLang="en-US" sz="2800" dirty="0"/>
              <a:t>，</a:t>
            </a:r>
            <a:r>
              <a:rPr lang="en-US" altLang="zh-CN" sz="2800" dirty="0"/>
              <a:t>ω</a:t>
            </a:r>
            <a:r>
              <a:rPr lang="zh-CN" altLang="en-US" sz="2800" dirty="0"/>
              <a:t>和</a:t>
            </a:r>
            <a:r>
              <a:rPr lang="en-US" altLang="zh-CN" sz="2800" dirty="0"/>
              <a:t>s</a:t>
            </a:r>
            <a:r>
              <a:rPr lang="zh-CN" altLang="en-US" sz="2800" dirty="0"/>
              <a:t>的估计可以通过最小化噪声获得：</a:t>
            </a:r>
            <a:endParaRPr lang="en-US" altLang="zh-CN" sz="2800" dirty="0"/>
          </a:p>
          <a:p>
            <a:pPr marL="457200" indent="-457200">
              <a:buFont typeface="Wingdings" panose="05000000000000000000" pitchFamily="2" charset="2"/>
              <a:buChar char="l"/>
            </a:pPr>
            <a:endParaRPr lang="en-US" altLang="zh-CN" sz="2800" dirty="0"/>
          </a:p>
          <a:p>
            <a:pPr marL="457200" indent="-457200">
              <a:buFont typeface="Wingdings" panose="05000000000000000000" pitchFamily="2" charset="2"/>
              <a:buChar char="l"/>
            </a:pPr>
            <a:endParaRPr lang="en-US" altLang="zh-CN" sz="2800" dirty="0"/>
          </a:p>
          <a:p>
            <a:pPr marL="457200" indent="-457200">
              <a:buFont typeface="Wingdings" panose="05000000000000000000" pitchFamily="2" charset="2"/>
              <a:buChar char="l"/>
            </a:pPr>
            <a:r>
              <a:rPr lang="zh-CN" altLang="en-US" sz="2800" dirty="0"/>
              <a:t>要求解上述方程，需要进一步的</a:t>
            </a:r>
            <a:r>
              <a:rPr lang="zh-CN" altLang="en-US" sz="2800" b="1" dirty="0"/>
              <a:t>约束</a:t>
            </a:r>
            <a:r>
              <a:rPr lang="zh-CN" altLang="en-US" sz="2800" dirty="0"/>
              <a:t>。</a:t>
            </a:r>
            <a:endParaRPr lang="en-US" altLang="zh-CN" sz="2800" dirty="0"/>
          </a:p>
          <a:p>
            <a:pPr marL="914400" lvl="1" indent="-457200">
              <a:buFont typeface="Wingdings" panose="05000000000000000000" pitchFamily="2" charset="2"/>
              <a:buChar char="l"/>
            </a:pPr>
            <a:r>
              <a:rPr lang="zh-CN" altLang="en-US" sz="2400" dirty="0"/>
              <a:t>局部平滑度模型：假定块中的纯烟雾图像平滑（无法将烟雾与表面也平滑的不透明物体分开）</a:t>
            </a:r>
          </a:p>
          <a:p>
            <a:pPr marL="914400" lvl="1" indent="-457200">
              <a:buFont typeface="Wingdings" panose="05000000000000000000" pitchFamily="2" charset="2"/>
              <a:buChar char="l"/>
            </a:pPr>
            <a:r>
              <a:rPr lang="en-US" altLang="zh-CN" sz="2400" dirty="0"/>
              <a:t>PCA</a:t>
            </a:r>
            <a:r>
              <a:rPr lang="zh-CN" altLang="en-US" sz="2400" dirty="0"/>
              <a:t>模型：确定纯烟雾的子空间（单个线性子空间不足以描述烟雾成分的所有变化）</a:t>
            </a:r>
          </a:p>
          <a:p>
            <a:pPr marL="914400" lvl="1" indent="-457200">
              <a:buFont typeface="Wingdings" panose="05000000000000000000" pitchFamily="2" charset="2"/>
              <a:buChar char="l"/>
            </a:pPr>
            <a:r>
              <a:rPr lang="zh-CN" altLang="en-US" sz="2400" dirty="0"/>
              <a:t>稀疏表示模型：收集或生成样本烟雾图像以捕获纯烟雾图像的分布（分离表现最佳，但提取的稀疏系数特征在烟雾检测中效果不好）</a:t>
            </a:r>
          </a:p>
          <a:p>
            <a:pPr marL="457200" indent="-457200">
              <a:buFont typeface="Wingdings" panose="05000000000000000000" pitchFamily="2" charset="2"/>
              <a:buChar char="l"/>
            </a:pPr>
            <a:r>
              <a:rPr lang="zh-CN" altLang="en-US" sz="2800" dirty="0"/>
              <a:t>本文提出一种</a:t>
            </a:r>
            <a:r>
              <a:rPr lang="zh-CN" altLang="en-US" sz="2800" b="1" dirty="0"/>
              <a:t>改进的稀疏表示（</a:t>
            </a:r>
            <a:r>
              <a:rPr lang="zh-CN" altLang="en-US" sz="2800" dirty="0"/>
              <a:t>用</a:t>
            </a:r>
            <a:r>
              <a:rPr lang="en-US" altLang="zh-CN" sz="2800" dirty="0"/>
              <a:t>elastic net</a:t>
            </a:r>
            <a:r>
              <a:rPr lang="zh-CN" altLang="en-US" sz="2800" dirty="0"/>
              <a:t>代替</a:t>
            </a:r>
            <a:r>
              <a:rPr lang="en-US" altLang="zh-CN" sz="2800" dirty="0"/>
              <a:t>lasso</a:t>
            </a:r>
            <a:r>
              <a:rPr lang="zh-CN" altLang="en-US" sz="2800" b="1" dirty="0"/>
              <a:t>）</a:t>
            </a:r>
            <a:r>
              <a:rPr lang="zh-CN" altLang="en-US" sz="2800" dirty="0"/>
              <a:t>来分离烟雾成分。</a:t>
            </a:r>
            <a:endParaRPr lang="en-US" altLang="zh-CN" sz="2800" dirty="0"/>
          </a:p>
        </p:txBody>
      </p:sp>
      <p:pic>
        <p:nvPicPr>
          <p:cNvPr id="4" name="图片 3">
            <a:extLst>
              <a:ext uri="{FF2B5EF4-FFF2-40B4-BE49-F238E27FC236}">
                <a16:creationId xmlns:a16="http://schemas.microsoft.com/office/drawing/2014/main" id="{DFDB8746-51DD-466C-96E7-4223E4653598}"/>
              </a:ext>
            </a:extLst>
          </p:cNvPr>
          <p:cNvPicPr>
            <a:picLocks noChangeAspect="1"/>
          </p:cNvPicPr>
          <p:nvPr/>
        </p:nvPicPr>
        <p:blipFill>
          <a:blip r:embed="rId3"/>
          <a:stretch>
            <a:fillRect/>
          </a:stretch>
        </p:blipFill>
        <p:spPr>
          <a:xfrm>
            <a:off x="2271943" y="2545480"/>
            <a:ext cx="7648114" cy="669582"/>
          </a:xfrm>
          <a:prstGeom prst="rect">
            <a:avLst/>
          </a:prstGeom>
        </p:spPr>
      </p:pic>
      <p:pic>
        <p:nvPicPr>
          <p:cNvPr id="5" name="图片 4">
            <a:extLst>
              <a:ext uri="{FF2B5EF4-FFF2-40B4-BE49-F238E27FC236}">
                <a16:creationId xmlns:a16="http://schemas.microsoft.com/office/drawing/2014/main" id="{DFA5F687-3609-4E11-B8F3-0053780661DE}"/>
              </a:ext>
            </a:extLst>
          </p:cNvPr>
          <p:cNvPicPr>
            <a:picLocks noChangeAspect="1"/>
          </p:cNvPicPr>
          <p:nvPr/>
        </p:nvPicPr>
        <p:blipFill>
          <a:blip r:embed="rId4"/>
          <a:stretch>
            <a:fillRect/>
          </a:stretch>
        </p:blipFill>
        <p:spPr>
          <a:xfrm>
            <a:off x="2858029" y="1017247"/>
            <a:ext cx="6475942" cy="520574"/>
          </a:xfrm>
          <a:prstGeom prst="rect">
            <a:avLst/>
          </a:prstGeom>
        </p:spPr>
      </p:pic>
    </p:spTree>
    <p:extLst>
      <p:ext uri="{BB962C8B-B14F-4D97-AF65-F5344CB8AC3E}">
        <p14:creationId xmlns:p14="http://schemas.microsoft.com/office/powerpoint/2010/main" val="3860427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456298" y="275515"/>
            <a:ext cx="6538523" cy="523220"/>
          </a:xfrm>
          <a:prstGeom prst="rect">
            <a:avLst/>
          </a:prstGeom>
          <a:noFill/>
        </p:spPr>
        <p:txBody>
          <a:bodyPr wrap="square" rtlCol="0">
            <a:spAutoFit/>
          </a:bodyPr>
          <a:lstStyle/>
          <a:p>
            <a:r>
              <a:rPr lang="zh-CN" altLang="en-US" sz="2800" dirty="0">
                <a:solidFill>
                  <a:srgbClr val="4B11BF"/>
                </a:solidFill>
              </a:rPr>
              <a:t>改进的稀疏表示模型</a:t>
            </a:r>
          </a:p>
        </p:txBody>
      </p:sp>
      <p:sp>
        <p:nvSpPr>
          <p:cNvPr id="3" name="矩形 2">
            <a:extLst>
              <a:ext uri="{FF2B5EF4-FFF2-40B4-BE49-F238E27FC236}">
                <a16:creationId xmlns:a16="http://schemas.microsoft.com/office/drawing/2014/main" id="{113508EE-EA28-4849-8EB8-5D135CF1704E}"/>
              </a:ext>
            </a:extLst>
          </p:cNvPr>
          <p:cNvSpPr/>
          <p:nvPr/>
        </p:nvSpPr>
        <p:spPr>
          <a:xfrm>
            <a:off x="1318055" y="1191830"/>
            <a:ext cx="9555894" cy="5182701"/>
          </a:xfrm>
          <a:prstGeom prst="rect">
            <a:avLst/>
          </a:prstGeom>
        </p:spPr>
        <p:txBody>
          <a:bodyPr wrap="square">
            <a:spAutoFit/>
          </a:bodyPr>
          <a:lstStyle/>
          <a:p>
            <a:pPr marL="457200" indent="-457200">
              <a:lnSpc>
                <a:spcPct val="150000"/>
              </a:lnSpc>
              <a:buFont typeface="Wingdings" panose="05000000000000000000" pitchFamily="2" charset="2"/>
              <a:buChar char="l"/>
            </a:pPr>
            <a:r>
              <a:rPr lang="zh-CN" altLang="en-US" sz="2800" dirty="0"/>
              <a:t>更新</a:t>
            </a:r>
            <a:r>
              <a:rPr lang="en-US" altLang="zh-CN" sz="2800" dirty="0"/>
              <a:t>α</a:t>
            </a:r>
            <a:r>
              <a:rPr lang="en-US" altLang="zh-CN" sz="2800" baseline="-25000" dirty="0"/>
              <a:t>s</a:t>
            </a:r>
            <a:r>
              <a:rPr lang="zh-CN" altLang="en-US" sz="2800" dirty="0"/>
              <a:t>时，固定</a:t>
            </a:r>
            <a:r>
              <a:rPr lang="en-US" altLang="zh-CN" sz="2800" dirty="0"/>
              <a:t>ω</a:t>
            </a:r>
            <a:r>
              <a:rPr lang="zh-CN" altLang="en-US" sz="2800" dirty="0"/>
              <a:t>，采用</a:t>
            </a:r>
            <a:r>
              <a:rPr lang="en-US" altLang="zh-CN" sz="2800" dirty="0"/>
              <a:t>elastic net</a:t>
            </a:r>
            <a:r>
              <a:rPr lang="zh-CN" altLang="en-US" sz="2800" dirty="0"/>
              <a:t>来找出</a:t>
            </a:r>
            <a:r>
              <a:rPr lang="en-US" altLang="zh-CN" sz="2800" dirty="0"/>
              <a:t>α</a:t>
            </a:r>
            <a:r>
              <a:rPr lang="en-US" altLang="zh-CN" sz="2800" baseline="-25000" dirty="0"/>
              <a:t>s</a:t>
            </a:r>
            <a:r>
              <a:rPr lang="zh-CN" altLang="en-US" sz="2800" dirty="0"/>
              <a:t>中的主要变量，优化目标替换为</a:t>
            </a:r>
            <a:endParaRPr lang="en-US" altLang="zh-CN" sz="2800" dirty="0"/>
          </a:p>
          <a:p>
            <a:pPr>
              <a:lnSpc>
                <a:spcPct val="150000"/>
              </a:lnSpc>
            </a:pPr>
            <a:endParaRPr lang="en-US" altLang="zh-CN" sz="2800" dirty="0"/>
          </a:p>
          <a:p>
            <a:pPr marL="457200" indent="-457200">
              <a:lnSpc>
                <a:spcPct val="150000"/>
              </a:lnSpc>
              <a:buFont typeface="Wingdings" panose="05000000000000000000" pitchFamily="2" charset="2"/>
              <a:buChar char="l"/>
            </a:pPr>
            <a:r>
              <a:rPr lang="zh-CN" altLang="en-US" sz="2800" dirty="0"/>
              <a:t>稀疏系数</a:t>
            </a:r>
            <a:r>
              <a:rPr lang="en-US" altLang="zh-CN" sz="2800" dirty="0"/>
              <a:t>α</a:t>
            </a:r>
            <a:r>
              <a:rPr lang="en-US" altLang="zh-CN" sz="2800" baseline="-25000" dirty="0"/>
              <a:t>s</a:t>
            </a:r>
            <a:r>
              <a:rPr lang="zh-CN" altLang="en-US" sz="2800" dirty="0"/>
              <a:t>的判别能力意味着相应的烟字典</a:t>
            </a:r>
            <a:r>
              <a:rPr lang="en-US" altLang="zh-CN" sz="2800" dirty="0"/>
              <a:t>D</a:t>
            </a:r>
            <a:r>
              <a:rPr lang="en-US" altLang="zh-CN" sz="2800" baseline="-25000" dirty="0"/>
              <a:t>s</a:t>
            </a:r>
            <a:r>
              <a:rPr lang="zh-CN" altLang="en-US" sz="2800" dirty="0"/>
              <a:t>对烟类图像具有良好的表示能力，而应对</a:t>
            </a:r>
            <a:r>
              <a:rPr lang="zh-CN" altLang="en-US" sz="2800" b="1" dirty="0"/>
              <a:t>非烟字典</a:t>
            </a:r>
            <a:r>
              <a:rPr lang="en-US" altLang="zh-CN" sz="2800" b="1" dirty="0"/>
              <a:t>D</a:t>
            </a:r>
            <a:r>
              <a:rPr lang="en-US" altLang="zh-CN" sz="2800" b="1" baseline="-25000" dirty="0"/>
              <a:t>b</a:t>
            </a:r>
            <a:r>
              <a:rPr lang="zh-CN" altLang="en-US" sz="2800" b="1" dirty="0"/>
              <a:t>表示能力较差</a:t>
            </a:r>
            <a:r>
              <a:rPr lang="zh-CN" altLang="en-US" sz="2800" dirty="0"/>
              <a:t>。即在学习过的</a:t>
            </a:r>
            <a:r>
              <a:rPr lang="en-US" altLang="zh-CN" sz="2800" dirty="0"/>
              <a:t>D</a:t>
            </a:r>
            <a:r>
              <a:rPr lang="en-US" altLang="zh-CN" sz="2800" baseline="-25000" dirty="0"/>
              <a:t>s</a:t>
            </a:r>
            <a:r>
              <a:rPr lang="zh-CN" altLang="en-US" sz="2800" dirty="0"/>
              <a:t>上重建的任何图像都应由非烟字典</a:t>
            </a:r>
            <a:r>
              <a:rPr lang="en-US" altLang="zh-CN" sz="2800" dirty="0"/>
              <a:t>D</a:t>
            </a:r>
            <a:r>
              <a:rPr lang="en-US" altLang="zh-CN" sz="2800" baseline="-25000" dirty="0"/>
              <a:t>b</a:t>
            </a:r>
            <a:r>
              <a:rPr lang="zh-CN" altLang="en-US" sz="2800" dirty="0"/>
              <a:t>进行“</a:t>
            </a:r>
            <a:r>
              <a:rPr lang="zh-CN" altLang="en-US" sz="2800" b="1" dirty="0"/>
              <a:t>惩罚</a:t>
            </a:r>
            <a:r>
              <a:rPr lang="zh-CN" altLang="en-US" sz="2800" dirty="0"/>
              <a:t>”，以使在</a:t>
            </a:r>
            <a:r>
              <a:rPr lang="en-US" altLang="zh-CN" sz="2800" dirty="0"/>
              <a:t>D</a:t>
            </a:r>
            <a:r>
              <a:rPr lang="en-US" altLang="zh-CN" sz="2800" baseline="-25000" dirty="0"/>
              <a:t>b</a:t>
            </a:r>
            <a:r>
              <a:rPr lang="zh-CN" altLang="en-US" sz="2800" dirty="0"/>
              <a:t>上表示的</a:t>
            </a:r>
            <a:r>
              <a:rPr lang="en-US" altLang="zh-CN" sz="2800" dirty="0"/>
              <a:t>α</a:t>
            </a:r>
            <a:r>
              <a:rPr lang="en-US" altLang="zh-CN" sz="2800" baseline="-25000" dirty="0"/>
              <a:t>s</a:t>
            </a:r>
            <a:r>
              <a:rPr lang="zh-CN" altLang="en-US" sz="2800" dirty="0"/>
              <a:t>产生较小的值。</a:t>
            </a:r>
            <a:endParaRPr lang="en-US" altLang="zh-CN" sz="2800" dirty="0"/>
          </a:p>
          <a:p>
            <a:pPr marL="457200" indent="-457200">
              <a:lnSpc>
                <a:spcPct val="150000"/>
              </a:lnSpc>
              <a:buFont typeface="Wingdings" panose="05000000000000000000" pitchFamily="2" charset="2"/>
              <a:buChar char="l"/>
            </a:pPr>
            <a:endParaRPr lang="en-US" altLang="zh-CN" sz="2800" dirty="0"/>
          </a:p>
        </p:txBody>
      </p:sp>
      <p:grpSp>
        <p:nvGrpSpPr>
          <p:cNvPr id="8" name="组合 7">
            <a:extLst>
              <a:ext uri="{FF2B5EF4-FFF2-40B4-BE49-F238E27FC236}">
                <a16:creationId xmlns:a16="http://schemas.microsoft.com/office/drawing/2014/main" id="{207458D4-CC98-41AB-AC89-BF28B07ED170}"/>
              </a:ext>
            </a:extLst>
          </p:cNvPr>
          <p:cNvGrpSpPr/>
          <p:nvPr/>
        </p:nvGrpSpPr>
        <p:grpSpPr>
          <a:xfrm>
            <a:off x="1456298" y="5897723"/>
            <a:ext cx="9944062" cy="619214"/>
            <a:chOff x="2915704" y="4793045"/>
            <a:chExt cx="9944062" cy="619214"/>
          </a:xfrm>
        </p:grpSpPr>
        <p:pic>
          <p:nvPicPr>
            <p:cNvPr id="5" name="图片 4">
              <a:extLst>
                <a:ext uri="{FF2B5EF4-FFF2-40B4-BE49-F238E27FC236}">
                  <a16:creationId xmlns:a16="http://schemas.microsoft.com/office/drawing/2014/main" id="{2244D29B-7642-4E96-B70C-1497BFA13B22}"/>
                </a:ext>
              </a:extLst>
            </p:cNvPr>
            <p:cNvPicPr>
              <a:picLocks noChangeAspect="1"/>
            </p:cNvPicPr>
            <p:nvPr/>
          </p:nvPicPr>
          <p:blipFill rotWithShape="1">
            <a:blip r:embed="rId3"/>
            <a:srcRect l="38348" b="45834"/>
            <a:stretch/>
          </p:blipFill>
          <p:spPr>
            <a:xfrm>
              <a:off x="2915704" y="4849898"/>
              <a:ext cx="3881664" cy="562361"/>
            </a:xfrm>
            <a:prstGeom prst="rect">
              <a:avLst/>
            </a:prstGeom>
          </p:spPr>
        </p:pic>
        <p:pic>
          <p:nvPicPr>
            <p:cNvPr id="7" name="图片 6">
              <a:extLst>
                <a:ext uri="{FF2B5EF4-FFF2-40B4-BE49-F238E27FC236}">
                  <a16:creationId xmlns:a16="http://schemas.microsoft.com/office/drawing/2014/main" id="{5ABA7D6F-F7D6-4D13-B3B4-AA2847F067B0}"/>
                </a:ext>
              </a:extLst>
            </p:cNvPr>
            <p:cNvPicPr>
              <a:picLocks noChangeAspect="1"/>
            </p:cNvPicPr>
            <p:nvPr/>
          </p:nvPicPr>
          <p:blipFill rotWithShape="1">
            <a:blip r:embed="rId3"/>
            <a:srcRect l="3318" t="54166"/>
            <a:stretch/>
          </p:blipFill>
          <p:spPr>
            <a:xfrm>
              <a:off x="6772654" y="4793045"/>
              <a:ext cx="6087112" cy="475864"/>
            </a:xfrm>
            <a:prstGeom prst="rect">
              <a:avLst/>
            </a:prstGeom>
          </p:spPr>
        </p:pic>
      </p:grpSp>
      <p:pic>
        <p:nvPicPr>
          <p:cNvPr id="9" name="图片 8">
            <a:extLst>
              <a:ext uri="{FF2B5EF4-FFF2-40B4-BE49-F238E27FC236}">
                <a16:creationId xmlns:a16="http://schemas.microsoft.com/office/drawing/2014/main" id="{CBE1E077-F56A-48CC-8520-3FF4392B234F}"/>
              </a:ext>
            </a:extLst>
          </p:cNvPr>
          <p:cNvPicPr>
            <a:picLocks noChangeAspect="1"/>
          </p:cNvPicPr>
          <p:nvPr/>
        </p:nvPicPr>
        <p:blipFill>
          <a:blip r:embed="rId4"/>
          <a:stretch>
            <a:fillRect/>
          </a:stretch>
        </p:blipFill>
        <p:spPr>
          <a:xfrm>
            <a:off x="2928937" y="2580088"/>
            <a:ext cx="6334125" cy="552450"/>
          </a:xfrm>
          <a:prstGeom prst="rect">
            <a:avLst/>
          </a:prstGeom>
        </p:spPr>
      </p:pic>
    </p:spTree>
    <p:extLst>
      <p:ext uri="{BB962C8B-B14F-4D97-AF65-F5344CB8AC3E}">
        <p14:creationId xmlns:p14="http://schemas.microsoft.com/office/powerpoint/2010/main" val="5995546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456298" y="275515"/>
            <a:ext cx="6538523" cy="523220"/>
          </a:xfrm>
          <a:prstGeom prst="rect">
            <a:avLst/>
          </a:prstGeom>
          <a:noFill/>
        </p:spPr>
        <p:txBody>
          <a:bodyPr wrap="square" rtlCol="0">
            <a:spAutoFit/>
          </a:bodyPr>
          <a:lstStyle/>
          <a:p>
            <a:r>
              <a:rPr lang="zh-CN" altLang="en-US" sz="2800" dirty="0">
                <a:solidFill>
                  <a:srgbClr val="4B11BF"/>
                </a:solidFill>
              </a:rPr>
              <a:t>更新</a:t>
            </a:r>
            <a:r>
              <a:rPr lang="el-GR" altLang="zh-CN" sz="2800" dirty="0">
                <a:solidFill>
                  <a:srgbClr val="4B11BF"/>
                </a:solidFill>
              </a:rPr>
              <a:t>ω</a:t>
            </a:r>
            <a:endParaRPr lang="zh-CN" altLang="en-US" sz="2800" dirty="0">
              <a:solidFill>
                <a:srgbClr val="4B11BF"/>
              </a:solidFill>
            </a:endParaRPr>
          </a:p>
        </p:txBody>
      </p:sp>
      <p:sp>
        <p:nvSpPr>
          <p:cNvPr id="3" name="矩形 2">
            <a:extLst>
              <a:ext uri="{FF2B5EF4-FFF2-40B4-BE49-F238E27FC236}">
                <a16:creationId xmlns:a16="http://schemas.microsoft.com/office/drawing/2014/main" id="{113508EE-EA28-4849-8EB8-5D135CF1704E}"/>
              </a:ext>
            </a:extLst>
          </p:cNvPr>
          <p:cNvSpPr/>
          <p:nvPr/>
        </p:nvSpPr>
        <p:spPr>
          <a:xfrm>
            <a:off x="1318055" y="1191830"/>
            <a:ext cx="9555894" cy="2246769"/>
          </a:xfrm>
          <a:prstGeom prst="rect">
            <a:avLst/>
          </a:prstGeom>
        </p:spPr>
        <p:txBody>
          <a:bodyPr wrap="square">
            <a:spAutoFit/>
          </a:bodyPr>
          <a:lstStyle/>
          <a:p>
            <a:pPr marL="457200" indent="-457200">
              <a:buFont typeface="Wingdings" panose="05000000000000000000" pitchFamily="2" charset="2"/>
              <a:buChar char="l"/>
            </a:pPr>
            <a:r>
              <a:rPr lang="zh-CN" altLang="en-US" sz="2800" dirty="0"/>
              <a:t>更新混合参数</a:t>
            </a:r>
            <a:r>
              <a:rPr lang="en-US" altLang="zh-CN" sz="2800" dirty="0"/>
              <a:t>ω</a:t>
            </a:r>
            <a:r>
              <a:rPr lang="zh-CN" altLang="en-US" sz="2800" dirty="0"/>
              <a:t>时，固定</a:t>
            </a:r>
            <a:r>
              <a:rPr lang="en-US" altLang="zh-CN" sz="2800" dirty="0"/>
              <a:t>α</a:t>
            </a:r>
            <a:r>
              <a:rPr lang="en-US" altLang="zh-CN" sz="2800" baseline="-25000" dirty="0"/>
              <a:t>s </a:t>
            </a:r>
            <a:r>
              <a:rPr lang="zh-CN" altLang="en-US" sz="2800" dirty="0"/>
              <a:t>。</a:t>
            </a:r>
            <a:r>
              <a:rPr lang="en-US" altLang="zh-CN" sz="2800" dirty="0"/>
              <a:t> ω</a:t>
            </a:r>
            <a:r>
              <a:rPr lang="zh-CN" altLang="en-US" sz="2800" dirty="0"/>
              <a:t>的目标函数整理如下。</a:t>
            </a:r>
            <a:endParaRPr lang="en-US" altLang="zh-CN" sz="2800" dirty="0"/>
          </a:p>
          <a:p>
            <a:pPr marL="457200" indent="-457200">
              <a:buFont typeface="Wingdings" panose="05000000000000000000" pitchFamily="2" charset="2"/>
              <a:buChar char="l"/>
            </a:pPr>
            <a:endParaRPr lang="en-US" altLang="zh-CN" sz="2800" dirty="0"/>
          </a:p>
          <a:p>
            <a:pPr marL="457200" indent="-457200">
              <a:buFont typeface="Wingdings" panose="05000000000000000000" pitchFamily="2" charset="2"/>
              <a:buChar char="l"/>
            </a:pPr>
            <a:endParaRPr lang="en-US" altLang="zh-CN" sz="2800" dirty="0"/>
          </a:p>
          <a:p>
            <a:pPr marL="457200" indent="-457200">
              <a:buFont typeface="Wingdings" panose="05000000000000000000" pitchFamily="2" charset="2"/>
              <a:buChar char="l"/>
            </a:pPr>
            <a:endParaRPr lang="en-US" altLang="zh-CN" sz="2800" dirty="0"/>
          </a:p>
          <a:p>
            <a:pPr marL="457200" indent="-457200">
              <a:buFont typeface="Wingdings" panose="05000000000000000000" pitchFamily="2" charset="2"/>
              <a:buChar char="l"/>
            </a:pPr>
            <a:r>
              <a:rPr lang="zh-CN" altLang="en-US" sz="2800" dirty="0"/>
              <a:t>由于</a:t>
            </a:r>
            <a:r>
              <a:rPr lang="en-US" altLang="zh-CN" sz="2800" dirty="0"/>
              <a:t>ω∈[0</a:t>
            </a:r>
            <a:r>
              <a:rPr lang="zh-CN" altLang="en-US" sz="2800" dirty="0"/>
              <a:t>，</a:t>
            </a:r>
            <a:r>
              <a:rPr lang="en-US" altLang="zh-CN" sz="2800" dirty="0"/>
              <a:t>1]</a:t>
            </a:r>
            <a:r>
              <a:rPr lang="zh-CN" altLang="en-US" sz="2800" dirty="0"/>
              <a:t>，所以施加约束如下。</a:t>
            </a:r>
          </a:p>
        </p:txBody>
      </p:sp>
      <p:pic>
        <p:nvPicPr>
          <p:cNvPr id="9" name="图片 8">
            <a:extLst>
              <a:ext uri="{FF2B5EF4-FFF2-40B4-BE49-F238E27FC236}">
                <a16:creationId xmlns:a16="http://schemas.microsoft.com/office/drawing/2014/main" id="{6657D3C8-3790-4698-AFD6-0351762C3FD2}"/>
              </a:ext>
            </a:extLst>
          </p:cNvPr>
          <p:cNvPicPr>
            <a:picLocks noChangeAspect="1"/>
          </p:cNvPicPr>
          <p:nvPr/>
        </p:nvPicPr>
        <p:blipFill>
          <a:blip r:embed="rId3"/>
          <a:stretch>
            <a:fillRect/>
          </a:stretch>
        </p:blipFill>
        <p:spPr>
          <a:xfrm>
            <a:off x="4733924" y="3732840"/>
            <a:ext cx="2724150" cy="981075"/>
          </a:xfrm>
          <a:prstGeom prst="rect">
            <a:avLst/>
          </a:prstGeom>
        </p:spPr>
      </p:pic>
      <p:pic>
        <p:nvPicPr>
          <p:cNvPr id="2" name="图片 1">
            <a:extLst>
              <a:ext uri="{FF2B5EF4-FFF2-40B4-BE49-F238E27FC236}">
                <a16:creationId xmlns:a16="http://schemas.microsoft.com/office/drawing/2014/main" id="{1F1DF2CC-79A4-476E-9B63-7A44EE9B6255}"/>
              </a:ext>
            </a:extLst>
          </p:cNvPr>
          <p:cNvPicPr>
            <a:picLocks noChangeAspect="1"/>
          </p:cNvPicPr>
          <p:nvPr/>
        </p:nvPicPr>
        <p:blipFill>
          <a:blip r:embed="rId4"/>
          <a:stretch>
            <a:fillRect/>
          </a:stretch>
        </p:blipFill>
        <p:spPr>
          <a:xfrm>
            <a:off x="4258335" y="1833654"/>
            <a:ext cx="3675327" cy="888978"/>
          </a:xfrm>
          <a:prstGeom prst="rect">
            <a:avLst/>
          </a:prstGeom>
        </p:spPr>
      </p:pic>
    </p:spTree>
    <p:extLst>
      <p:ext uri="{BB962C8B-B14F-4D97-AF65-F5344CB8AC3E}">
        <p14:creationId xmlns:p14="http://schemas.microsoft.com/office/powerpoint/2010/main" val="39241702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01DB9518-0AE1-4861-818A-3BA36709AC59}"/>
              </a:ext>
            </a:extLst>
          </p:cNvPr>
          <p:cNvSpPr txBox="1"/>
          <p:nvPr/>
        </p:nvSpPr>
        <p:spPr>
          <a:xfrm>
            <a:off x="1456298" y="275515"/>
            <a:ext cx="6538523" cy="523220"/>
          </a:xfrm>
          <a:prstGeom prst="rect">
            <a:avLst/>
          </a:prstGeom>
          <a:noFill/>
        </p:spPr>
        <p:txBody>
          <a:bodyPr wrap="square" rtlCol="0">
            <a:spAutoFit/>
          </a:bodyPr>
          <a:lstStyle/>
          <a:p>
            <a:r>
              <a:rPr lang="zh-CN" altLang="en-US" sz="2800" dirty="0">
                <a:solidFill>
                  <a:srgbClr val="4B11BF"/>
                </a:solidFill>
              </a:rPr>
              <a:t>烟雾检测框架</a:t>
            </a:r>
          </a:p>
        </p:txBody>
      </p:sp>
      <p:pic>
        <p:nvPicPr>
          <p:cNvPr id="4" name="图片 3">
            <a:extLst>
              <a:ext uri="{FF2B5EF4-FFF2-40B4-BE49-F238E27FC236}">
                <a16:creationId xmlns:a16="http://schemas.microsoft.com/office/drawing/2014/main" id="{CF7251AA-75E2-46AC-8ABF-2FD21DE103F1}"/>
              </a:ext>
            </a:extLst>
          </p:cNvPr>
          <p:cNvPicPr>
            <a:picLocks noChangeAspect="1"/>
          </p:cNvPicPr>
          <p:nvPr/>
        </p:nvPicPr>
        <p:blipFill>
          <a:blip r:embed="rId3"/>
          <a:stretch>
            <a:fillRect/>
          </a:stretch>
        </p:blipFill>
        <p:spPr>
          <a:xfrm>
            <a:off x="36575" y="1118543"/>
            <a:ext cx="12155425" cy="4956312"/>
          </a:xfrm>
          <a:prstGeom prst="rect">
            <a:avLst/>
          </a:prstGeom>
        </p:spPr>
      </p:pic>
    </p:spTree>
    <p:extLst>
      <p:ext uri="{BB962C8B-B14F-4D97-AF65-F5344CB8AC3E}">
        <p14:creationId xmlns:p14="http://schemas.microsoft.com/office/powerpoint/2010/main" val="15651997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456298" y="275515"/>
            <a:ext cx="6538523" cy="523220"/>
          </a:xfrm>
          <a:prstGeom prst="rect">
            <a:avLst/>
          </a:prstGeom>
          <a:noFill/>
        </p:spPr>
        <p:txBody>
          <a:bodyPr wrap="square" rtlCol="0">
            <a:spAutoFit/>
          </a:bodyPr>
          <a:lstStyle/>
          <a:p>
            <a:r>
              <a:rPr lang="zh-CN" altLang="en-US" sz="2800" dirty="0">
                <a:solidFill>
                  <a:srgbClr val="4B11BF"/>
                </a:solidFill>
              </a:rPr>
              <a:t>数据集</a:t>
            </a:r>
          </a:p>
        </p:txBody>
      </p:sp>
      <p:sp>
        <p:nvSpPr>
          <p:cNvPr id="7" name="矩形 6">
            <a:extLst>
              <a:ext uri="{FF2B5EF4-FFF2-40B4-BE49-F238E27FC236}">
                <a16:creationId xmlns:a16="http://schemas.microsoft.com/office/drawing/2014/main" id="{8DFE7F84-64BD-4783-8E46-9C28E69A544A}"/>
              </a:ext>
            </a:extLst>
          </p:cNvPr>
          <p:cNvSpPr/>
          <p:nvPr/>
        </p:nvSpPr>
        <p:spPr>
          <a:xfrm>
            <a:off x="799072" y="1117692"/>
            <a:ext cx="10272582" cy="3996672"/>
          </a:xfrm>
          <a:prstGeom prst="rect">
            <a:avLst/>
          </a:prstGeom>
        </p:spPr>
        <p:txBody>
          <a:bodyPr wrap="square">
            <a:spAutoFit/>
          </a:bodyPr>
          <a:lstStyle/>
          <a:p>
            <a:pPr marL="457200" indent="-457200">
              <a:lnSpc>
                <a:spcPct val="150000"/>
              </a:lnSpc>
              <a:buFont typeface="Wingdings" panose="05000000000000000000" pitchFamily="2" charset="2"/>
              <a:buChar char="l"/>
            </a:pPr>
            <a:r>
              <a:rPr lang="zh-CN" altLang="en-US" sz="2800" dirty="0"/>
              <a:t>准备如下数据集：</a:t>
            </a:r>
            <a:endParaRPr lang="en-US" altLang="zh-CN" sz="2800" dirty="0"/>
          </a:p>
          <a:p>
            <a:pPr marL="914400" lvl="1" indent="-457200">
              <a:lnSpc>
                <a:spcPct val="150000"/>
              </a:lnSpc>
              <a:buFont typeface="Wingdings" panose="05000000000000000000" pitchFamily="2" charset="2"/>
              <a:buChar char="l"/>
            </a:pPr>
            <a:r>
              <a:rPr lang="en-US" altLang="zh-CN" sz="2400" dirty="0"/>
              <a:t>D1-</a:t>
            </a:r>
            <a:r>
              <a:rPr lang="zh-CN" altLang="en-US" sz="2400" dirty="0"/>
              <a:t>用于</a:t>
            </a:r>
            <a:r>
              <a:rPr lang="zh-CN" altLang="en-US" sz="2400" b="1" dirty="0"/>
              <a:t>学习</a:t>
            </a:r>
            <a:r>
              <a:rPr lang="en-US" altLang="zh-CN" sz="2400" b="1" dirty="0"/>
              <a:t>Ds</a:t>
            </a:r>
            <a:r>
              <a:rPr lang="zh-CN" altLang="en-US" sz="2400" dirty="0"/>
              <a:t>和</a:t>
            </a:r>
            <a:r>
              <a:rPr lang="en-US" altLang="zh-CN" sz="2400" b="1" dirty="0"/>
              <a:t>Db</a:t>
            </a:r>
            <a:r>
              <a:rPr lang="zh-CN" altLang="en-US" sz="2400" dirty="0"/>
              <a:t>。采用</a:t>
            </a:r>
            <a:r>
              <a:rPr lang="en-US" altLang="zh-CN" sz="2400" dirty="0"/>
              <a:t>K-SVD</a:t>
            </a:r>
            <a:r>
              <a:rPr lang="zh-CN" altLang="en-US" sz="2400" dirty="0"/>
              <a:t>算法，</a:t>
            </a:r>
            <a:r>
              <a:rPr lang="en-US" altLang="zh-CN" sz="2400" dirty="0"/>
              <a:t>4000</a:t>
            </a:r>
            <a:r>
              <a:rPr lang="zh-CN" altLang="en-US" sz="2400" dirty="0"/>
              <a:t>个纯烟样本训练</a:t>
            </a:r>
            <a:r>
              <a:rPr lang="en-US" altLang="zh-CN" sz="2400" dirty="0"/>
              <a:t>500</a:t>
            </a:r>
            <a:r>
              <a:rPr lang="zh-CN" altLang="en-US" sz="2400" dirty="0"/>
              <a:t>个基的烟雾字典，</a:t>
            </a:r>
            <a:r>
              <a:rPr lang="en-US" altLang="zh-CN" sz="2400" dirty="0"/>
              <a:t>4000</a:t>
            </a:r>
            <a:r>
              <a:rPr lang="zh-CN" altLang="en-US" sz="2400" dirty="0"/>
              <a:t>非烟雾图像作为负样本。</a:t>
            </a:r>
            <a:endParaRPr lang="en-US" altLang="zh-CN" sz="2400" dirty="0"/>
          </a:p>
          <a:p>
            <a:pPr marL="914400" lvl="1" indent="-457200">
              <a:lnSpc>
                <a:spcPct val="150000"/>
              </a:lnSpc>
              <a:buFont typeface="Wingdings" panose="05000000000000000000" pitchFamily="2" charset="2"/>
              <a:buChar char="l"/>
            </a:pPr>
            <a:r>
              <a:rPr lang="en-US" altLang="zh-CN" sz="2400" dirty="0"/>
              <a:t>D2</a:t>
            </a:r>
            <a:r>
              <a:rPr lang="zh-CN" altLang="en-US" sz="2400" dirty="0"/>
              <a:t>：将纯烟雾和非烟雾图像进行</a:t>
            </a:r>
            <a:r>
              <a:rPr lang="zh-CN" altLang="en-US" sz="2400" b="1" dirty="0"/>
              <a:t>合成</a:t>
            </a:r>
            <a:r>
              <a:rPr lang="zh-CN" altLang="en-US" sz="2400" dirty="0"/>
              <a:t>，形成具有不同混合参数的烟雾覆盖图像。准备了四组烟雾图像，其混合参数从</a:t>
            </a:r>
            <a:r>
              <a:rPr lang="en-US" altLang="zh-CN" sz="2400" dirty="0"/>
              <a:t>0</a:t>
            </a:r>
            <a:r>
              <a:rPr lang="zh-CN" altLang="en-US" sz="2400" dirty="0"/>
              <a:t>增至</a:t>
            </a:r>
            <a:r>
              <a:rPr lang="en-US" altLang="zh-CN" sz="2400" dirty="0"/>
              <a:t>1</a:t>
            </a:r>
            <a:r>
              <a:rPr lang="zh-CN" altLang="en-US" sz="2400" dirty="0"/>
              <a:t>，精度为</a:t>
            </a:r>
            <a:r>
              <a:rPr lang="en-US" altLang="zh-CN" sz="2400" dirty="0"/>
              <a:t>0.1</a:t>
            </a:r>
            <a:r>
              <a:rPr lang="zh-CN" altLang="en-US" sz="2400" dirty="0"/>
              <a:t>、</a:t>
            </a:r>
            <a:r>
              <a:rPr lang="en-US" altLang="zh-CN" sz="2400" dirty="0"/>
              <a:t>0.05</a:t>
            </a:r>
            <a:r>
              <a:rPr lang="zh-CN" altLang="en-US" sz="2400" dirty="0"/>
              <a:t>、</a:t>
            </a:r>
            <a:r>
              <a:rPr lang="en-US" altLang="zh-CN" sz="2400" dirty="0"/>
              <a:t>0.02</a:t>
            </a:r>
            <a:r>
              <a:rPr lang="zh-CN" altLang="en-US" sz="2400" dirty="0"/>
              <a:t>、</a:t>
            </a:r>
            <a:r>
              <a:rPr lang="en-US" altLang="zh-CN" sz="2400" dirty="0"/>
              <a:t>0.01</a:t>
            </a:r>
            <a:r>
              <a:rPr lang="zh-CN" altLang="en-US" sz="2400" dirty="0"/>
              <a:t>。 </a:t>
            </a:r>
            <a:endParaRPr lang="en-US" altLang="zh-CN" sz="2400" dirty="0"/>
          </a:p>
          <a:p>
            <a:pPr marL="914400" lvl="1" indent="-457200">
              <a:lnSpc>
                <a:spcPct val="150000"/>
              </a:lnSpc>
              <a:buFont typeface="Wingdings" panose="05000000000000000000" pitchFamily="2" charset="2"/>
              <a:buChar char="l"/>
            </a:pPr>
            <a:r>
              <a:rPr lang="en-US" altLang="zh-CN" sz="2400" dirty="0"/>
              <a:t>D3-</a:t>
            </a:r>
            <a:r>
              <a:rPr lang="zh-CN" altLang="en-US" sz="2400" b="1" dirty="0"/>
              <a:t>真实</a:t>
            </a:r>
            <a:r>
              <a:rPr lang="zh-CN" altLang="en-US" sz="2400" dirty="0"/>
              <a:t>烟雾和非烟雾视频，不同照明，长短距离，室内室外。  </a:t>
            </a:r>
            <a:endParaRPr lang="en-US" altLang="zh-CN" sz="2400" dirty="0"/>
          </a:p>
        </p:txBody>
      </p:sp>
    </p:spTree>
    <p:extLst>
      <p:ext uri="{BB962C8B-B14F-4D97-AF65-F5344CB8AC3E}">
        <p14:creationId xmlns:p14="http://schemas.microsoft.com/office/powerpoint/2010/main" val="23160975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456298" y="275515"/>
            <a:ext cx="6538523" cy="523220"/>
          </a:xfrm>
          <a:prstGeom prst="rect">
            <a:avLst/>
          </a:prstGeom>
          <a:noFill/>
        </p:spPr>
        <p:txBody>
          <a:bodyPr wrap="square" rtlCol="0">
            <a:spAutoFit/>
          </a:bodyPr>
          <a:lstStyle/>
          <a:p>
            <a:r>
              <a:rPr lang="zh-CN" altLang="en-US" sz="2800" dirty="0">
                <a:solidFill>
                  <a:srgbClr val="4B11BF"/>
                </a:solidFill>
              </a:rPr>
              <a:t>评估分割性能</a:t>
            </a:r>
          </a:p>
        </p:txBody>
      </p:sp>
      <p:sp>
        <p:nvSpPr>
          <p:cNvPr id="7" name="矩形 6">
            <a:extLst>
              <a:ext uri="{FF2B5EF4-FFF2-40B4-BE49-F238E27FC236}">
                <a16:creationId xmlns:a16="http://schemas.microsoft.com/office/drawing/2014/main" id="{8DFE7F84-64BD-4783-8E46-9C28E69A544A}"/>
              </a:ext>
            </a:extLst>
          </p:cNvPr>
          <p:cNvSpPr/>
          <p:nvPr/>
        </p:nvSpPr>
        <p:spPr>
          <a:xfrm>
            <a:off x="1318055" y="1191830"/>
            <a:ext cx="9555894" cy="2600712"/>
          </a:xfrm>
          <a:prstGeom prst="rect">
            <a:avLst/>
          </a:prstGeom>
        </p:spPr>
        <p:txBody>
          <a:bodyPr wrap="square">
            <a:spAutoFit/>
          </a:bodyPr>
          <a:lstStyle/>
          <a:p>
            <a:pPr marL="457200" indent="-457200">
              <a:lnSpc>
                <a:spcPct val="150000"/>
              </a:lnSpc>
              <a:buFont typeface="Wingdings" panose="05000000000000000000" pitchFamily="2" charset="2"/>
              <a:buChar char="l"/>
            </a:pPr>
            <a:r>
              <a:rPr lang="zh-CN" altLang="en-US" sz="2800" dirty="0"/>
              <a:t>分离性能的评估标准分为两部分</a:t>
            </a:r>
            <a:endParaRPr lang="en-US" altLang="zh-CN" sz="2800" dirty="0"/>
          </a:p>
          <a:p>
            <a:pPr marL="914400" lvl="1" indent="-457200">
              <a:lnSpc>
                <a:spcPct val="150000"/>
              </a:lnSpc>
              <a:buFont typeface="Wingdings" panose="05000000000000000000" pitchFamily="2" charset="2"/>
              <a:buChar char="l"/>
            </a:pPr>
            <a:r>
              <a:rPr lang="zh-CN" altLang="en-US" sz="2800" dirty="0"/>
              <a:t>基于估计变量与预设变量之间的差异，这涉及混合参数</a:t>
            </a:r>
            <a:r>
              <a:rPr lang="en-US" altLang="zh-CN" sz="2800" dirty="0"/>
              <a:t>ω</a:t>
            </a:r>
            <a:r>
              <a:rPr lang="zh-CN" altLang="en-US" sz="2800" dirty="0"/>
              <a:t>和烟气成分</a:t>
            </a:r>
            <a:r>
              <a:rPr lang="en-US" altLang="zh-CN" sz="2800" dirty="0"/>
              <a:t>s</a:t>
            </a:r>
            <a:r>
              <a:rPr lang="zh-CN" altLang="en-US" sz="2800" dirty="0"/>
              <a:t>。</a:t>
            </a:r>
            <a:endParaRPr lang="en-US" altLang="zh-CN" sz="2800" dirty="0"/>
          </a:p>
          <a:p>
            <a:pPr marL="914400" lvl="1" indent="-457200">
              <a:lnSpc>
                <a:spcPct val="150000"/>
              </a:lnSpc>
              <a:buFont typeface="Wingdings" panose="05000000000000000000" pitchFamily="2" charset="2"/>
              <a:buChar char="l"/>
            </a:pPr>
            <a:r>
              <a:rPr lang="zh-CN" altLang="en-US" sz="2800" dirty="0"/>
              <a:t>基于对真实烟雾或非烟雾视频的视觉评估。</a:t>
            </a:r>
            <a:endParaRPr lang="en-US" altLang="zh-CN" sz="2800" dirty="0"/>
          </a:p>
        </p:txBody>
      </p:sp>
    </p:spTree>
    <p:extLst>
      <p:ext uri="{BB962C8B-B14F-4D97-AF65-F5344CB8AC3E}">
        <p14:creationId xmlns:p14="http://schemas.microsoft.com/office/powerpoint/2010/main" val="3907040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456298" y="275515"/>
            <a:ext cx="6538523" cy="523220"/>
          </a:xfrm>
          <a:prstGeom prst="rect">
            <a:avLst/>
          </a:prstGeom>
          <a:noFill/>
        </p:spPr>
        <p:txBody>
          <a:bodyPr wrap="square" rtlCol="0">
            <a:spAutoFit/>
          </a:bodyPr>
          <a:lstStyle/>
          <a:p>
            <a:r>
              <a:rPr lang="zh-CN" altLang="en-US" sz="2800" dirty="0">
                <a:solidFill>
                  <a:srgbClr val="4B11BF"/>
                </a:solidFill>
              </a:rPr>
              <a:t>重建烟雾</a:t>
            </a:r>
            <a:r>
              <a:rPr lang="el-GR" altLang="zh-CN" sz="2800" dirty="0">
                <a:solidFill>
                  <a:srgbClr val="4B11BF"/>
                </a:solidFill>
              </a:rPr>
              <a:t>ω</a:t>
            </a:r>
            <a:r>
              <a:rPr lang="zh-CN" altLang="en-US" sz="2800" dirty="0">
                <a:solidFill>
                  <a:srgbClr val="4B11BF"/>
                </a:solidFill>
              </a:rPr>
              <a:t>对比</a:t>
            </a:r>
          </a:p>
        </p:txBody>
      </p:sp>
      <p:pic>
        <p:nvPicPr>
          <p:cNvPr id="2" name="图片 1">
            <a:extLst>
              <a:ext uri="{FF2B5EF4-FFF2-40B4-BE49-F238E27FC236}">
                <a16:creationId xmlns:a16="http://schemas.microsoft.com/office/drawing/2014/main" id="{7FF85526-F7DB-4F94-A954-A3CEC84B75B1}"/>
              </a:ext>
            </a:extLst>
          </p:cNvPr>
          <p:cNvPicPr>
            <a:picLocks noChangeAspect="1"/>
          </p:cNvPicPr>
          <p:nvPr/>
        </p:nvPicPr>
        <p:blipFill>
          <a:blip r:embed="rId3"/>
          <a:stretch>
            <a:fillRect/>
          </a:stretch>
        </p:blipFill>
        <p:spPr>
          <a:xfrm>
            <a:off x="1590080" y="1346500"/>
            <a:ext cx="9011840" cy="5017230"/>
          </a:xfrm>
          <a:prstGeom prst="rect">
            <a:avLst/>
          </a:prstGeom>
        </p:spPr>
      </p:pic>
    </p:spTree>
    <p:extLst>
      <p:ext uri="{BB962C8B-B14F-4D97-AF65-F5344CB8AC3E}">
        <p14:creationId xmlns:p14="http://schemas.microsoft.com/office/powerpoint/2010/main" val="36639709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456298" y="275515"/>
            <a:ext cx="6538523" cy="523220"/>
          </a:xfrm>
          <a:prstGeom prst="rect">
            <a:avLst/>
          </a:prstGeom>
          <a:noFill/>
        </p:spPr>
        <p:txBody>
          <a:bodyPr wrap="square" rtlCol="0">
            <a:spAutoFit/>
          </a:bodyPr>
          <a:lstStyle/>
          <a:p>
            <a:r>
              <a:rPr lang="zh-CN" altLang="en-US" sz="2800" dirty="0">
                <a:solidFill>
                  <a:srgbClr val="4B11BF"/>
                </a:solidFill>
              </a:rPr>
              <a:t>重建烟雾对比</a:t>
            </a:r>
          </a:p>
        </p:txBody>
      </p:sp>
      <p:pic>
        <p:nvPicPr>
          <p:cNvPr id="2" name="图片 1">
            <a:extLst>
              <a:ext uri="{FF2B5EF4-FFF2-40B4-BE49-F238E27FC236}">
                <a16:creationId xmlns:a16="http://schemas.microsoft.com/office/drawing/2014/main" id="{ED8D1632-1059-4B57-ABF3-C6894B610F5E}"/>
              </a:ext>
            </a:extLst>
          </p:cNvPr>
          <p:cNvPicPr>
            <a:picLocks noChangeAspect="1"/>
          </p:cNvPicPr>
          <p:nvPr/>
        </p:nvPicPr>
        <p:blipFill>
          <a:blip r:embed="rId3"/>
          <a:stretch>
            <a:fillRect/>
          </a:stretch>
        </p:blipFill>
        <p:spPr>
          <a:xfrm>
            <a:off x="1343025" y="1938337"/>
            <a:ext cx="9505950" cy="2981325"/>
          </a:xfrm>
          <a:prstGeom prst="rect">
            <a:avLst/>
          </a:prstGeom>
        </p:spPr>
      </p:pic>
    </p:spTree>
    <p:extLst>
      <p:ext uri="{BB962C8B-B14F-4D97-AF65-F5344CB8AC3E}">
        <p14:creationId xmlns:p14="http://schemas.microsoft.com/office/powerpoint/2010/main" val="19304673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456298" y="275515"/>
            <a:ext cx="6538523" cy="523220"/>
          </a:xfrm>
          <a:prstGeom prst="rect">
            <a:avLst/>
          </a:prstGeom>
          <a:noFill/>
        </p:spPr>
        <p:txBody>
          <a:bodyPr wrap="square" rtlCol="0">
            <a:spAutoFit/>
          </a:bodyPr>
          <a:lstStyle/>
          <a:p>
            <a:r>
              <a:rPr lang="zh-CN" altLang="en-US" sz="2800" dirty="0">
                <a:solidFill>
                  <a:srgbClr val="4B11BF"/>
                </a:solidFill>
              </a:rPr>
              <a:t>重建烟雾匹配度</a:t>
            </a:r>
            <a:r>
              <a:rPr lang="en-US" altLang="zh-CN" sz="2800" dirty="0">
                <a:solidFill>
                  <a:srgbClr val="4B11BF"/>
                </a:solidFill>
              </a:rPr>
              <a:t>NCC</a:t>
            </a:r>
            <a:endParaRPr lang="zh-CN" altLang="en-US" sz="2800" dirty="0">
              <a:solidFill>
                <a:srgbClr val="4B11BF"/>
              </a:solidFill>
            </a:endParaRPr>
          </a:p>
        </p:txBody>
      </p:sp>
      <p:pic>
        <p:nvPicPr>
          <p:cNvPr id="2" name="图片 1">
            <a:extLst>
              <a:ext uri="{FF2B5EF4-FFF2-40B4-BE49-F238E27FC236}">
                <a16:creationId xmlns:a16="http://schemas.microsoft.com/office/drawing/2014/main" id="{D6E52DA3-FDA5-458B-8487-5505954E181B}"/>
              </a:ext>
            </a:extLst>
          </p:cNvPr>
          <p:cNvPicPr>
            <a:picLocks noChangeAspect="1"/>
          </p:cNvPicPr>
          <p:nvPr/>
        </p:nvPicPr>
        <p:blipFill>
          <a:blip r:embed="rId3"/>
          <a:stretch>
            <a:fillRect/>
          </a:stretch>
        </p:blipFill>
        <p:spPr>
          <a:xfrm>
            <a:off x="1538786" y="1305568"/>
            <a:ext cx="9114428" cy="5008735"/>
          </a:xfrm>
          <a:prstGeom prst="rect">
            <a:avLst/>
          </a:prstGeom>
        </p:spPr>
      </p:pic>
    </p:spTree>
    <p:extLst>
      <p:ext uri="{BB962C8B-B14F-4D97-AF65-F5344CB8AC3E}">
        <p14:creationId xmlns:p14="http://schemas.microsoft.com/office/powerpoint/2010/main" val="11870594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456298" y="275515"/>
            <a:ext cx="6538523" cy="523220"/>
          </a:xfrm>
          <a:prstGeom prst="rect">
            <a:avLst/>
          </a:prstGeom>
          <a:noFill/>
        </p:spPr>
        <p:txBody>
          <a:bodyPr wrap="square" rtlCol="0">
            <a:spAutoFit/>
          </a:bodyPr>
          <a:lstStyle/>
          <a:p>
            <a:r>
              <a:rPr lang="zh-CN" altLang="en-US" sz="2800" dirty="0">
                <a:solidFill>
                  <a:srgbClr val="4B11BF"/>
                </a:solidFill>
              </a:rPr>
              <a:t>无烟分离效果</a:t>
            </a:r>
          </a:p>
        </p:txBody>
      </p:sp>
      <p:pic>
        <p:nvPicPr>
          <p:cNvPr id="4" name="图片 3">
            <a:extLst>
              <a:ext uri="{FF2B5EF4-FFF2-40B4-BE49-F238E27FC236}">
                <a16:creationId xmlns:a16="http://schemas.microsoft.com/office/drawing/2014/main" id="{D3FA47F2-C343-4720-AAD5-1F2B4DDB7C86}"/>
              </a:ext>
            </a:extLst>
          </p:cNvPr>
          <p:cNvPicPr>
            <a:picLocks noChangeAspect="1"/>
          </p:cNvPicPr>
          <p:nvPr/>
        </p:nvPicPr>
        <p:blipFill>
          <a:blip r:embed="rId3"/>
          <a:stretch>
            <a:fillRect/>
          </a:stretch>
        </p:blipFill>
        <p:spPr>
          <a:xfrm>
            <a:off x="1262062" y="2004497"/>
            <a:ext cx="9667875" cy="2886075"/>
          </a:xfrm>
          <a:prstGeom prst="rect">
            <a:avLst/>
          </a:prstGeom>
        </p:spPr>
      </p:pic>
    </p:spTree>
    <p:extLst>
      <p:ext uri="{BB962C8B-B14F-4D97-AF65-F5344CB8AC3E}">
        <p14:creationId xmlns:p14="http://schemas.microsoft.com/office/powerpoint/2010/main" val="25450415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456298" y="275515"/>
            <a:ext cx="6538523" cy="523220"/>
          </a:xfrm>
          <a:prstGeom prst="rect">
            <a:avLst/>
          </a:prstGeom>
          <a:noFill/>
        </p:spPr>
        <p:txBody>
          <a:bodyPr wrap="square" rtlCol="0">
            <a:spAutoFit/>
          </a:bodyPr>
          <a:lstStyle/>
          <a:p>
            <a:r>
              <a:rPr lang="zh-CN" altLang="en-US" sz="2800" dirty="0">
                <a:solidFill>
                  <a:srgbClr val="4B11BF"/>
                </a:solidFill>
              </a:rPr>
              <a:t>浓烟分离效果</a:t>
            </a:r>
          </a:p>
        </p:txBody>
      </p:sp>
      <p:pic>
        <p:nvPicPr>
          <p:cNvPr id="2" name="图片 1">
            <a:extLst>
              <a:ext uri="{FF2B5EF4-FFF2-40B4-BE49-F238E27FC236}">
                <a16:creationId xmlns:a16="http://schemas.microsoft.com/office/drawing/2014/main" id="{C4275DB9-3E27-4DBB-87C0-9BF4875C5885}"/>
              </a:ext>
            </a:extLst>
          </p:cNvPr>
          <p:cNvPicPr>
            <a:picLocks noChangeAspect="1"/>
          </p:cNvPicPr>
          <p:nvPr/>
        </p:nvPicPr>
        <p:blipFill>
          <a:blip r:embed="rId3"/>
          <a:stretch>
            <a:fillRect/>
          </a:stretch>
        </p:blipFill>
        <p:spPr>
          <a:xfrm>
            <a:off x="1328737" y="1971675"/>
            <a:ext cx="9534525" cy="2914650"/>
          </a:xfrm>
          <a:prstGeom prst="rect">
            <a:avLst/>
          </a:prstGeom>
        </p:spPr>
      </p:pic>
    </p:spTree>
    <p:extLst>
      <p:ext uri="{BB962C8B-B14F-4D97-AF65-F5344CB8AC3E}">
        <p14:creationId xmlns:p14="http://schemas.microsoft.com/office/powerpoint/2010/main" val="23805258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456298" y="275515"/>
            <a:ext cx="6538523" cy="523220"/>
          </a:xfrm>
          <a:prstGeom prst="rect">
            <a:avLst/>
          </a:prstGeom>
          <a:noFill/>
        </p:spPr>
        <p:txBody>
          <a:bodyPr wrap="square" rtlCol="0">
            <a:spAutoFit/>
          </a:bodyPr>
          <a:lstStyle/>
          <a:p>
            <a:r>
              <a:rPr lang="zh-CN" altLang="en-US" sz="2800" dirty="0">
                <a:solidFill>
                  <a:srgbClr val="4B11BF"/>
                </a:solidFill>
              </a:rPr>
              <a:t>真实图像评估分割</a:t>
            </a:r>
          </a:p>
        </p:txBody>
      </p:sp>
      <p:pic>
        <p:nvPicPr>
          <p:cNvPr id="2" name="图片 1">
            <a:extLst>
              <a:ext uri="{FF2B5EF4-FFF2-40B4-BE49-F238E27FC236}">
                <a16:creationId xmlns:a16="http://schemas.microsoft.com/office/drawing/2014/main" id="{B9FD12D6-E6F4-426C-8091-2A4AF8C9BFCF}"/>
              </a:ext>
            </a:extLst>
          </p:cNvPr>
          <p:cNvPicPr>
            <a:picLocks noChangeAspect="1"/>
          </p:cNvPicPr>
          <p:nvPr/>
        </p:nvPicPr>
        <p:blipFill>
          <a:blip r:embed="rId3"/>
          <a:stretch>
            <a:fillRect/>
          </a:stretch>
        </p:blipFill>
        <p:spPr>
          <a:xfrm>
            <a:off x="747712" y="1319212"/>
            <a:ext cx="10696575" cy="4219575"/>
          </a:xfrm>
          <a:prstGeom prst="rect">
            <a:avLst/>
          </a:prstGeom>
        </p:spPr>
      </p:pic>
    </p:spTree>
    <p:extLst>
      <p:ext uri="{BB962C8B-B14F-4D97-AF65-F5344CB8AC3E}">
        <p14:creationId xmlns:p14="http://schemas.microsoft.com/office/powerpoint/2010/main" val="19155248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456298" y="275515"/>
            <a:ext cx="6538523" cy="523220"/>
          </a:xfrm>
          <a:prstGeom prst="rect">
            <a:avLst/>
          </a:prstGeom>
          <a:noFill/>
        </p:spPr>
        <p:txBody>
          <a:bodyPr wrap="square" rtlCol="0">
            <a:spAutoFit/>
          </a:bodyPr>
          <a:lstStyle/>
          <a:p>
            <a:r>
              <a:rPr lang="zh-CN" altLang="en-US" sz="2800" dirty="0">
                <a:solidFill>
                  <a:srgbClr val="4B11BF"/>
                </a:solidFill>
              </a:rPr>
              <a:t>真实烟雾分割误差</a:t>
            </a:r>
          </a:p>
        </p:txBody>
      </p:sp>
      <p:pic>
        <p:nvPicPr>
          <p:cNvPr id="5" name="图片 4">
            <a:extLst>
              <a:ext uri="{FF2B5EF4-FFF2-40B4-BE49-F238E27FC236}">
                <a16:creationId xmlns:a16="http://schemas.microsoft.com/office/drawing/2014/main" id="{48115488-422B-466F-98A5-3FD0A87C3DAB}"/>
              </a:ext>
            </a:extLst>
          </p:cNvPr>
          <p:cNvPicPr>
            <a:picLocks noChangeAspect="1"/>
          </p:cNvPicPr>
          <p:nvPr/>
        </p:nvPicPr>
        <p:blipFill>
          <a:blip r:embed="rId3"/>
          <a:stretch>
            <a:fillRect/>
          </a:stretch>
        </p:blipFill>
        <p:spPr>
          <a:xfrm>
            <a:off x="5080944" y="180975"/>
            <a:ext cx="5391150" cy="6677025"/>
          </a:xfrm>
          <a:prstGeom prst="rect">
            <a:avLst/>
          </a:prstGeom>
        </p:spPr>
      </p:pic>
      <p:pic>
        <p:nvPicPr>
          <p:cNvPr id="7" name="图片 6">
            <a:extLst>
              <a:ext uri="{FF2B5EF4-FFF2-40B4-BE49-F238E27FC236}">
                <a16:creationId xmlns:a16="http://schemas.microsoft.com/office/drawing/2014/main" id="{A36081C7-DCFD-4454-BD3C-92CCC5887441}"/>
              </a:ext>
            </a:extLst>
          </p:cNvPr>
          <p:cNvPicPr>
            <a:picLocks noChangeAspect="1"/>
          </p:cNvPicPr>
          <p:nvPr/>
        </p:nvPicPr>
        <p:blipFill rotWithShape="1">
          <a:blip r:embed="rId4"/>
          <a:srcRect r="7031"/>
          <a:stretch/>
        </p:blipFill>
        <p:spPr>
          <a:xfrm>
            <a:off x="1037968" y="3057524"/>
            <a:ext cx="3400425" cy="742950"/>
          </a:xfrm>
          <a:prstGeom prst="rect">
            <a:avLst/>
          </a:prstGeom>
        </p:spPr>
      </p:pic>
    </p:spTree>
    <p:extLst>
      <p:ext uri="{BB962C8B-B14F-4D97-AF65-F5344CB8AC3E}">
        <p14:creationId xmlns:p14="http://schemas.microsoft.com/office/powerpoint/2010/main" val="19364716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456298" y="275515"/>
            <a:ext cx="6538523" cy="523220"/>
          </a:xfrm>
          <a:prstGeom prst="rect">
            <a:avLst/>
          </a:prstGeom>
          <a:noFill/>
        </p:spPr>
        <p:txBody>
          <a:bodyPr wrap="square" rtlCol="0">
            <a:spAutoFit/>
          </a:bodyPr>
          <a:lstStyle/>
          <a:p>
            <a:r>
              <a:rPr lang="zh-CN" altLang="en-US" sz="2800" dirty="0">
                <a:solidFill>
                  <a:srgbClr val="4B11BF"/>
                </a:solidFill>
              </a:rPr>
              <a:t>检测性能评估：合成数据集</a:t>
            </a:r>
          </a:p>
        </p:txBody>
      </p:sp>
      <p:sp>
        <p:nvSpPr>
          <p:cNvPr id="7" name="矩形 6">
            <a:extLst>
              <a:ext uri="{FF2B5EF4-FFF2-40B4-BE49-F238E27FC236}">
                <a16:creationId xmlns:a16="http://schemas.microsoft.com/office/drawing/2014/main" id="{1D0D0972-865E-4C97-A223-C16E257348F7}"/>
              </a:ext>
            </a:extLst>
          </p:cNvPr>
          <p:cNvSpPr/>
          <p:nvPr/>
        </p:nvSpPr>
        <p:spPr>
          <a:xfrm>
            <a:off x="1318053" y="1253615"/>
            <a:ext cx="9555894" cy="5262979"/>
          </a:xfrm>
          <a:prstGeom prst="rect">
            <a:avLst/>
          </a:prstGeom>
        </p:spPr>
        <p:txBody>
          <a:bodyPr wrap="square">
            <a:spAutoFit/>
          </a:bodyPr>
          <a:lstStyle/>
          <a:p>
            <a:pPr marL="457200" indent="-457200">
              <a:lnSpc>
                <a:spcPct val="150000"/>
              </a:lnSpc>
              <a:buFont typeface="Wingdings" panose="05000000000000000000" pitchFamily="2" charset="2"/>
              <a:buChar char="l"/>
            </a:pPr>
            <a:r>
              <a:rPr lang="zh-CN" altLang="en-US" sz="2800" dirty="0"/>
              <a:t>最近发表了字典学习方法中的几种稀疏表示已经表明，</a:t>
            </a:r>
            <a:r>
              <a:rPr lang="zh-CN" altLang="en-US" sz="2800" b="1" dirty="0"/>
              <a:t>从训练样本中学习字典而不是将它们全部用作字典可以进一步提高</a:t>
            </a:r>
            <a:r>
              <a:rPr lang="en-US" altLang="zh-CN" sz="2800" b="1" dirty="0"/>
              <a:t>SRC</a:t>
            </a:r>
            <a:r>
              <a:rPr lang="zh-CN" altLang="en-US" sz="2800" b="1" dirty="0"/>
              <a:t>的性能</a:t>
            </a:r>
            <a:r>
              <a:rPr lang="zh-CN" altLang="en-US" sz="2800" dirty="0"/>
              <a:t>。</a:t>
            </a:r>
            <a:endParaRPr lang="en-US" altLang="zh-CN" sz="2800" dirty="0"/>
          </a:p>
          <a:p>
            <a:pPr marL="457200" indent="-457200">
              <a:lnSpc>
                <a:spcPct val="150000"/>
              </a:lnSpc>
              <a:buFont typeface="Wingdings" panose="05000000000000000000" pitchFamily="2" charset="2"/>
              <a:buChar char="l"/>
            </a:pPr>
            <a:r>
              <a:rPr lang="zh-CN" altLang="en-US" sz="2800" dirty="0"/>
              <a:t>我们将</a:t>
            </a:r>
            <a:r>
              <a:rPr lang="en-US" altLang="zh-CN" sz="2800" dirty="0"/>
              <a:t>proposed</a:t>
            </a:r>
            <a:r>
              <a:rPr lang="zh-CN" altLang="en-US" sz="2800" dirty="0"/>
              <a:t>方法与以下方法进行了比较：</a:t>
            </a:r>
            <a:endParaRPr lang="en-US" altLang="zh-CN" sz="2800" dirty="0"/>
          </a:p>
          <a:p>
            <a:pPr marL="914400" lvl="1" indent="-457200">
              <a:buFont typeface="Wingdings" panose="05000000000000000000" pitchFamily="2" charset="2"/>
              <a:buChar char="l"/>
            </a:pPr>
            <a:r>
              <a:rPr lang="zh-CN" altLang="en-US" sz="2400" dirty="0"/>
              <a:t>基于稀疏表示的分类（</a:t>
            </a:r>
            <a:r>
              <a:rPr lang="en-US" altLang="zh-CN" sz="2400" dirty="0"/>
              <a:t>SRC</a:t>
            </a:r>
            <a:r>
              <a:rPr lang="zh-CN" altLang="en-US" sz="2400" dirty="0"/>
              <a:t>）</a:t>
            </a:r>
            <a:endParaRPr lang="en-US" altLang="zh-CN" sz="2400" dirty="0"/>
          </a:p>
          <a:p>
            <a:pPr marL="914400" lvl="1" indent="-457200">
              <a:buFont typeface="Wingdings" panose="05000000000000000000" pitchFamily="2" charset="2"/>
              <a:buChar char="l"/>
            </a:pPr>
            <a:r>
              <a:rPr lang="zh-CN" altLang="en-US" sz="2400" dirty="0"/>
              <a:t>内核稀疏表示（</a:t>
            </a:r>
            <a:r>
              <a:rPr lang="en-US" altLang="zh-CN" sz="2400" dirty="0"/>
              <a:t>KSR</a:t>
            </a:r>
            <a:r>
              <a:rPr lang="zh-CN" altLang="en-US" sz="2400" dirty="0"/>
              <a:t>）</a:t>
            </a:r>
            <a:endParaRPr lang="en-US" altLang="zh-CN" sz="2400" dirty="0"/>
          </a:p>
          <a:p>
            <a:pPr marL="914400" lvl="1" indent="-457200">
              <a:buFont typeface="Wingdings" panose="05000000000000000000" pitchFamily="2" charset="2"/>
              <a:buChar char="l"/>
            </a:pPr>
            <a:r>
              <a:rPr lang="zh-CN" altLang="en-US" sz="2400" dirty="0"/>
              <a:t>标签一致的</a:t>
            </a:r>
            <a:r>
              <a:rPr lang="en-US" altLang="zh-CN" sz="2400" dirty="0"/>
              <a:t>K-SVD</a:t>
            </a:r>
            <a:r>
              <a:rPr lang="zh-CN" altLang="en-US" sz="2400" dirty="0"/>
              <a:t>（</a:t>
            </a:r>
            <a:r>
              <a:rPr lang="en-US" altLang="zh-CN" sz="2400" dirty="0"/>
              <a:t>LCKSVD</a:t>
            </a:r>
            <a:r>
              <a:rPr lang="zh-CN" altLang="en-US" sz="2400" dirty="0"/>
              <a:t>）</a:t>
            </a:r>
            <a:endParaRPr lang="en-US" altLang="zh-CN" sz="2400" dirty="0"/>
          </a:p>
          <a:p>
            <a:pPr marL="914400" lvl="1" indent="-457200">
              <a:buFont typeface="Wingdings" panose="05000000000000000000" pitchFamily="2" charset="2"/>
              <a:buChar char="l"/>
            </a:pPr>
            <a:r>
              <a:rPr lang="zh-CN" altLang="en-US" sz="2400" dirty="0"/>
              <a:t>具有结构不一致性的字典学习和共享功能（</a:t>
            </a:r>
            <a:r>
              <a:rPr lang="en-US" altLang="zh-CN" sz="2400" dirty="0"/>
              <a:t>DLSI</a:t>
            </a:r>
            <a:r>
              <a:rPr lang="zh-CN" altLang="en-US" sz="2400" dirty="0"/>
              <a:t>）</a:t>
            </a:r>
            <a:endParaRPr lang="en-US" altLang="zh-CN" sz="2400" dirty="0"/>
          </a:p>
          <a:p>
            <a:pPr marL="914400" lvl="1" indent="-457200">
              <a:buFont typeface="Wingdings" panose="05000000000000000000" pitchFamily="2" charset="2"/>
              <a:buChar char="l"/>
            </a:pPr>
            <a:r>
              <a:rPr lang="en-US" altLang="zh-CN" sz="2400" dirty="0"/>
              <a:t>Fisher</a:t>
            </a:r>
            <a:r>
              <a:rPr lang="zh-CN" altLang="en-US" sz="2400" dirty="0"/>
              <a:t>判别词典学习（</a:t>
            </a:r>
            <a:r>
              <a:rPr lang="en-US" altLang="zh-CN" sz="2400" dirty="0"/>
              <a:t>FDDL</a:t>
            </a:r>
            <a:r>
              <a:rPr lang="zh-CN" altLang="en-US" sz="2400" dirty="0"/>
              <a:t>）</a:t>
            </a:r>
            <a:endParaRPr lang="en-US" altLang="zh-CN" sz="2400" dirty="0"/>
          </a:p>
          <a:p>
            <a:pPr marL="914400" lvl="1" indent="-457200">
              <a:buFont typeface="Wingdings" panose="05000000000000000000" pitchFamily="2" charset="2"/>
              <a:buChar char="l"/>
            </a:pPr>
            <a:r>
              <a:rPr lang="zh-CN" altLang="en-US" sz="2400" dirty="0"/>
              <a:t>用于分离特殊性</a:t>
            </a:r>
            <a:r>
              <a:rPr lang="en-US" altLang="zh-CN" sz="2400" dirty="0"/>
              <a:t>-</a:t>
            </a:r>
            <a:r>
              <a:rPr lang="zh-CN" altLang="en-US" sz="2400" dirty="0"/>
              <a:t>通用性（</a:t>
            </a:r>
            <a:r>
              <a:rPr lang="en-US" altLang="zh-CN" sz="2400" dirty="0"/>
              <a:t>COPAR</a:t>
            </a:r>
            <a:r>
              <a:rPr lang="zh-CN" altLang="en-US" sz="2400" dirty="0"/>
              <a:t>）的词典学习</a:t>
            </a:r>
            <a:endParaRPr lang="en-US" altLang="zh-CN" sz="2400" dirty="0"/>
          </a:p>
          <a:p>
            <a:pPr marL="914400" lvl="1" indent="-457200">
              <a:buFont typeface="Wingdings" panose="05000000000000000000" pitchFamily="2" charset="2"/>
              <a:buChar char="l"/>
            </a:pPr>
            <a:r>
              <a:rPr lang="zh-CN" altLang="en-US" sz="2400" dirty="0"/>
              <a:t>低等级共享词典学习（</a:t>
            </a:r>
            <a:r>
              <a:rPr lang="en-US" altLang="zh-CN" sz="2400" dirty="0"/>
              <a:t>LRSDL</a:t>
            </a:r>
            <a:r>
              <a:rPr lang="zh-CN" altLang="en-US" sz="2400" dirty="0"/>
              <a:t>）</a:t>
            </a:r>
            <a:endParaRPr lang="en-US" altLang="zh-CN" sz="2400" dirty="0"/>
          </a:p>
        </p:txBody>
      </p:sp>
    </p:spTree>
    <p:extLst>
      <p:ext uri="{BB962C8B-B14F-4D97-AF65-F5344CB8AC3E}">
        <p14:creationId xmlns:p14="http://schemas.microsoft.com/office/powerpoint/2010/main" val="23415373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9703195F-1DC6-4D6F-B806-C4053F325F84}"/>
              </a:ext>
            </a:extLst>
          </p:cNvPr>
          <p:cNvPicPr>
            <a:picLocks noChangeAspect="1"/>
          </p:cNvPicPr>
          <p:nvPr/>
        </p:nvPicPr>
        <p:blipFill>
          <a:blip r:embed="rId3"/>
          <a:stretch>
            <a:fillRect/>
          </a:stretch>
        </p:blipFill>
        <p:spPr>
          <a:xfrm>
            <a:off x="261937" y="1790315"/>
            <a:ext cx="11668125" cy="2733675"/>
          </a:xfrm>
          <a:prstGeom prst="rect">
            <a:avLst/>
          </a:prstGeom>
        </p:spPr>
      </p:pic>
      <p:sp>
        <p:nvSpPr>
          <p:cNvPr id="5" name="文本框 4">
            <a:extLst>
              <a:ext uri="{FF2B5EF4-FFF2-40B4-BE49-F238E27FC236}">
                <a16:creationId xmlns:a16="http://schemas.microsoft.com/office/drawing/2014/main" id="{E8976524-751C-4565-AEA4-117851328C2C}"/>
              </a:ext>
            </a:extLst>
          </p:cNvPr>
          <p:cNvSpPr txBox="1"/>
          <p:nvPr/>
        </p:nvSpPr>
        <p:spPr>
          <a:xfrm>
            <a:off x="1456298" y="275515"/>
            <a:ext cx="6538523" cy="523220"/>
          </a:xfrm>
          <a:prstGeom prst="rect">
            <a:avLst/>
          </a:prstGeom>
          <a:noFill/>
        </p:spPr>
        <p:txBody>
          <a:bodyPr wrap="square" rtlCol="0">
            <a:spAutoFit/>
          </a:bodyPr>
          <a:lstStyle/>
          <a:p>
            <a:r>
              <a:rPr lang="zh-CN" altLang="en-US" sz="2800" dirty="0">
                <a:solidFill>
                  <a:srgbClr val="4B11BF"/>
                </a:solidFill>
              </a:rPr>
              <a:t>检测性能评估：合成数据集</a:t>
            </a:r>
          </a:p>
        </p:txBody>
      </p:sp>
    </p:spTree>
    <p:extLst>
      <p:ext uri="{BB962C8B-B14F-4D97-AF65-F5344CB8AC3E}">
        <p14:creationId xmlns:p14="http://schemas.microsoft.com/office/powerpoint/2010/main" val="23710382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728A98FC-F9EE-4FAC-8870-04DE412B7BAB}"/>
              </a:ext>
            </a:extLst>
          </p:cNvPr>
          <p:cNvSpPr txBox="1"/>
          <p:nvPr/>
        </p:nvSpPr>
        <p:spPr>
          <a:xfrm>
            <a:off x="1456298" y="275515"/>
            <a:ext cx="6538523" cy="523220"/>
          </a:xfrm>
          <a:prstGeom prst="rect">
            <a:avLst/>
          </a:prstGeom>
          <a:noFill/>
        </p:spPr>
        <p:txBody>
          <a:bodyPr wrap="square" rtlCol="0">
            <a:spAutoFit/>
          </a:bodyPr>
          <a:lstStyle/>
          <a:p>
            <a:r>
              <a:rPr lang="zh-CN" altLang="en-US" sz="2800" dirty="0">
                <a:solidFill>
                  <a:srgbClr val="4B11BF"/>
                </a:solidFill>
              </a:rPr>
              <a:t>检测性能评估：真实视频</a:t>
            </a:r>
          </a:p>
        </p:txBody>
      </p:sp>
      <p:pic>
        <p:nvPicPr>
          <p:cNvPr id="2" name="图片 1">
            <a:extLst>
              <a:ext uri="{FF2B5EF4-FFF2-40B4-BE49-F238E27FC236}">
                <a16:creationId xmlns:a16="http://schemas.microsoft.com/office/drawing/2014/main" id="{DB3877E8-1E64-4A18-9455-737BF70EFD50}"/>
              </a:ext>
            </a:extLst>
          </p:cNvPr>
          <p:cNvPicPr>
            <a:picLocks noChangeAspect="1"/>
          </p:cNvPicPr>
          <p:nvPr/>
        </p:nvPicPr>
        <p:blipFill>
          <a:blip r:embed="rId3"/>
          <a:stretch>
            <a:fillRect/>
          </a:stretch>
        </p:blipFill>
        <p:spPr>
          <a:xfrm>
            <a:off x="804862" y="1019304"/>
            <a:ext cx="10582275" cy="2867025"/>
          </a:xfrm>
          <a:prstGeom prst="rect">
            <a:avLst/>
          </a:prstGeom>
        </p:spPr>
      </p:pic>
      <p:pic>
        <p:nvPicPr>
          <p:cNvPr id="6" name="图片 5">
            <a:extLst>
              <a:ext uri="{FF2B5EF4-FFF2-40B4-BE49-F238E27FC236}">
                <a16:creationId xmlns:a16="http://schemas.microsoft.com/office/drawing/2014/main" id="{89068C22-882A-4D69-B9E8-9C2C91AB91B6}"/>
              </a:ext>
            </a:extLst>
          </p:cNvPr>
          <p:cNvPicPr>
            <a:picLocks noChangeAspect="1"/>
          </p:cNvPicPr>
          <p:nvPr/>
        </p:nvPicPr>
        <p:blipFill>
          <a:blip r:embed="rId4"/>
          <a:stretch>
            <a:fillRect/>
          </a:stretch>
        </p:blipFill>
        <p:spPr>
          <a:xfrm>
            <a:off x="4725559" y="4220285"/>
            <a:ext cx="2514600" cy="2362200"/>
          </a:xfrm>
          <a:prstGeom prst="rect">
            <a:avLst/>
          </a:prstGeom>
        </p:spPr>
      </p:pic>
    </p:spTree>
    <p:extLst>
      <p:ext uri="{BB962C8B-B14F-4D97-AF65-F5344CB8AC3E}">
        <p14:creationId xmlns:p14="http://schemas.microsoft.com/office/powerpoint/2010/main" val="11666167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728A98FC-F9EE-4FAC-8870-04DE412B7BAB}"/>
              </a:ext>
            </a:extLst>
          </p:cNvPr>
          <p:cNvSpPr txBox="1"/>
          <p:nvPr/>
        </p:nvSpPr>
        <p:spPr>
          <a:xfrm>
            <a:off x="1456298" y="275515"/>
            <a:ext cx="6538523" cy="523220"/>
          </a:xfrm>
          <a:prstGeom prst="rect">
            <a:avLst/>
          </a:prstGeom>
          <a:noFill/>
        </p:spPr>
        <p:txBody>
          <a:bodyPr wrap="square" rtlCol="0">
            <a:spAutoFit/>
          </a:bodyPr>
          <a:lstStyle/>
          <a:p>
            <a:r>
              <a:rPr lang="zh-CN" altLang="en-US" sz="2800" dirty="0">
                <a:solidFill>
                  <a:srgbClr val="4B11BF"/>
                </a:solidFill>
              </a:rPr>
              <a:t>检测性能评估：真实视频</a:t>
            </a:r>
          </a:p>
        </p:txBody>
      </p:sp>
      <p:pic>
        <p:nvPicPr>
          <p:cNvPr id="3" name="图片 2">
            <a:extLst>
              <a:ext uri="{FF2B5EF4-FFF2-40B4-BE49-F238E27FC236}">
                <a16:creationId xmlns:a16="http://schemas.microsoft.com/office/drawing/2014/main" id="{0DEEE1CB-E9DE-4955-B3E1-3BC99036D6C7}"/>
              </a:ext>
            </a:extLst>
          </p:cNvPr>
          <p:cNvPicPr>
            <a:picLocks noChangeAspect="1"/>
          </p:cNvPicPr>
          <p:nvPr/>
        </p:nvPicPr>
        <p:blipFill>
          <a:blip r:embed="rId3"/>
          <a:stretch>
            <a:fillRect/>
          </a:stretch>
        </p:blipFill>
        <p:spPr>
          <a:xfrm>
            <a:off x="5617899" y="0"/>
            <a:ext cx="5800068" cy="6858000"/>
          </a:xfrm>
          <a:prstGeom prst="rect">
            <a:avLst/>
          </a:prstGeom>
        </p:spPr>
      </p:pic>
    </p:spTree>
    <p:extLst>
      <p:ext uri="{BB962C8B-B14F-4D97-AF65-F5344CB8AC3E}">
        <p14:creationId xmlns:p14="http://schemas.microsoft.com/office/powerpoint/2010/main" val="22125138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36449912-DF64-403A-A8C1-5B8284829C3E}"/>
              </a:ext>
            </a:extLst>
          </p:cNvPr>
          <p:cNvSpPr txBox="1"/>
          <p:nvPr/>
        </p:nvSpPr>
        <p:spPr>
          <a:xfrm>
            <a:off x="1456298" y="275515"/>
            <a:ext cx="6538523" cy="523220"/>
          </a:xfrm>
          <a:prstGeom prst="rect">
            <a:avLst/>
          </a:prstGeom>
          <a:noFill/>
        </p:spPr>
        <p:txBody>
          <a:bodyPr wrap="square" rtlCol="0">
            <a:spAutoFit/>
          </a:bodyPr>
          <a:lstStyle/>
          <a:p>
            <a:r>
              <a:rPr lang="zh-CN" altLang="en-US" sz="2800" dirty="0">
                <a:solidFill>
                  <a:srgbClr val="4B11BF"/>
                </a:solidFill>
              </a:rPr>
              <a:t>计算复杂度</a:t>
            </a:r>
          </a:p>
        </p:txBody>
      </p:sp>
      <p:sp>
        <p:nvSpPr>
          <p:cNvPr id="4" name="矩形 3">
            <a:extLst>
              <a:ext uri="{FF2B5EF4-FFF2-40B4-BE49-F238E27FC236}">
                <a16:creationId xmlns:a16="http://schemas.microsoft.com/office/drawing/2014/main" id="{D922D78D-6210-4B41-805D-3711A4461E0A}"/>
              </a:ext>
            </a:extLst>
          </p:cNvPr>
          <p:cNvSpPr/>
          <p:nvPr/>
        </p:nvSpPr>
        <p:spPr>
          <a:xfrm>
            <a:off x="1318053" y="1253615"/>
            <a:ext cx="9555894" cy="3893374"/>
          </a:xfrm>
          <a:prstGeom prst="rect">
            <a:avLst/>
          </a:prstGeom>
        </p:spPr>
        <p:txBody>
          <a:bodyPr wrap="square">
            <a:spAutoFit/>
          </a:bodyPr>
          <a:lstStyle/>
          <a:p>
            <a:pPr marL="457200" indent="-457200">
              <a:lnSpc>
                <a:spcPct val="150000"/>
              </a:lnSpc>
              <a:buFont typeface="Wingdings" panose="05000000000000000000" pitchFamily="2" charset="2"/>
              <a:buChar char="l"/>
            </a:pPr>
            <a:r>
              <a:rPr lang="zh-CN" altLang="en-US" sz="2800" dirty="0"/>
              <a:t>所提出的烟雾检测算法包括三个主要步骤：整个视频的</a:t>
            </a:r>
            <a:r>
              <a:rPr lang="zh-CN" altLang="en-US" sz="2800" b="1" dirty="0"/>
              <a:t>运动检测</a:t>
            </a:r>
            <a:r>
              <a:rPr lang="zh-CN" altLang="en-US" sz="2800" dirty="0"/>
              <a:t>，烟雾成分的</a:t>
            </a:r>
            <a:r>
              <a:rPr lang="zh-CN" altLang="en-US" sz="2800" b="1" dirty="0"/>
              <a:t>分离</a:t>
            </a:r>
            <a:r>
              <a:rPr lang="zh-CN" altLang="en-US" sz="2800" dirty="0"/>
              <a:t>以及逐块</a:t>
            </a:r>
            <a:r>
              <a:rPr lang="zh-CN" altLang="en-US" sz="2800" b="1" dirty="0"/>
              <a:t>检测</a:t>
            </a:r>
            <a:r>
              <a:rPr lang="zh-CN" altLang="en-US" sz="2800" dirty="0"/>
              <a:t>烟雾。</a:t>
            </a:r>
            <a:endParaRPr lang="en-US" altLang="zh-CN" sz="2800" dirty="0"/>
          </a:p>
          <a:p>
            <a:pPr marL="457200" indent="-457200">
              <a:lnSpc>
                <a:spcPct val="150000"/>
              </a:lnSpc>
              <a:buFont typeface="Wingdings" panose="05000000000000000000" pitchFamily="2" charset="2"/>
              <a:buChar char="l"/>
            </a:pPr>
            <a:r>
              <a:rPr lang="zh-CN" altLang="en-US" sz="2800" dirty="0"/>
              <a:t>花费大量计算来获取混合参数</a:t>
            </a:r>
            <a:r>
              <a:rPr lang="en-US" altLang="zh-CN" sz="2800" dirty="0"/>
              <a:t>ω</a:t>
            </a:r>
            <a:r>
              <a:rPr lang="zh-CN" altLang="en-US" sz="2800" dirty="0"/>
              <a:t>和稀疏系数</a:t>
            </a:r>
            <a:r>
              <a:rPr lang="en-US" altLang="zh-CN" sz="2800" dirty="0"/>
              <a:t>αs</a:t>
            </a:r>
            <a:r>
              <a:rPr lang="zh-CN" altLang="en-US" sz="2800" dirty="0"/>
              <a:t>。每个图像块的分离时间约为</a:t>
            </a:r>
            <a:r>
              <a:rPr lang="en-US" altLang="zh-CN" sz="2800" dirty="0"/>
              <a:t>0.025-0.042 s</a:t>
            </a:r>
            <a:r>
              <a:rPr lang="zh-CN" altLang="en-US" sz="2800" dirty="0"/>
              <a:t>，而检测时间约为</a:t>
            </a:r>
            <a:r>
              <a:rPr lang="en-US" altLang="zh-CN" sz="2800" dirty="0"/>
              <a:t>0.014 s</a:t>
            </a:r>
            <a:r>
              <a:rPr lang="zh-CN" altLang="en-US" sz="2800" dirty="0"/>
              <a:t>。</a:t>
            </a:r>
            <a:endParaRPr lang="en-US" altLang="zh-CN" sz="2800" dirty="0"/>
          </a:p>
          <a:p>
            <a:pPr marL="457200" indent="-457200">
              <a:lnSpc>
                <a:spcPct val="150000"/>
              </a:lnSpc>
              <a:buFont typeface="Wingdings" panose="05000000000000000000" pitchFamily="2" charset="2"/>
              <a:buChar char="l"/>
            </a:pPr>
            <a:r>
              <a:rPr lang="zh-CN" altLang="en-US" sz="2800" dirty="0"/>
              <a:t>每帧花费的全部时间取决于它的运动区域大小。每个块都可以</a:t>
            </a:r>
            <a:r>
              <a:rPr lang="zh-CN" altLang="en-US" sz="2800" b="1" dirty="0"/>
              <a:t>并行</a:t>
            </a:r>
            <a:r>
              <a:rPr lang="zh-CN" altLang="en-US" sz="2800" dirty="0"/>
              <a:t>处理。</a:t>
            </a:r>
          </a:p>
        </p:txBody>
      </p:sp>
    </p:spTree>
    <p:extLst>
      <p:ext uri="{BB962C8B-B14F-4D97-AF65-F5344CB8AC3E}">
        <p14:creationId xmlns:p14="http://schemas.microsoft.com/office/powerpoint/2010/main" val="42233719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D922D78D-6210-4B41-805D-3711A4461E0A}"/>
              </a:ext>
            </a:extLst>
          </p:cNvPr>
          <p:cNvSpPr/>
          <p:nvPr/>
        </p:nvSpPr>
        <p:spPr>
          <a:xfrm>
            <a:off x="811426" y="1006479"/>
            <a:ext cx="10569147" cy="5186035"/>
          </a:xfrm>
          <a:prstGeom prst="rect">
            <a:avLst/>
          </a:prstGeom>
        </p:spPr>
        <p:txBody>
          <a:bodyPr wrap="square">
            <a:spAutoFit/>
          </a:bodyPr>
          <a:lstStyle/>
          <a:p>
            <a:pPr marL="457200" indent="-457200">
              <a:lnSpc>
                <a:spcPct val="150000"/>
              </a:lnSpc>
              <a:buFont typeface="Wingdings" panose="05000000000000000000" pitchFamily="2" charset="2"/>
              <a:buChar char="l"/>
            </a:pPr>
            <a:r>
              <a:rPr lang="zh-CN" altLang="en-US" sz="2800" dirty="0"/>
              <a:t>本文提出了一种新的烟雾分离方法，利用稀疏表示范数的约束，提出了基于</a:t>
            </a:r>
            <a:r>
              <a:rPr lang="en-US" altLang="zh-CN" sz="2800" b="1" dirty="0"/>
              <a:t>elastic net</a:t>
            </a:r>
            <a:r>
              <a:rPr lang="zh-CN" altLang="en-US" sz="2800" dirty="0"/>
              <a:t>的混合参数估计和烟雾分离的方案，将非烟雾字典用于“</a:t>
            </a:r>
            <a:r>
              <a:rPr lang="zh-CN" altLang="en-US" sz="2800" b="1" dirty="0"/>
              <a:t>惩罚</a:t>
            </a:r>
            <a:r>
              <a:rPr lang="zh-CN" altLang="en-US" sz="2800" dirty="0"/>
              <a:t>”，保证稀疏系数</a:t>
            </a:r>
            <a:r>
              <a:rPr lang="en-US" altLang="zh-CN" sz="2800" dirty="0"/>
              <a:t>αs</a:t>
            </a:r>
            <a:r>
              <a:rPr lang="zh-CN" altLang="en-US" sz="2800" dirty="0"/>
              <a:t>中烟雾和非烟雾成分的结构比例不同。</a:t>
            </a:r>
            <a:endParaRPr lang="en-US" altLang="zh-CN" sz="2800" dirty="0"/>
          </a:p>
          <a:p>
            <a:pPr marL="457200" indent="-457200">
              <a:lnSpc>
                <a:spcPct val="150000"/>
              </a:lnSpc>
              <a:buFont typeface="Wingdings" panose="05000000000000000000" pitchFamily="2" charset="2"/>
              <a:buChar char="l"/>
            </a:pPr>
            <a:r>
              <a:rPr lang="zh-CN" altLang="en-US" sz="2800" dirty="0"/>
              <a:t>测试了直接提取特征和从分离的烟雾中提取特征的效果，表明从分离的烟雾成分中提取的特征编码更可靠的烟雾检测信息。</a:t>
            </a:r>
            <a:endParaRPr lang="en-US" altLang="zh-CN" sz="2800" dirty="0"/>
          </a:p>
          <a:p>
            <a:pPr marL="457200" indent="-457200">
              <a:lnSpc>
                <a:spcPct val="150000"/>
              </a:lnSpc>
              <a:buFont typeface="Wingdings" panose="05000000000000000000" pitchFamily="2" charset="2"/>
              <a:buChar char="l"/>
            </a:pPr>
            <a:r>
              <a:rPr lang="zh-CN" altLang="en-US" sz="2800" dirty="0"/>
              <a:t>在</a:t>
            </a:r>
            <a:r>
              <a:rPr lang="zh-CN" altLang="en-US" sz="2800" b="1" dirty="0"/>
              <a:t>合成</a:t>
            </a:r>
            <a:r>
              <a:rPr lang="zh-CN" altLang="en-US" sz="2800" dirty="0"/>
              <a:t>图像和</a:t>
            </a:r>
            <a:r>
              <a:rPr lang="zh-CN" altLang="en-US" sz="2800" b="1" dirty="0"/>
              <a:t>真实</a:t>
            </a:r>
            <a:r>
              <a:rPr lang="zh-CN" altLang="en-US" sz="2800" dirty="0"/>
              <a:t>视频上进行烟气分离实验表明，</a:t>
            </a:r>
            <a:r>
              <a:rPr lang="en-US" altLang="zh-CN" sz="2800" dirty="0"/>
              <a:t>proposed</a:t>
            </a:r>
            <a:r>
              <a:rPr lang="zh-CN" altLang="en-US" sz="2800" dirty="0"/>
              <a:t>方法可以从</a:t>
            </a:r>
            <a:r>
              <a:rPr lang="zh-CN" altLang="en-US" sz="2800" b="1" dirty="0"/>
              <a:t>定量</a:t>
            </a:r>
            <a:r>
              <a:rPr lang="zh-CN" altLang="en-US" sz="2800" dirty="0"/>
              <a:t>分析和视觉评估中以更可靠的方式分离烟气成分。</a:t>
            </a:r>
          </a:p>
        </p:txBody>
      </p:sp>
      <p:sp>
        <p:nvSpPr>
          <p:cNvPr id="6" name="文本框 5">
            <a:extLst>
              <a:ext uri="{FF2B5EF4-FFF2-40B4-BE49-F238E27FC236}">
                <a16:creationId xmlns:a16="http://schemas.microsoft.com/office/drawing/2014/main" id="{13299E0F-0E71-433C-94D0-F4FB59681DCC}"/>
              </a:ext>
            </a:extLst>
          </p:cNvPr>
          <p:cNvSpPr txBox="1"/>
          <p:nvPr/>
        </p:nvSpPr>
        <p:spPr>
          <a:xfrm>
            <a:off x="1456298" y="275515"/>
            <a:ext cx="6538523" cy="523220"/>
          </a:xfrm>
          <a:prstGeom prst="rect">
            <a:avLst/>
          </a:prstGeom>
          <a:noFill/>
        </p:spPr>
        <p:txBody>
          <a:bodyPr wrap="square" rtlCol="0">
            <a:spAutoFit/>
          </a:bodyPr>
          <a:lstStyle/>
          <a:p>
            <a:r>
              <a:rPr lang="zh-CN" altLang="en-US" sz="2800" dirty="0">
                <a:solidFill>
                  <a:srgbClr val="4B11BF"/>
                </a:solidFill>
              </a:rPr>
              <a:t>总结</a:t>
            </a:r>
          </a:p>
        </p:txBody>
      </p:sp>
    </p:spTree>
    <p:extLst>
      <p:ext uri="{BB962C8B-B14F-4D97-AF65-F5344CB8AC3E}">
        <p14:creationId xmlns:p14="http://schemas.microsoft.com/office/powerpoint/2010/main" val="17803358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884109" y="2570521"/>
            <a:ext cx="3801362" cy="923330"/>
          </a:xfrm>
          <a:prstGeom prst="rect">
            <a:avLst/>
          </a:prstGeom>
          <a:noFill/>
        </p:spPr>
        <p:txBody>
          <a:bodyPr wrap="none" lIns="91440" tIns="45720" rIns="91440" bIns="45720">
            <a:spAutoFit/>
          </a:bodyPr>
          <a:lstStyle/>
          <a:p>
            <a:pPr algn="ctr"/>
            <a:r>
              <a:rPr lang="en-US" altLang="zh-CN" sz="5400" b="1" cap="none" spc="0" dirty="0">
                <a:ln w="12700">
                  <a:solidFill>
                    <a:schemeClr val="accent1"/>
                  </a:solidFill>
                  <a:prstDash val="solid"/>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outerShdw dist="38100" dir="2640000" algn="bl" rotWithShape="0">
                    <a:schemeClr val="accent1"/>
                  </a:outerShdw>
                </a:effectLst>
              </a:rPr>
              <a:t>Thank You!</a:t>
            </a:r>
            <a:endParaRPr lang="zh-CN" altLang="en-US" sz="5400" b="1" cap="none" spc="0" dirty="0">
              <a:ln w="12700">
                <a:solidFill>
                  <a:schemeClr val="accent1"/>
                </a:solidFill>
                <a:prstDash val="solid"/>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outerShdw dist="38100" dir="2640000" algn="bl" rotWithShape="0">
                  <a:schemeClr val="accent1"/>
                </a:outerShdw>
              </a:effectLst>
            </a:endParaRPr>
          </a:p>
        </p:txBody>
      </p:sp>
    </p:spTree>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36">
      <a:majorFont>
        <a:latin typeface="Segoe UI"/>
        <a:ea typeface="宋体"/>
        <a:cs typeface=""/>
      </a:majorFont>
      <a:minorFont>
        <a:latin typeface="Segoe UI"/>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6019</TotalTime>
  <Words>1737</Words>
  <Application>Microsoft Office PowerPoint</Application>
  <PresentationFormat>宽屏</PresentationFormat>
  <Paragraphs>105</Paragraphs>
  <Slides>23</Slides>
  <Notes>23</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23</vt:i4>
      </vt:variant>
    </vt:vector>
  </HeadingPairs>
  <TitlesOfParts>
    <vt:vector size="30" baseType="lpstr">
      <vt:lpstr>Arial</vt:lpstr>
      <vt:lpstr>Wingdings</vt:lpstr>
      <vt:lpstr>微软雅黑</vt:lpstr>
      <vt:lpstr>Segoe UI</vt:lpstr>
      <vt:lpstr>Rockwell</vt:lpstr>
      <vt:lpstr>等线</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OfficePLUS</dc:creator>
  <cp:lastModifiedBy>t xx</cp:lastModifiedBy>
  <cp:revision>2534</cp:revision>
  <dcterms:created xsi:type="dcterms:W3CDTF">2015-08-18T02:51:00Z</dcterms:created>
  <dcterms:modified xsi:type="dcterms:W3CDTF">2020-03-12T03:36:13Z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2052-10.8.2.6949</vt:lpwstr>
  </property>
</Properties>
</file>