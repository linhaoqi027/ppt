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04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</p:sldIdLst>
  <p:sldSz cx="12192000" cy="6858000"/>
  <p:notesSz cx="7104063" cy="10234613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106"/>
      </p:cViewPr>
      <p:guideLst>
        <p:guide orient="horz" pos="2139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2020/3/12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369820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45431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7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4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76289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99373" y="5147305"/>
            <a:ext cx="2004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蓝 鑫</a:t>
            </a:r>
            <a:endParaRPr lang="en-US" altLang="zh-CN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algn="ctr" fontAlgn="auto"/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2020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年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3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月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12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fontAlgn="auto"/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0636" y="2426894"/>
            <a:ext cx="3945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 会 报 告</a:t>
            </a:r>
            <a:endParaRPr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605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Motivation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550792" y="1702100"/>
            <a:ext cx="92829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火灾保护不仅依赖于早期警报，也依赖于快速有效的火灾救援。在这个过程中，烟雾位置、大小和浓度的变化可以改变实施计划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本文</a:t>
            </a:r>
            <a:r>
              <a:rPr lang="zh-CN" altLang="en-US" sz="2000" dirty="0"/>
              <a:t>对烟雾状态进行分析，烟雾浓度在分割区域中通过热图显示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视频</a:t>
            </a:r>
            <a:r>
              <a:rPr lang="zh-CN" altLang="en-US" sz="2000" dirty="0"/>
              <a:t>预测用于火灾保护领域，使用 </a:t>
            </a:r>
            <a:r>
              <a:rPr lang="en-US" altLang="zh-CN" sz="2000" dirty="0"/>
              <a:t>GAN </a:t>
            </a:r>
            <a:r>
              <a:rPr lang="zh-CN" altLang="en-US" sz="2000" dirty="0" smtClean="0"/>
              <a:t>预测</a:t>
            </a:r>
            <a:r>
              <a:rPr lang="zh-CN" altLang="en-US" sz="2000" dirty="0"/>
              <a:t>烟雾趋势，来帮助消防员建立合理的救援路线和救援计划。</a:t>
            </a:r>
            <a:endParaRPr lang="en-US" altLang="zh-CN" sz="2000" dirty="0" smtClean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2073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5419407" y="6056909"/>
            <a:ext cx="1201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方法流程</a:t>
            </a:r>
            <a:endParaRPr lang="en-US" altLang="zh-CN" sz="1600" b="1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696" y="1191677"/>
            <a:ext cx="5307257" cy="496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887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832145" y="5416061"/>
            <a:ext cx="4181793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mtClean="0"/>
              <a:t>Backbone: DeepLabV3+</a:t>
            </a:r>
          </a:p>
          <a:p>
            <a:pPr>
              <a:lnSpc>
                <a:spcPct val="125000"/>
              </a:lnSpc>
            </a:pPr>
            <a:r>
              <a:rPr lang="en-US" altLang="zh-CN" dirty="0" smtClean="0"/>
              <a:t>ASPP </a:t>
            </a:r>
            <a:r>
              <a:rPr lang="zh-CN" altLang="en-US" dirty="0" smtClean="0"/>
              <a:t>使用深度可分卷积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 err="1" smtClean="0"/>
              <a:t>DenseCRF</a:t>
            </a:r>
            <a:r>
              <a:rPr lang="en-US" altLang="zh-CN" dirty="0" smtClean="0"/>
              <a:t> </a:t>
            </a:r>
            <a:r>
              <a:rPr lang="zh-CN" altLang="en-US" dirty="0" smtClean="0"/>
              <a:t>后处理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433137"/>
            <a:ext cx="9143990" cy="398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527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475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DenseCRF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876107" y="1310054"/>
            <a:ext cx="885050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使用 </a:t>
            </a:r>
            <a:r>
              <a:rPr lang="en-US" altLang="zh-CN" sz="2000" dirty="0" smtClean="0"/>
              <a:t>CRF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Conditional Random Field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来建立任意像素间的关系。</a:t>
            </a:r>
            <a:r>
              <a:rPr lang="en-US" altLang="zh-CN" sz="2000" dirty="0"/>
              <a:t>CRF </a:t>
            </a:r>
            <a:r>
              <a:rPr lang="zh-CN" altLang="en-US" sz="2000" dirty="0"/>
              <a:t>使用烟雾边缘像素作为节点，像素间关系作为边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CRF </a:t>
            </a:r>
            <a:r>
              <a:rPr lang="zh-CN" altLang="en-US" sz="2000" dirty="0"/>
              <a:t>遵循 </a:t>
            </a:r>
            <a:r>
              <a:rPr lang="en-US" altLang="zh-CN" sz="2000" dirty="0"/>
              <a:t>Gibbs </a:t>
            </a:r>
            <a:r>
              <a:rPr lang="zh-CN" altLang="en-US" sz="2000" dirty="0" smtClean="0"/>
              <a:t>分布，</a:t>
            </a:r>
            <a:r>
              <a:rPr lang="en-US" altLang="zh-CN" sz="2000" dirty="0" smtClean="0"/>
              <a:t>E </a:t>
            </a:r>
            <a:r>
              <a:rPr lang="zh-CN" altLang="en-US" sz="2000" dirty="0" smtClean="0"/>
              <a:t>为能量函数：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E </a:t>
            </a:r>
            <a:r>
              <a:rPr lang="zh-CN" altLang="en-US" sz="2000" dirty="0" smtClean="0"/>
              <a:t>中包含一元项和二元项：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zh-CN" altLang="en-US" sz="2000" dirty="0"/>
              <a:t>一元势能项表示像素 </a:t>
            </a:r>
            <a:r>
              <a:rPr lang="en-US" altLang="zh-CN" sz="2000" dirty="0" err="1"/>
              <a:t>x_i</a:t>
            </a:r>
            <a:r>
              <a:rPr lang="en-US" altLang="zh-CN" sz="2000" dirty="0"/>
              <a:t> </a:t>
            </a:r>
            <a:r>
              <a:rPr lang="zh-CN" altLang="en-US" sz="2000" dirty="0"/>
              <a:t>的预测结果，二元势能项表示像素 </a:t>
            </a:r>
            <a:r>
              <a:rPr lang="en-US" altLang="zh-CN" sz="2000" dirty="0" err="1"/>
              <a:t>x_i</a:t>
            </a:r>
            <a:r>
              <a:rPr lang="en-US" altLang="zh-CN" sz="2000" dirty="0"/>
              <a:t> </a:t>
            </a:r>
            <a:r>
              <a:rPr lang="zh-CN" altLang="en-US" sz="2000" dirty="0"/>
              <a:t>和其他烟雾边缘像素 </a:t>
            </a:r>
            <a:r>
              <a:rPr lang="en-US" altLang="zh-CN" sz="2000" dirty="0" err="1"/>
              <a:t>x_j</a:t>
            </a:r>
            <a:r>
              <a:rPr lang="en-US" altLang="zh-CN" sz="2000" dirty="0"/>
              <a:t> </a:t>
            </a:r>
            <a:r>
              <a:rPr lang="zh-CN" altLang="en-US" sz="2000" dirty="0"/>
              <a:t>的关系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μ(</a:t>
            </a:r>
            <a:r>
              <a:rPr lang="en-US" altLang="zh-CN" sz="2000" dirty="0" err="1" smtClean="0"/>
              <a:t>x_i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x_j</a:t>
            </a:r>
            <a:r>
              <a:rPr lang="en-US" altLang="zh-CN" sz="2000" dirty="0"/>
              <a:t>) </a:t>
            </a:r>
            <a:r>
              <a:rPr lang="zh-CN" altLang="en-US" sz="2000" dirty="0"/>
              <a:t>表示两个像素间的结合</a:t>
            </a:r>
            <a:r>
              <a:rPr lang="zh-CN" altLang="en-US" sz="2000" dirty="0" smtClean="0"/>
              <a:t>力，</a:t>
            </a:r>
            <a:r>
              <a:rPr lang="en-US" altLang="zh-CN" sz="2000" dirty="0"/>
              <a:t>k^(m)(</a:t>
            </a:r>
            <a:r>
              <a:rPr lang="en-US" altLang="zh-CN" sz="2000" dirty="0" err="1"/>
              <a:t>f_i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f_j</a:t>
            </a:r>
            <a:r>
              <a:rPr lang="en-US" altLang="zh-CN" sz="2000" dirty="0"/>
              <a:t>) </a:t>
            </a:r>
            <a:r>
              <a:rPr lang="zh-CN" altLang="en-US" sz="2000" dirty="0"/>
              <a:t>表示两个像素间</a:t>
            </a:r>
            <a:r>
              <a:rPr lang="zh-CN" altLang="en-US" sz="2000" dirty="0" smtClean="0"/>
              <a:t>的亲密度。</a:t>
            </a: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746" y="2268415"/>
            <a:ext cx="4419600" cy="914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236" y="3107884"/>
            <a:ext cx="4743450" cy="866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334" y="4744954"/>
            <a:ext cx="4676775" cy="809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985" y="5941611"/>
            <a:ext cx="799147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12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3676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Heatmap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792302" y="3868615"/>
            <a:ext cx="885050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选取 </a:t>
            </a:r>
            <a:r>
              <a:rPr lang="en-US" altLang="zh-CN" sz="2000" dirty="0"/>
              <a:t>HSV </a:t>
            </a:r>
            <a:r>
              <a:rPr lang="zh-CN" altLang="en-US" sz="2000" dirty="0"/>
              <a:t>和灰度特征来表征烟雾的浓度特征。基于 </a:t>
            </a:r>
            <a:r>
              <a:rPr lang="en-US" altLang="zh-CN" sz="2000" dirty="0"/>
              <a:t>HSV </a:t>
            </a:r>
            <a:r>
              <a:rPr lang="zh-CN" altLang="en-US" sz="2000" dirty="0"/>
              <a:t>的烟雾热图原理如下</a:t>
            </a:r>
            <a:r>
              <a:rPr lang="en-US" altLang="zh-CN" sz="2000" dirty="0" smtClean="0"/>
              <a:t>:</a:t>
            </a:r>
          </a:p>
          <a:p>
            <a:pPr>
              <a:lnSpc>
                <a:spcPct val="125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烟雾分割方法预测烟雾区域 </a:t>
            </a:r>
            <a:r>
              <a:rPr lang="en-US" altLang="zh-CN" sz="2000" dirty="0" smtClean="0"/>
              <a:t>U</a:t>
            </a:r>
            <a:r>
              <a:rPr lang="zh-CN" altLang="en-US" sz="2000" dirty="0" smtClean="0"/>
              <a:t>，区域</a:t>
            </a:r>
            <a:r>
              <a:rPr lang="zh-CN" altLang="en-US" sz="2000" dirty="0"/>
              <a:t>包含 </a:t>
            </a:r>
            <a:r>
              <a:rPr lang="en-US" altLang="zh-CN" sz="2000" dirty="0"/>
              <a:t>n </a:t>
            </a:r>
            <a:r>
              <a:rPr lang="zh-CN" altLang="en-US" sz="2000" dirty="0"/>
              <a:t>个</a:t>
            </a:r>
            <a:r>
              <a:rPr lang="zh-CN" altLang="en-US" sz="2000" dirty="0" smtClean="0"/>
              <a:t>像素</a:t>
            </a:r>
            <a:r>
              <a:rPr lang="zh-CN" altLang="en-US" sz="2000" dirty="0"/>
              <a:t>。</a:t>
            </a:r>
          </a:p>
          <a:p>
            <a:pPr>
              <a:lnSpc>
                <a:spcPct val="125000"/>
              </a:lnSpc>
            </a:pPr>
            <a:r>
              <a:rPr lang="en-US" altLang="zh-CN" sz="2000" dirty="0"/>
              <a:t>2. </a:t>
            </a:r>
            <a:r>
              <a:rPr lang="zh-CN" altLang="en-US" sz="2000" dirty="0"/>
              <a:t>对像素 </a:t>
            </a:r>
            <a:r>
              <a:rPr lang="en-US" altLang="zh-CN" sz="2000" dirty="0" err="1"/>
              <a:t>x_i</a:t>
            </a:r>
            <a:r>
              <a:rPr lang="en-US" altLang="zh-CN" sz="2000" dirty="0"/>
              <a:t> </a:t>
            </a:r>
            <a:r>
              <a:rPr lang="zh-CN" altLang="en-US" sz="2000" dirty="0"/>
              <a:t>设置半径为 </a:t>
            </a:r>
            <a:r>
              <a:rPr lang="en-US" altLang="zh-CN" sz="2000" dirty="0"/>
              <a:t>10 </a:t>
            </a:r>
            <a:r>
              <a:rPr lang="zh-CN" altLang="en-US" sz="2000" dirty="0"/>
              <a:t>的缓冲区。</a:t>
            </a:r>
          </a:p>
          <a:p>
            <a:pPr>
              <a:lnSpc>
                <a:spcPct val="125000"/>
              </a:lnSpc>
            </a:pPr>
            <a:r>
              <a:rPr lang="en-US" altLang="zh-CN" sz="2000" dirty="0"/>
              <a:t>3. </a:t>
            </a:r>
            <a:r>
              <a:rPr lang="zh-CN" altLang="en-US" sz="2000" dirty="0"/>
              <a:t>计算像素 </a:t>
            </a:r>
            <a:r>
              <a:rPr lang="en-US" altLang="zh-CN" sz="2000" dirty="0" err="1"/>
              <a:t>x_i</a:t>
            </a:r>
            <a:r>
              <a:rPr lang="en-US" altLang="zh-CN" sz="2000" dirty="0"/>
              <a:t> </a:t>
            </a:r>
            <a:r>
              <a:rPr lang="zh-CN" altLang="en-US" sz="2000" dirty="0"/>
              <a:t>在原始烟雾图像对应位置的 </a:t>
            </a:r>
            <a:r>
              <a:rPr lang="en-US" altLang="zh-CN" sz="2000" dirty="0"/>
              <a:t>V </a:t>
            </a:r>
            <a:r>
              <a:rPr lang="zh-CN" altLang="en-US" sz="2000" dirty="0"/>
              <a:t>值（</a:t>
            </a:r>
            <a:r>
              <a:rPr lang="en-US" altLang="zh-CN" sz="2000" dirty="0"/>
              <a:t>HSV </a:t>
            </a:r>
            <a:r>
              <a:rPr lang="zh-CN" altLang="en-US" sz="2000" dirty="0"/>
              <a:t>的第三个通道值），</a:t>
            </a:r>
            <a:r>
              <a:rPr lang="en-US" altLang="zh-CN" sz="2000" dirty="0"/>
              <a:t>V=max(R,G,B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。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4. </a:t>
            </a:r>
            <a:r>
              <a:rPr lang="en-US" altLang="zh-CN" sz="2000" dirty="0" smtClean="0"/>
              <a:t>min-max </a:t>
            </a:r>
            <a:r>
              <a:rPr lang="zh-CN" altLang="en-US" sz="2000" dirty="0" smtClean="0"/>
              <a:t>归一化 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5. </a:t>
            </a:r>
            <a:r>
              <a:rPr lang="zh-CN" altLang="en-US" sz="2000" dirty="0" smtClean="0"/>
              <a:t>像素 </a:t>
            </a:r>
            <a:r>
              <a:rPr lang="en-US" altLang="zh-CN" sz="2000" dirty="0" err="1"/>
              <a:t>x_i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根据彩虹</a:t>
            </a:r>
            <a:r>
              <a:rPr lang="zh-CN" altLang="en-US" sz="2000" dirty="0"/>
              <a:t>色带填入</a:t>
            </a:r>
            <a:r>
              <a:rPr lang="zh-CN" altLang="en-US" sz="2000" dirty="0" smtClean="0"/>
              <a:t>缓冲区。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24"/>
          <a:stretch/>
        </p:blipFill>
        <p:spPr>
          <a:xfrm>
            <a:off x="1614122" y="1226846"/>
            <a:ext cx="4490594" cy="2606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287" y="1392125"/>
            <a:ext cx="4606437" cy="227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39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5042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Trend</a:t>
            </a:r>
          </a:p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Prediction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2012109" y="5305519"/>
            <a:ext cx="8850508" cy="443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生成器输入是 </a:t>
            </a:r>
            <a:r>
              <a:rPr lang="en-US" altLang="zh-CN" sz="2000" dirty="0"/>
              <a:t>m </a:t>
            </a:r>
            <a:r>
              <a:rPr lang="zh-CN" altLang="en-US" sz="2000" dirty="0"/>
              <a:t>帧的视频序列，</a:t>
            </a:r>
            <a:r>
              <a:rPr lang="en-US" altLang="zh-CN" sz="2000" dirty="0" err="1"/>
              <a:t>X_g</a:t>
            </a:r>
            <a:r>
              <a:rPr lang="en-US" altLang="zh-CN" sz="2000" dirty="0"/>
              <a:t> </a:t>
            </a:r>
            <a:r>
              <a:rPr lang="zh-CN" altLang="en-US" sz="2000" dirty="0"/>
              <a:t>是生成的视频帧</a:t>
            </a:r>
            <a:r>
              <a:rPr lang="zh-CN" altLang="en-US" sz="2000" dirty="0" smtClean="0"/>
              <a:t>。迭代</a:t>
            </a:r>
            <a:r>
              <a:rPr lang="zh-CN" altLang="en-US" sz="2000" dirty="0"/>
              <a:t>生成 </a:t>
            </a:r>
            <a:r>
              <a:rPr lang="en-US" altLang="zh-CN" sz="2000" dirty="0" err="1" smtClean="0"/>
              <a:t>X_g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05" y="2144772"/>
            <a:ext cx="6063395" cy="28984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233" y="2144772"/>
            <a:ext cx="4140532" cy="260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357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9944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Segmentation</a:t>
            </a:r>
          </a:p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54215" y="268347"/>
            <a:ext cx="8373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88"/>
          <a:stretch/>
        </p:blipFill>
        <p:spPr>
          <a:xfrm>
            <a:off x="707614" y="1459522"/>
            <a:ext cx="10839435" cy="46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363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6603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Generation</a:t>
            </a:r>
          </a:p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Experiment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60785" y="268347"/>
            <a:ext cx="8566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37"/>
          <a:stretch/>
        </p:blipFill>
        <p:spPr>
          <a:xfrm>
            <a:off x="1603411" y="1191677"/>
            <a:ext cx="8648420" cy="264516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10"/>
          <a:stretch/>
        </p:blipFill>
        <p:spPr>
          <a:xfrm>
            <a:off x="1559586" y="3959951"/>
            <a:ext cx="8692245" cy="266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039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022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Metric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60785" y="268347"/>
            <a:ext cx="8566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Shuhong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Cheng,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Jiyong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Ma,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Shijun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Zhang "Smoke detection and trend prediction method based on Deeplabv3+ and generative adversarial network," Journal of Electronic Imaging 28(3), 033006 (14 May 2019).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818678" y="1269849"/>
            <a:ext cx="8850508" cy="443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使用峰值信噪比来度量生成的烟雾质量：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766" y="1126881"/>
            <a:ext cx="4229100" cy="87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47"/>
          <a:stretch/>
        </p:blipFill>
        <p:spPr>
          <a:xfrm>
            <a:off x="3218717" y="1791604"/>
            <a:ext cx="5010883" cy="39915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818678" y="5839690"/>
            <a:ext cx="8850508" cy="82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/>
              <a:t>a=5 </a:t>
            </a:r>
            <a:r>
              <a:rPr lang="zh-CN" altLang="en-US" sz="2000" dirty="0"/>
              <a:t>或 </a:t>
            </a:r>
            <a:r>
              <a:rPr lang="en-US" altLang="zh-CN" sz="2000" dirty="0"/>
              <a:t>10 </a:t>
            </a:r>
            <a:r>
              <a:rPr lang="zh-CN" altLang="en-US" sz="2000" dirty="0"/>
              <a:t>时，质量好，但是帧间运动状态变化不大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a=20 </a:t>
            </a:r>
            <a:r>
              <a:rPr lang="zh-CN" altLang="en-US" sz="2000" dirty="0"/>
              <a:t>时质量差，但是帧间运动状态变化明显，可以有效表达短期烟雾趋势。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45327107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2200</TotalTime>
  <Words>711</Words>
  <Application>Microsoft Office PowerPoint</Application>
  <PresentationFormat>宽屏</PresentationFormat>
  <Paragraphs>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更多作品请在稻壳儿搜索艺随风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xin lan</cp:lastModifiedBy>
  <cp:revision>242</cp:revision>
  <dcterms:created xsi:type="dcterms:W3CDTF">2017-03-07T08:54:00Z</dcterms:created>
  <dcterms:modified xsi:type="dcterms:W3CDTF">2020-03-12T03:05:37Z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