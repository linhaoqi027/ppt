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12"/>
  </p:notesMasterIdLst>
  <p:sldIdLst>
    <p:sldId id="273" r:id="rId2"/>
    <p:sldId id="274" r:id="rId3"/>
    <p:sldId id="311" r:id="rId4"/>
    <p:sldId id="318" r:id="rId5"/>
    <p:sldId id="279" r:id="rId6"/>
    <p:sldId id="313" r:id="rId7"/>
    <p:sldId id="320" r:id="rId8"/>
    <p:sldId id="319" r:id="rId9"/>
    <p:sldId id="321" r:id="rId10"/>
    <p:sldId id="314" r:id="rId1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7055" autoAdjust="0"/>
  </p:normalViewPr>
  <p:slideViewPr>
    <p:cSldViewPr>
      <p:cViewPr varScale="1">
        <p:scale>
          <a:sx n="84" d="100"/>
          <a:sy n="84" d="100"/>
        </p:scale>
        <p:origin x="-1421"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7E7FD1-329C-442A-865F-606706CC9DFF}" type="datetimeFigureOut">
              <a:rPr lang="zh-CN" altLang="en-US" smtClean="0"/>
              <a:t>2020/3/11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F01851-CD6B-47E8-9DA1-B8AF7902D443}" type="slidenum">
              <a:rPr lang="zh-CN" altLang="en-US" smtClean="0"/>
              <a:t>‹#›</a:t>
            </a:fld>
            <a:endParaRPr lang="zh-CN" altLang="en-US"/>
          </a:p>
        </p:txBody>
      </p:sp>
    </p:spTree>
    <p:extLst>
      <p:ext uri="{BB962C8B-B14F-4D97-AF65-F5344CB8AC3E}">
        <p14:creationId xmlns:p14="http://schemas.microsoft.com/office/powerpoint/2010/main" val="2306389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2020/3/11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2020/3/11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2020/3/11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2020/3/11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2020/3/11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2020/3/11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2020/3/11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2020/3/11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2020/3/11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2020/3/11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2020/3/11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2020/3/11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文献汇报</a:t>
            </a:r>
            <a:endParaRPr lang="zh-CN" altLang="en-US" dirty="0"/>
          </a:p>
        </p:txBody>
      </p:sp>
      <p:sp>
        <p:nvSpPr>
          <p:cNvPr id="3" name="副标题 2"/>
          <p:cNvSpPr>
            <a:spLocks noGrp="1"/>
          </p:cNvSpPr>
          <p:nvPr>
            <p:ph type="subTitle" idx="1"/>
          </p:nvPr>
        </p:nvSpPr>
        <p:spPr>
          <a:xfrm>
            <a:off x="1371600" y="3886200"/>
            <a:ext cx="7448872" cy="1752600"/>
          </a:xfrm>
        </p:spPr>
        <p:txBody>
          <a:bodyPr>
            <a:normAutofit/>
          </a:bodyPr>
          <a:lstStyle/>
          <a:p>
            <a:r>
              <a:rPr lang="zh-CN" altLang="en-US" sz="2400" dirty="0" smtClean="0"/>
              <a:t>                                                      </a:t>
            </a:r>
            <a:endParaRPr lang="en-US" altLang="zh-CN" sz="2400" dirty="0" smtClean="0"/>
          </a:p>
          <a:p>
            <a:r>
              <a:rPr lang="en-US" altLang="zh-CN" sz="2400" dirty="0">
                <a:solidFill>
                  <a:schemeClr val="tx1"/>
                </a:solidFill>
                <a:latin typeface="Times New Roman" pitchFamily="18" charset="0"/>
                <a:ea typeface="宋体" pitchFamily="2" charset="-122"/>
              </a:rPr>
              <a:t> </a:t>
            </a:r>
            <a:r>
              <a:rPr lang="en-US" altLang="zh-CN" sz="2400" dirty="0" smtClean="0">
                <a:solidFill>
                  <a:schemeClr val="tx1"/>
                </a:solidFill>
                <a:latin typeface="Times New Roman" pitchFamily="18" charset="0"/>
                <a:ea typeface="宋体" pitchFamily="2" charset="-122"/>
              </a:rPr>
              <a:t>                                               </a:t>
            </a:r>
            <a:r>
              <a:rPr lang="zh-CN" altLang="en-US" sz="2400" dirty="0" smtClean="0">
                <a:solidFill>
                  <a:schemeClr val="tx1"/>
                </a:solidFill>
                <a:latin typeface="Times New Roman" pitchFamily="18" charset="0"/>
                <a:ea typeface="宋体" pitchFamily="2" charset="-122"/>
              </a:rPr>
              <a:t>高铭阳</a:t>
            </a:r>
            <a:endParaRPr lang="en-US" altLang="zh-CN" sz="2400" dirty="0" smtClean="0">
              <a:solidFill>
                <a:schemeClr val="tx1"/>
              </a:solidFill>
              <a:latin typeface="Times New Roman" pitchFamily="18" charset="0"/>
              <a:ea typeface="宋体" pitchFamily="2" charset="-122"/>
            </a:endParaRPr>
          </a:p>
          <a:p>
            <a:r>
              <a:rPr lang="en-US" altLang="zh-CN" sz="2400" dirty="0">
                <a:solidFill>
                  <a:schemeClr val="tx1"/>
                </a:solidFill>
                <a:latin typeface="Times New Roman" pitchFamily="18" charset="0"/>
                <a:ea typeface="宋体" pitchFamily="2" charset="-122"/>
              </a:rPr>
              <a:t> </a:t>
            </a:r>
            <a:r>
              <a:rPr lang="en-US" altLang="zh-CN" sz="2400" dirty="0" smtClean="0">
                <a:solidFill>
                  <a:schemeClr val="tx1"/>
                </a:solidFill>
                <a:latin typeface="Times New Roman" pitchFamily="18" charset="0"/>
                <a:ea typeface="宋体" pitchFamily="2" charset="-122"/>
              </a:rPr>
              <a:t>                                                      </a:t>
            </a:r>
            <a:r>
              <a:rPr lang="en-US" altLang="zh-CN" sz="2400" dirty="0" smtClean="0">
                <a:solidFill>
                  <a:schemeClr val="tx1"/>
                </a:solidFill>
                <a:latin typeface="Times New Roman" pitchFamily="18" charset="0"/>
                <a:ea typeface="宋体" pitchFamily="2" charset="-122"/>
              </a:rPr>
              <a:t>2020.03.12</a:t>
            </a:r>
            <a:endParaRPr lang="zh-CN" altLang="en-US" sz="2400" dirty="0">
              <a:solidFill>
                <a:schemeClr val="tx1"/>
              </a:solidFill>
              <a:latin typeface="Times New Roman" pitchFamily="18" charset="0"/>
              <a:ea typeface="宋体" pitchFamily="2" charset="-122"/>
            </a:endParaRPr>
          </a:p>
        </p:txBody>
      </p:sp>
    </p:spTree>
    <p:extLst>
      <p:ext uri="{BB962C8B-B14F-4D97-AF65-F5344CB8AC3E}">
        <p14:creationId xmlns:p14="http://schemas.microsoft.com/office/powerpoint/2010/main" val="31302313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890688"/>
            <a:ext cx="7619756"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1584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4325" y="836712"/>
            <a:ext cx="8640960" cy="2031325"/>
          </a:xfrm>
          <a:prstGeom prst="rect">
            <a:avLst/>
          </a:prstGeom>
          <a:noFill/>
        </p:spPr>
        <p:txBody>
          <a:bodyPr wrap="square" rtlCol="0">
            <a:spAutoFit/>
          </a:bodyPr>
          <a:lstStyle/>
          <a:p>
            <a:r>
              <a:rPr lang="zh-CN" altLang="en-US" dirty="0"/>
              <a:t>传统感烟探测</a:t>
            </a:r>
            <a:r>
              <a:rPr lang="zh-CN" altLang="en-US" dirty="0" smtClean="0"/>
              <a:t>算法</a:t>
            </a:r>
            <a:r>
              <a:rPr lang="en-US" altLang="zh-CN" dirty="0" smtClean="0"/>
              <a:t>,</a:t>
            </a:r>
            <a:r>
              <a:rPr lang="zh-CN" altLang="en-US" dirty="0"/>
              <a:t>他们有明显的缺点</a:t>
            </a:r>
            <a:r>
              <a:rPr lang="en-US" altLang="zh-CN" dirty="0" smtClean="0"/>
              <a:t>:</a:t>
            </a:r>
          </a:p>
          <a:p>
            <a:endParaRPr lang="en-US" altLang="zh-CN" dirty="0" smtClean="0"/>
          </a:p>
          <a:p>
            <a:r>
              <a:rPr lang="en-US" altLang="zh-CN" dirty="0" smtClean="0"/>
              <a:t>(</a:t>
            </a:r>
            <a:r>
              <a:rPr lang="en-US" altLang="zh-CN" dirty="0"/>
              <a:t>1)</a:t>
            </a:r>
            <a:r>
              <a:rPr lang="zh-CN" altLang="en-US" dirty="0"/>
              <a:t>这些算法的性能很大程度上取决于特征提取和手工相结合</a:t>
            </a:r>
            <a:r>
              <a:rPr lang="en-US" altLang="zh-CN" dirty="0"/>
              <a:t>,</a:t>
            </a:r>
            <a:r>
              <a:rPr lang="zh-CN" altLang="en-US" dirty="0"/>
              <a:t>但这些特性选择主要经验并不能适用于所有镜头由于巨大的烟雾的颜色变化</a:t>
            </a:r>
            <a:r>
              <a:rPr lang="en-US" altLang="zh-CN" dirty="0"/>
              <a:t>,</a:t>
            </a:r>
            <a:r>
              <a:rPr lang="zh-CN" altLang="en-US" dirty="0"/>
              <a:t>形状和纹理</a:t>
            </a:r>
            <a:r>
              <a:rPr lang="zh-CN" altLang="en-US" dirty="0" smtClean="0"/>
              <a:t>。</a:t>
            </a:r>
            <a:endParaRPr lang="en-US" altLang="zh-CN" dirty="0" smtClean="0"/>
          </a:p>
          <a:p>
            <a:endParaRPr lang="en-US" altLang="zh-CN" dirty="0" smtClean="0"/>
          </a:p>
          <a:p>
            <a:r>
              <a:rPr lang="en-US" altLang="zh-CN" dirty="0" smtClean="0"/>
              <a:t>(</a:t>
            </a:r>
            <a:r>
              <a:rPr lang="en-US" altLang="zh-CN" dirty="0"/>
              <a:t>2)</a:t>
            </a:r>
            <a:r>
              <a:rPr lang="zh-CN" altLang="en-US" dirty="0"/>
              <a:t>同时实现高检出率和低误报率极为困难</a:t>
            </a:r>
            <a:r>
              <a:rPr lang="en-US" altLang="zh-CN" dirty="0"/>
              <a:t>;</a:t>
            </a:r>
            <a:r>
              <a:rPr lang="zh-CN" altLang="en-US" dirty="0"/>
              <a:t>其主要原因是这些算法不能正确区分烟雾与其他具有相似特征的物体</a:t>
            </a:r>
            <a:r>
              <a:rPr lang="zh-CN" altLang="en-US" dirty="0" smtClean="0"/>
              <a:t>。</a:t>
            </a:r>
            <a:endParaRPr lang="en-US" altLang="zh-CN" dirty="0"/>
          </a:p>
        </p:txBody>
      </p:sp>
      <p:sp>
        <p:nvSpPr>
          <p:cNvPr id="3" name="TextBox 2"/>
          <p:cNvSpPr txBox="1"/>
          <p:nvPr/>
        </p:nvSpPr>
        <p:spPr>
          <a:xfrm>
            <a:off x="395536" y="332656"/>
            <a:ext cx="2592288" cy="400110"/>
          </a:xfrm>
          <a:prstGeom prst="rect">
            <a:avLst/>
          </a:prstGeom>
          <a:noFill/>
        </p:spPr>
        <p:txBody>
          <a:bodyPr wrap="square" rtlCol="0">
            <a:spAutoFit/>
          </a:bodyPr>
          <a:lstStyle/>
          <a:p>
            <a:r>
              <a:rPr lang="zh-CN" altLang="en-US" sz="2000" b="1" dirty="0"/>
              <a:t>传统</a:t>
            </a:r>
            <a:r>
              <a:rPr lang="zh-CN" altLang="en-US" sz="2000" b="1" dirty="0" smtClean="0"/>
              <a:t>方法缺陷</a:t>
            </a:r>
            <a:endParaRPr lang="zh-CN" altLang="en-US" sz="2000" b="1"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0817" y="2789132"/>
            <a:ext cx="5989576" cy="4068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473928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772816"/>
            <a:ext cx="8640960" cy="2862322"/>
          </a:xfrm>
          <a:prstGeom prst="rect">
            <a:avLst/>
          </a:prstGeom>
          <a:noFill/>
        </p:spPr>
        <p:txBody>
          <a:bodyPr wrap="square" rtlCol="0">
            <a:spAutoFit/>
          </a:bodyPr>
          <a:lstStyle/>
          <a:p>
            <a:r>
              <a:rPr lang="zh-CN" altLang="en-US" dirty="0" smtClean="0"/>
              <a:t>         利用卷积神经网络提取特征，取代传统的利用手工特征的方法。但是从</a:t>
            </a:r>
            <a:r>
              <a:rPr lang="zh-CN" altLang="en-US" dirty="0"/>
              <a:t>单个帧学习外观的特征表示</a:t>
            </a:r>
            <a:r>
              <a:rPr lang="zh-CN" altLang="en-US" dirty="0" smtClean="0"/>
              <a:t>，无法</a:t>
            </a:r>
            <a:r>
              <a:rPr lang="zh-CN" altLang="en-US" dirty="0"/>
              <a:t>捕获帧之间的运动信息</a:t>
            </a:r>
            <a:r>
              <a:rPr lang="zh-CN" altLang="en-US" dirty="0" smtClean="0"/>
              <a:t>。为了</a:t>
            </a:r>
            <a:r>
              <a:rPr lang="zh-CN" altLang="en-US" dirty="0"/>
              <a:t>实现这一需求，本文训练了同时提取外观和运动特征的双流</a:t>
            </a:r>
            <a:r>
              <a:rPr lang="en-US" altLang="zh-CN" dirty="0"/>
              <a:t>(</a:t>
            </a:r>
            <a:r>
              <a:rPr lang="zh-CN" altLang="en-US" dirty="0"/>
              <a:t>时空流</a:t>
            </a:r>
            <a:r>
              <a:rPr lang="en-US" altLang="zh-CN" dirty="0"/>
              <a:t>)</a:t>
            </a:r>
            <a:r>
              <a:rPr lang="zh-CN" altLang="en-US" dirty="0"/>
              <a:t>卷积</a:t>
            </a:r>
            <a:r>
              <a:rPr lang="zh-CN" altLang="en-US" dirty="0" smtClean="0"/>
              <a:t>神经网络。</a:t>
            </a:r>
            <a:endParaRPr lang="en-US" altLang="zh-CN" dirty="0"/>
          </a:p>
          <a:p>
            <a:endParaRPr lang="en-US" altLang="zh-CN" dirty="0"/>
          </a:p>
          <a:p>
            <a:r>
              <a:rPr lang="en-US" altLang="zh-CN" dirty="0"/>
              <a:t> </a:t>
            </a:r>
            <a:r>
              <a:rPr lang="en-US" altLang="zh-CN" dirty="0" smtClean="0"/>
              <a:t>        </a:t>
            </a:r>
            <a:r>
              <a:rPr lang="zh-CN" altLang="en-US" dirty="0" smtClean="0"/>
              <a:t>针对</a:t>
            </a:r>
            <a:r>
              <a:rPr lang="zh-CN" altLang="en-US" dirty="0"/>
              <a:t>视频烟雾检测，我们训练了一个能从视频序列中提取帧内图像和帧间运动信息的双流</a:t>
            </a:r>
            <a:r>
              <a:rPr lang="en-US" altLang="zh-CN" dirty="0"/>
              <a:t>(</a:t>
            </a:r>
            <a:r>
              <a:rPr lang="zh-CN" altLang="en-US" dirty="0"/>
              <a:t>时空流</a:t>
            </a:r>
            <a:r>
              <a:rPr lang="en-US" altLang="zh-CN" dirty="0"/>
              <a:t>)</a:t>
            </a:r>
            <a:r>
              <a:rPr lang="zh-CN" altLang="en-US" dirty="0"/>
              <a:t>卷积神经网络</a:t>
            </a:r>
            <a:r>
              <a:rPr lang="zh-CN" altLang="en-US" dirty="0" smtClean="0"/>
              <a:t>。</a:t>
            </a:r>
            <a:endParaRPr lang="en-US" altLang="zh-CN" dirty="0" smtClean="0"/>
          </a:p>
          <a:p>
            <a:endParaRPr lang="en-US" altLang="zh-CN" dirty="0"/>
          </a:p>
          <a:p>
            <a:r>
              <a:rPr lang="zh-CN" altLang="en-US" dirty="0" smtClean="0"/>
              <a:t>         针对</a:t>
            </a:r>
            <a:r>
              <a:rPr lang="zh-CN" altLang="en-US" dirty="0"/>
              <a:t>实时视频烟雾检测，提出了一种增强的时空结构，利用多任务学习方法同时识别烟雾和估计光流</a:t>
            </a:r>
            <a:r>
              <a:rPr lang="zh-CN" altLang="en-US" dirty="0" smtClean="0"/>
              <a:t>。</a:t>
            </a:r>
            <a:endParaRPr lang="en-US" altLang="zh-CN" dirty="0" smtClean="0"/>
          </a:p>
          <a:p>
            <a:endParaRPr lang="en-US" altLang="zh-CN" dirty="0"/>
          </a:p>
        </p:txBody>
      </p:sp>
      <p:sp>
        <p:nvSpPr>
          <p:cNvPr id="3" name="TextBox 2"/>
          <p:cNvSpPr txBox="1"/>
          <p:nvPr/>
        </p:nvSpPr>
        <p:spPr>
          <a:xfrm>
            <a:off x="395536" y="332656"/>
            <a:ext cx="2592288" cy="400110"/>
          </a:xfrm>
          <a:prstGeom prst="rect">
            <a:avLst/>
          </a:prstGeom>
          <a:noFill/>
        </p:spPr>
        <p:txBody>
          <a:bodyPr wrap="square" rtlCol="0">
            <a:spAutoFit/>
          </a:bodyPr>
          <a:lstStyle/>
          <a:p>
            <a:r>
              <a:rPr lang="zh-CN" altLang="en-US" sz="2000" b="1" dirty="0" smtClean="0"/>
              <a:t>方法概述</a:t>
            </a:r>
            <a:endParaRPr lang="zh-CN" altLang="en-US" sz="2000" b="1" dirty="0"/>
          </a:p>
        </p:txBody>
      </p:sp>
    </p:spTree>
    <p:extLst>
      <p:ext uri="{BB962C8B-B14F-4D97-AF65-F5344CB8AC3E}">
        <p14:creationId xmlns:p14="http://schemas.microsoft.com/office/powerpoint/2010/main" val="33631705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5536" y="332656"/>
            <a:ext cx="7920880" cy="400110"/>
          </a:xfrm>
          <a:prstGeom prst="rect">
            <a:avLst/>
          </a:prstGeom>
          <a:noFill/>
        </p:spPr>
        <p:txBody>
          <a:bodyPr wrap="square" rtlCol="0">
            <a:spAutoFit/>
          </a:bodyPr>
          <a:lstStyle/>
          <a:p>
            <a:r>
              <a:rPr lang="en-US" altLang="zh-CN" sz="2000" b="1" dirty="0"/>
              <a:t>Proposal 1: spatial-temporal stream </a:t>
            </a:r>
            <a:r>
              <a:rPr lang="en-US" altLang="zh-CN" sz="2000" b="1" dirty="0" err="1"/>
              <a:t>ConvNet</a:t>
            </a:r>
            <a:r>
              <a:rPr lang="en-US" altLang="zh-CN" sz="2000" b="1" dirty="0"/>
              <a:t> for video smoke detection</a:t>
            </a:r>
            <a:r>
              <a:rPr lang="en-US" altLang="zh-CN" sz="2000" dirty="0"/>
              <a:t> </a:t>
            </a:r>
            <a:endParaRPr lang="zh-CN" altLang="en-US" sz="2000" b="1" dirty="0"/>
          </a:p>
        </p:txBody>
      </p:sp>
      <p:sp>
        <p:nvSpPr>
          <p:cNvPr id="2" name="TextBox 1"/>
          <p:cNvSpPr txBox="1"/>
          <p:nvPr/>
        </p:nvSpPr>
        <p:spPr>
          <a:xfrm>
            <a:off x="4860271" y="1484784"/>
            <a:ext cx="3243718" cy="4801314"/>
          </a:xfrm>
          <a:prstGeom prst="rect">
            <a:avLst/>
          </a:prstGeom>
          <a:noFill/>
        </p:spPr>
        <p:txBody>
          <a:bodyPr wrap="square" rtlCol="0">
            <a:spAutoFit/>
          </a:bodyPr>
          <a:lstStyle/>
          <a:p>
            <a:r>
              <a:rPr lang="zh-CN" altLang="en-US" dirty="0" smtClean="0"/>
              <a:t>         空间</a:t>
            </a:r>
            <a:r>
              <a:rPr lang="zh-CN" altLang="en-US" dirty="0"/>
              <a:t>流对流网络能有效地对静止帧中的烟雾和非烟雾进行分类</a:t>
            </a:r>
            <a:r>
              <a:rPr lang="zh-CN" altLang="en-US" dirty="0" smtClean="0"/>
              <a:t>。</a:t>
            </a:r>
            <a:endParaRPr lang="en-US" altLang="zh-CN" dirty="0" smtClean="0"/>
          </a:p>
          <a:p>
            <a:endParaRPr lang="en-US" altLang="zh-CN" dirty="0"/>
          </a:p>
          <a:p>
            <a:r>
              <a:rPr lang="zh-CN" altLang="en-US" dirty="0" smtClean="0"/>
              <a:t>        相对</a:t>
            </a:r>
            <a:r>
              <a:rPr lang="zh-CN" altLang="en-US" dirty="0"/>
              <a:t>于空间流，时间流卷积网络利用相邻两帧之间的光流位移场作为输入。这样的输入提供了每个像素运动的方向和幅度，这是对静态外观信息的一个很好的补充</a:t>
            </a:r>
            <a:r>
              <a:rPr lang="zh-CN" altLang="en-US" dirty="0" smtClean="0"/>
              <a:t>。</a:t>
            </a:r>
            <a:endParaRPr lang="en-US" altLang="zh-CN" dirty="0" smtClean="0"/>
          </a:p>
          <a:p>
            <a:endParaRPr lang="en-US" altLang="zh-CN" dirty="0"/>
          </a:p>
          <a:p>
            <a:endParaRPr lang="en-US" altLang="zh-CN" dirty="0" smtClean="0"/>
          </a:p>
          <a:p>
            <a:r>
              <a:rPr lang="zh-CN" altLang="en-US" dirty="0"/>
              <a:t>对于给定的</a:t>
            </a:r>
            <a:r>
              <a:rPr lang="zh-CN" altLang="en-US" dirty="0" smtClean="0"/>
              <a:t>视频</a:t>
            </a:r>
            <a:r>
              <a:rPr lang="en-US" altLang="zh-CN" dirty="0" smtClean="0"/>
              <a:t>I</a:t>
            </a:r>
            <a:r>
              <a:rPr lang="zh-CN" altLang="en-US" dirty="0"/>
              <a:t>和它的光</a:t>
            </a:r>
            <a:r>
              <a:rPr lang="zh-CN" altLang="en-US" dirty="0" smtClean="0"/>
              <a:t>流，</a:t>
            </a:r>
            <a:r>
              <a:rPr lang="zh-CN" altLang="en-US" dirty="0"/>
              <a:t>每个流分别执行前馈和计算</a:t>
            </a:r>
            <a:r>
              <a:rPr lang="en-US" altLang="zh-CN" dirty="0" err="1"/>
              <a:t>softmax</a:t>
            </a:r>
            <a:r>
              <a:rPr lang="zh-CN" altLang="en-US" dirty="0"/>
              <a:t>分数。最后用线性支持向量机进行融合。</a:t>
            </a:r>
            <a:endParaRPr lang="en-US" altLang="zh-CN" dirty="0" smtClean="0"/>
          </a:p>
          <a:p>
            <a:endParaRPr lang="zh-CN"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519" y="896250"/>
            <a:ext cx="3505200" cy="583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09832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5536" y="332656"/>
            <a:ext cx="2592288" cy="400110"/>
          </a:xfrm>
          <a:prstGeom prst="rect">
            <a:avLst/>
          </a:prstGeom>
          <a:noFill/>
        </p:spPr>
        <p:txBody>
          <a:bodyPr wrap="square" rtlCol="0">
            <a:spAutoFit/>
          </a:bodyPr>
          <a:lstStyle/>
          <a:p>
            <a:r>
              <a:rPr lang="zh-CN" altLang="en-US" sz="2000" b="1" dirty="0"/>
              <a:t>光</a:t>
            </a:r>
            <a:r>
              <a:rPr lang="zh-CN" altLang="en-US" sz="2000" b="1" dirty="0" smtClean="0"/>
              <a:t>流计算</a:t>
            </a:r>
            <a:endParaRPr lang="zh-CN" altLang="en-US" sz="2000" b="1"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766297"/>
            <a:ext cx="5184576" cy="2918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002538" y="3933056"/>
            <a:ext cx="7560840" cy="646331"/>
          </a:xfrm>
          <a:prstGeom prst="rect">
            <a:avLst/>
          </a:prstGeom>
          <a:noFill/>
        </p:spPr>
        <p:txBody>
          <a:bodyPr wrap="square" rtlCol="0">
            <a:spAutoFit/>
          </a:bodyPr>
          <a:lstStyle/>
          <a:p>
            <a:r>
              <a:rPr lang="zh-CN" altLang="en-US" dirty="0"/>
              <a:t>对于连续的两帧，我们使用</a:t>
            </a:r>
            <a:r>
              <a:rPr lang="en-US" altLang="zh-CN" dirty="0" err="1"/>
              <a:t>Brox</a:t>
            </a:r>
            <a:r>
              <a:rPr lang="zh-CN" altLang="en-US" dirty="0"/>
              <a:t>等人</a:t>
            </a:r>
            <a:r>
              <a:rPr lang="zh-CN" altLang="en-US" dirty="0" smtClean="0"/>
              <a:t>的方法</a:t>
            </a:r>
            <a:r>
              <a:rPr lang="zh-CN" altLang="en-US" dirty="0"/>
              <a:t>来计算稠密光流，并将运动分解为水平和垂直分量，如图</a:t>
            </a:r>
            <a:r>
              <a:rPr lang="en-US" altLang="zh-CN" dirty="0"/>
              <a:t>4</a:t>
            </a:r>
            <a:r>
              <a:rPr lang="zh-CN" altLang="en-US" dirty="0"/>
              <a:t>所示。</a:t>
            </a:r>
            <a:endParaRPr lang="zh-CN" altLang="en-US" dirty="0"/>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6021288"/>
            <a:ext cx="856297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4725144"/>
            <a:ext cx="572452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71448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9662" y="230157"/>
            <a:ext cx="6924675" cy="642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02557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5536" y="332656"/>
            <a:ext cx="8424936" cy="400110"/>
          </a:xfrm>
          <a:prstGeom prst="rect">
            <a:avLst/>
          </a:prstGeom>
          <a:noFill/>
        </p:spPr>
        <p:txBody>
          <a:bodyPr wrap="square" rtlCol="0">
            <a:spAutoFit/>
          </a:bodyPr>
          <a:lstStyle/>
          <a:p>
            <a:r>
              <a:rPr lang="en-US" altLang="zh-CN" sz="2000" b="1" dirty="0"/>
              <a:t>Proposal 2: enhanced spatial-temporal </a:t>
            </a:r>
            <a:r>
              <a:rPr lang="en-US" altLang="zh-CN" sz="2000" b="1" dirty="0" err="1"/>
              <a:t>ConvNet</a:t>
            </a:r>
            <a:r>
              <a:rPr lang="en-US" altLang="zh-CN" sz="2000" b="1" dirty="0"/>
              <a:t> for video smoke detection</a:t>
            </a:r>
            <a:r>
              <a:rPr lang="en-US" altLang="zh-CN" sz="2000" dirty="0"/>
              <a:t> </a:t>
            </a:r>
            <a:endParaRPr lang="zh-CN" altLang="en-US" sz="2000" b="1" dirty="0"/>
          </a:p>
        </p:txBody>
      </p:sp>
      <p:sp>
        <p:nvSpPr>
          <p:cNvPr id="2" name="TextBox 1"/>
          <p:cNvSpPr txBox="1"/>
          <p:nvPr/>
        </p:nvSpPr>
        <p:spPr>
          <a:xfrm>
            <a:off x="4431581" y="836712"/>
            <a:ext cx="4320480" cy="5355312"/>
          </a:xfrm>
          <a:prstGeom prst="rect">
            <a:avLst/>
          </a:prstGeom>
          <a:noFill/>
        </p:spPr>
        <p:txBody>
          <a:bodyPr wrap="square" rtlCol="0">
            <a:spAutoFit/>
          </a:bodyPr>
          <a:lstStyle/>
          <a:p>
            <a:r>
              <a:rPr lang="zh-CN" altLang="en-US" dirty="0"/>
              <a:t>提案</a:t>
            </a:r>
            <a:r>
              <a:rPr lang="en-US" altLang="zh-CN" dirty="0"/>
              <a:t>1</a:t>
            </a:r>
            <a:r>
              <a:rPr lang="zh-CN" altLang="en-US" dirty="0"/>
              <a:t>的架构可以有效地捕获外观和动作信息，但还有待改进。通常存在两个缺点</a:t>
            </a:r>
            <a:r>
              <a:rPr lang="en-US" altLang="zh-CN" dirty="0" smtClean="0"/>
              <a:t>:</a:t>
            </a:r>
          </a:p>
          <a:p>
            <a:endParaRPr lang="en-US" altLang="zh-CN" dirty="0" smtClean="0"/>
          </a:p>
          <a:p>
            <a:r>
              <a:rPr lang="en-US" altLang="zh-CN" dirty="0" smtClean="0"/>
              <a:t>        (</a:t>
            </a:r>
            <a:r>
              <a:rPr lang="en-US" altLang="zh-CN" dirty="0"/>
              <a:t>1)</a:t>
            </a:r>
            <a:r>
              <a:rPr lang="zh-CN" altLang="en-US" dirty="0"/>
              <a:t>光流预计算耗时长，甚至比卷积神经网络前馈慢得多</a:t>
            </a:r>
            <a:r>
              <a:rPr lang="en-US" altLang="zh-CN" dirty="0" smtClean="0"/>
              <a:t>;</a:t>
            </a:r>
          </a:p>
          <a:p>
            <a:r>
              <a:rPr lang="en-US" altLang="zh-CN" dirty="0" smtClean="0"/>
              <a:t>        (</a:t>
            </a:r>
            <a:r>
              <a:rPr lang="en-US" altLang="zh-CN" dirty="0"/>
              <a:t>2)</a:t>
            </a:r>
            <a:r>
              <a:rPr lang="zh-CN" altLang="en-US" dirty="0"/>
              <a:t>空间流和时间流只是在最终分类中结合，在训练过程中分别学习特征</a:t>
            </a:r>
            <a:r>
              <a:rPr lang="en-US" altLang="zh-CN" dirty="0"/>
              <a:t>(</a:t>
            </a:r>
            <a:r>
              <a:rPr lang="zh-CN" altLang="en-US" dirty="0"/>
              <a:t>不能相互规整</a:t>
            </a:r>
            <a:r>
              <a:rPr lang="en-US" altLang="zh-CN" dirty="0" smtClean="0"/>
              <a:t>)</a:t>
            </a:r>
          </a:p>
          <a:p>
            <a:endParaRPr lang="en-US" altLang="zh-CN" dirty="0" smtClean="0"/>
          </a:p>
          <a:p>
            <a:endParaRPr lang="en-US" altLang="zh-CN" dirty="0" smtClean="0"/>
          </a:p>
          <a:p>
            <a:r>
              <a:rPr lang="zh-CN" altLang="en-US" dirty="0"/>
              <a:t>与方案</a:t>
            </a:r>
            <a:r>
              <a:rPr lang="en-US" altLang="zh-CN" dirty="0"/>
              <a:t>1</a:t>
            </a:r>
            <a:r>
              <a:rPr lang="zh-CN" altLang="en-US" dirty="0"/>
              <a:t>相比，增强型体系结构的优势可以总结为</a:t>
            </a:r>
            <a:r>
              <a:rPr lang="en-US" altLang="zh-CN" dirty="0" smtClean="0"/>
              <a:t>:</a:t>
            </a:r>
          </a:p>
          <a:p>
            <a:endParaRPr lang="en-US" altLang="zh-CN" dirty="0" smtClean="0"/>
          </a:p>
          <a:p>
            <a:r>
              <a:rPr lang="zh-CN" altLang="en-US" dirty="0" smtClean="0"/>
              <a:t>        增强型</a:t>
            </a:r>
            <a:r>
              <a:rPr lang="zh-CN" altLang="en-US" dirty="0"/>
              <a:t>体系结构通过两种监督机制共同</a:t>
            </a:r>
            <a:r>
              <a:rPr lang="zh-CN" altLang="en-US" dirty="0" smtClean="0"/>
              <a:t>学习，可以</a:t>
            </a:r>
            <a:r>
              <a:rPr lang="zh-CN" altLang="en-US" dirty="0"/>
              <a:t>相互规范，减少训练过程中的过</a:t>
            </a:r>
            <a:r>
              <a:rPr lang="zh-CN" altLang="en-US" dirty="0" smtClean="0"/>
              <a:t>拟合。</a:t>
            </a:r>
            <a:endParaRPr lang="en-US" altLang="zh-CN" dirty="0" smtClean="0"/>
          </a:p>
          <a:p>
            <a:r>
              <a:rPr lang="zh-CN" altLang="en-US" dirty="0" smtClean="0"/>
              <a:t>         在</a:t>
            </a:r>
            <a:r>
              <a:rPr lang="zh-CN" altLang="en-US" dirty="0"/>
              <a:t>测试阶段，我们只将两个相邻的帧连接起来作为输入，而不进行光流的预先计算，这样可以加速烟雾的实时检测。</a:t>
            </a:r>
            <a:endParaRPr lang="zh-CN" alt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621" y="1028071"/>
            <a:ext cx="4259363" cy="5258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47297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980728"/>
            <a:ext cx="7243426"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5330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024" y="620688"/>
            <a:ext cx="7941995" cy="1869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120" y="3068960"/>
            <a:ext cx="7681700" cy="3303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23761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4746</TotalTime>
  <Words>512</Words>
  <Application>Microsoft Office PowerPoint</Application>
  <PresentationFormat>全屏显示(4:3)</PresentationFormat>
  <Paragraphs>36</Paragraphs>
  <Slides>10</Slides>
  <Notes>0</Notes>
  <HiddenSlides>0</HiddenSlides>
  <MMClips>0</MMClips>
  <ScaleCrop>false</ScaleCrop>
  <HeadingPairs>
    <vt:vector size="4" baseType="variant">
      <vt:variant>
        <vt:lpstr>主题</vt:lpstr>
      </vt:variant>
      <vt:variant>
        <vt:i4>1</vt:i4>
      </vt:variant>
      <vt:variant>
        <vt:lpstr>幻灯片标题</vt:lpstr>
      </vt:variant>
      <vt:variant>
        <vt:i4>10</vt:i4>
      </vt:variant>
    </vt:vector>
  </HeadingPairs>
  <TitlesOfParts>
    <vt:vector size="11" baseType="lpstr">
      <vt:lpstr>Office 主题</vt:lpstr>
      <vt:lpstr>文献汇报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Ming Yang</dc:creator>
  <cp:lastModifiedBy>Ming Yang</cp:lastModifiedBy>
  <cp:revision>119</cp:revision>
  <dcterms:created xsi:type="dcterms:W3CDTF">2019-01-07T15:21:41Z</dcterms:created>
  <dcterms:modified xsi:type="dcterms:W3CDTF">2020-03-11T09:32:43Z</dcterms:modified>
</cp:coreProperties>
</file>