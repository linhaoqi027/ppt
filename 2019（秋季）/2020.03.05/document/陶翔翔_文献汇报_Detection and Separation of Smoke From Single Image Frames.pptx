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303" r:id="rId2"/>
    <p:sldId id="367" r:id="rId3"/>
    <p:sldId id="374" r:id="rId4"/>
    <p:sldId id="475" r:id="rId5"/>
    <p:sldId id="426" r:id="rId6"/>
    <p:sldId id="473" r:id="rId7"/>
    <p:sldId id="476" r:id="rId8"/>
    <p:sldId id="477" r:id="rId9"/>
    <p:sldId id="478" r:id="rId10"/>
    <p:sldId id="479" r:id="rId11"/>
    <p:sldId id="480" r:id="rId12"/>
    <p:sldId id="487" r:id="rId13"/>
    <p:sldId id="481" r:id="rId14"/>
    <p:sldId id="482" r:id="rId15"/>
    <p:sldId id="485" r:id="rId16"/>
    <p:sldId id="486" r:id="rId17"/>
    <p:sldId id="488" r:id="rId18"/>
    <p:sldId id="489" r:id="rId19"/>
    <p:sldId id="490" r:id="rId20"/>
    <p:sldId id="491" r:id="rId21"/>
    <p:sldId id="492" r:id="rId22"/>
    <p:sldId id="493" r:id="rId23"/>
    <p:sldId id="494" r:id="rId24"/>
    <p:sldId id="495" r:id="rId25"/>
    <p:sldId id="496" r:id="rId26"/>
    <p:sldId id="497" r:id="rId27"/>
    <p:sldId id="498" r:id="rId28"/>
    <p:sldId id="499" r:id="rId29"/>
    <p:sldId id="500" r:id="rId30"/>
    <p:sldId id="501" r:id="rId31"/>
    <p:sldId id="502" r:id="rId32"/>
    <p:sldId id="503" r:id="rId33"/>
    <p:sldId id="504" r:id="rId34"/>
    <p:sldId id="505" r:id="rId35"/>
    <p:sldId id="506" r:id="rId36"/>
    <p:sldId id="353" r:id="rId37"/>
  </p:sldIdLst>
  <p:sldSz cx="12192000" cy="6858000"/>
  <p:notesSz cx="6858000" cy="9144000"/>
  <p:embeddedFontLst>
    <p:embeddedFont>
      <p:font typeface="Rockwell" panose="02060603020205020403" pitchFamily="18" charset="0"/>
      <p:regular r:id="rId40"/>
      <p:bold r:id="rId41"/>
      <p:italic r:id="rId42"/>
      <p:boldItalic r:id="rId43"/>
    </p:embeddedFont>
    <p:embeddedFont>
      <p:font typeface="Segoe UI" panose="020B0502040204020203" pitchFamily="34" charset="0"/>
      <p:regular r:id="rId44"/>
      <p:bold r:id="rId45"/>
      <p:italic r:id="rId46"/>
      <p:boldItalic r:id="rId47"/>
    </p:embeddedFont>
    <p:embeddedFont>
      <p:font typeface="等线" panose="02010600030101010101" pitchFamily="2" charset="-122"/>
      <p:regular r:id="rId48"/>
      <p:bold r:id="rId49"/>
    </p:embeddedFont>
    <p:embeddedFont>
      <p:font typeface="微软雅黑" panose="020B0503020204020204" pitchFamily="34" charset="-122"/>
      <p:regular r:id="rId50"/>
      <p:bold r:id="rId5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23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32">
          <p15:clr>
            <a:srgbClr val="A4A3A4"/>
          </p15:clr>
        </p15:guide>
        <p15:guide id="4" orient="horz" pos="4088">
          <p15:clr>
            <a:srgbClr val="A4A3A4"/>
          </p15:clr>
        </p15:guide>
        <p15:guide id="5" pos="5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6600"/>
    <a:srgbClr val="0000FF"/>
    <a:srgbClr val="3333FF"/>
    <a:srgbClr val="009900"/>
    <a:srgbClr val="660066"/>
    <a:srgbClr val="CC00FF"/>
    <a:srgbClr val="6600FF"/>
    <a:srgbClr val="00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79" autoAdjust="0"/>
    <p:restoredTop sz="76355" autoAdjust="0"/>
  </p:normalViewPr>
  <p:slideViewPr>
    <p:cSldViewPr snapToGrid="0" snapToObjects="1">
      <p:cViewPr varScale="1">
        <p:scale>
          <a:sx n="62" d="100"/>
          <a:sy n="62" d="100"/>
        </p:scale>
        <p:origin x="864" y="53"/>
      </p:cViewPr>
      <p:guideLst>
        <p:guide pos="3823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单帧图像进行检测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本文是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 image smoke detection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亚洲视觉会议论文）的扩展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8437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在实际情况下很难满足</a:t>
            </a:r>
            <a:r>
              <a:rPr lang="zh-CN" altLang="en-US" b="1" dirty="0"/>
              <a:t>摄像头固定</a:t>
            </a:r>
            <a:r>
              <a:rPr lang="zh-CN" altLang="en-US" dirty="0"/>
              <a:t>：如在暴雨和大风等剧烈而动态的环境下，开放空间中的相机不可避免地会发生抖动。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常规视频检测方法还通过背景建模来估计背景，对于单帧，这个方法也不可用。</a:t>
            </a:r>
          </a:p>
        </p:txBody>
      </p:sp>
    </p:spTree>
    <p:extLst>
      <p:ext uri="{BB962C8B-B14F-4D97-AF65-F5344CB8AC3E}">
        <p14:creationId xmlns:p14="http://schemas.microsoft.com/office/powerpoint/2010/main" val="2261712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5850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烟雾检测和去雾的目的不同。在去雾中关注的焦点是背景图像，目的是获得无雾或减少雾的背景图像，不考虑分离烟雾的精确度。</a:t>
            </a:r>
            <a:endParaRPr lang="en-US" altLang="zh-CN" dirty="0"/>
          </a:p>
          <a:p>
            <a:r>
              <a:rPr lang="zh-CN" altLang="en-US" dirty="0"/>
              <a:t>在烟雾检测中，关注的焦点是烟雾成分，目的是准确判断图像中是否有烟雾，我们需要尽可能准确地分离出烟雾成分，以帮助评估烟雾的强度和程度。</a:t>
            </a:r>
            <a:endParaRPr lang="en-US" altLang="zh-CN" dirty="0"/>
          </a:p>
          <a:p>
            <a:r>
              <a:rPr lang="zh-CN" altLang="en-US" dirty="0"/>
              <a:t>因此，去雾方法并未设计为用作烟雾形成模型。</a:t>
            </a:r>
          </a:p>
        </p:txBody>
      </p:sp>
    </p:spTree>
    <p:extLst>
      <p:ext uri="{BB962C8B-B14F-4D97-AF65-F5344CB8AC3E}">
        <p14:creationId xmlns:p14="http://schemas.microsoft.com/office/powerpoint/2010/main" val="4275641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dirty="0"/>
              <a:t>按照微元的思想，块分的越小，模型越精确，但是同时得考虑到块细分带来的计算量的增大。</a:t>
            </a:r>
            <a:r>
              <a:rPr lang="en-US" altLang="zh-CN" sz="1200" dirty="0"/>
              <a:t>16*16</a:t>
            </a:r>
          </a:p>
          <a:p>
            <a:r>
              <a:rPr lang="zh-CN" altLang="en-US" sz="1200" dirty="0"/>
              <a:t>滑动窗口方式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13505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1397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1063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7249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0738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一旦两次连续迭代中的目标函数值之间的差小于预定义的阈值，就得到了最佳的参数值。</a:t>
            </a:r>
          </a:p>
          <a:p>
            <a:r>
              <a:rPr lang="zh-CN" altLang="en-US" dirty="0"/>
              <a:t>对图像块</a:t>
            </a:r>
            <a:r>
              <a:rPr lang="en-US" altLang="zh-CN" dirty="0"/>
              <a:t>f</a:t>
            </a:r>
            <a:r>
              <a:rPr lang="zh-CN" altLang="en-US" dirty="0"/>
              <a:t>，无论其是否包含烟雾，被分离的准烟雾成分都更像烟雾，仅从准烟雾成分中提取的特征可能不足以决定</a:t>
            </a:r>
            <a:r>
              <a:rPr lang="en-US" altLang="zh-CN" dirty="0"/>
              <a:t>f</a:t>
            </a:r>
            <a:r>
              <a:rPr lang="zh-CN" altLang="en-US" dirty="0"/>
              <a:t>中是否存在烟雾。当</a:t>
            </a:r>
            <a:r>
              <a:rPr lang="en-US" altLang="zh-CN" dirty="0"/>
              <a:t>f</a:t>
            </a:r>
            <a:r>
              <a:rPr lang="zh-CN" altLang="en-US" dirty="0"/>
              <a:t>没有任何烟雾覆盖时，尤其如此。准背景分量的特征同理。</a:t>
            </a:r>
            <a:endParaRPr lang="en-US" altLang="zh-CN" dirty="0"/>
          </a:p>
          <a:p>
            <a:r>
              <a:rPr lang="zh-CN" altLang="en-US" dirty="0"/>
              <a:t>但是从两个分量中提取的特征共同表征了</a:t>
            </a:r>
            <a:r>
              <a:rPr lang="en-US" altLang="zh-CN" dirty="0"/>
              <a:t>f</a:t>
            </a:r>
            <a:r>
              <a:rPr lang="zh-CN" altLang="en-US" dirty="0"/>
              <a:t>，其混合编码中拥有更多的判别信息，可以从两个成分中提取纹理信息并将它们级联作为新特征来表征</a:t>
            </a:r>
            <a:r>
              <a:rPr lang="en-US" altLang="zh-CN" dirty="0"/>
              <a:t>f</a:t>
            </a:r>
            <a:r>
              <a:rPr lang="zh-CN" altLang="en-US" dirty="0"/>
              <a:t>，输入到</a:t>
            </a:r>
            <a:r>
              <a:rPr lang="en-US" altLang="zh-CN" dirty="0"/>
              <a:t>SVM</a:t>
            </a:r>
            <a:r>
              <a:rPr lang="zh-CN" altLang="en-US" dirty="0"/>
              <a:t>分类器，决定是否在</a:t>
            </a:r>
            <a:r>
              <a:rPr lang="en-US" altLang="zh-CN" dirty="0"/>
              <a:t>f</a:t>
            </a:r>
            <a:r>
              <a:rPr lang="zh-CN" altLang="en-US" dirty="0"/>
              <a:t>中有烟。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0504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38378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95283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75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071570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374245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第一类：与烟雾有类似物理形成过程的物体，例如雾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霾，云和蒸汽。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第二类：阴影和玻璃的透明性和烟雾相似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第三类：有高同质性的图像，如光滑的墙壁，天空，衣服和车身。水同时有透明性和高同质性。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2796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中显示了一些分离的准烟雾和准背景成分。测试图像中的纯非烟雾区域可以由相应的准背景分量很好地表示。对于烟雾覆盖的区域，大多数烟雾信息包含在相应的准烟雾成分中。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3272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给定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5000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个普通的烟雾和非烟雾图像块，研究新特征的效果。将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个图像块中的每一个视为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。给定训练的词典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，估计稀疏系数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ys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。将新特征（级联的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ys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）输入到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分类器中，以确定其是否包含烟雾。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在所有实验中，均采用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RBF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内核的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SVM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倍交叉验证。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49143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表三：基于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特征的混淆矩阵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TP,FN,FP,TP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曲线。曲线下的面积（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）越大，性能越好。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42074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用蓝色矩形手动选择了烟雾和非烟雾区域。从两个区域中随机选择一些块作为测试样本。用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特征分类的烟雾块和非烟雾块分别由红色块和绿色块指示。尽管在块级别上存在一些错误分类，但是根据简单多数投票原则，则蓝色矩形表示的所选区域不会被错误分类。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22455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6265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为了检测烟雾所处阶段，对浓烟，轻烟和非烟进行三元分类。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给定这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2500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个非烟雾，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2500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个重烟雾和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2500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个轻烟雾图像块，将准烟雾和准背景分量分开，提取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LBP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LBPS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LBPC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分类准确性报告在表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IV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特征准确度最高。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对于重烟，轻烟和无烟的分类，基于分离成分提取的特征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LBPS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LBPC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仍然优于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LBP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75305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三元分类混淆矩阵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大多数无烟可以与重烟和轻烟区分开，主要错误发生在浓烟和轻烟之间。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6778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随机选择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2500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来自普通烟雾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+2500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个具有挑战性的非烟雾图像。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从准烟和准背景分量中提取了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LBPC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LBPC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特征时，烟雾和非烟雾分类准确度分别为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77.16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79.2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％。对于每类具有挑战性的非烟雾物体，准确度列于表六。尽管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LBPC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总体上分类性能相似，但它们在每个类别上的性能差异很大。在考虑的所有具有挑战性的非烟类中，使用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时，天空准确度最高，蒸汽蒸汽准确度最低。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86141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35259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85930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分类器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：有烟、无烟二元分类器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分类器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：有烟、挑战性非烟二元分类器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分类器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：有烟、无烟（常规无烟，挑战性非烟）二元分类器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分类器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：有烟、常规无烟、挑战性非烟三元分类器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分类器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：（有烟，挑战性非烟）、常规无烟二元分类器（有烟和挑战性非烟被视为来自同一类别）？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分类器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：分类器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的串联</a:t>
            </a: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分类器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：分类器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的串联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5795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实践中，期望块级别上错误的检测是稀疏的，检测后通过地图上的多数表决、形态运算或马尔可夫随机场建模，这些后期处理对其进行校正并不难。这些可能被错误检测到的烟雾斑块也可以作为可疑斑块保留，这将有助于确定这是真正的正确或者错误警报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显示了从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ImageNet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数据集采样的六个非烟雾图像和三个烟雾图像。每个图像被分为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16×16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个非重叠块，每个块都通过本文的单图像帧烟雾分类器，如果某个块被检测成烟雾，该块将用红框表示。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注意，在六个非烟雾图像中的五个中没有错误检测，在非烟雾图像（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）中只有几个孤立的错误检测，这很容易校正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5245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：根据分类器输出分数的不同阈值构建的检测图。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白色：可靠的烟雾；黑色：无烟；灰色：未知像素。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可以看到，图上存在一些误分类。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8487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显示了本文单帧烟雾分割以及用引导图像过滤（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）的结果，涵盖室外、室内在不同阶段的烟雾。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可以看到（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无法估计半透明的轻烟，这些区域在图像上的红色框显示。 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）可以进一步调整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参数，尤其是增加半径，以便可以在一定程度上捕获烟雾成分和混合参数中的轻烟。但是会导致背景结构在烟雾成分中将变得可见。（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）但是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速度更快优势，处理百万像素的图像，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需要大约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秒钟，而本文单帧烟雾分割要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秒钟。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作用：去雾、降噪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2927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和图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显示了本文单帧烟雾分割以及用引导图像过滤（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）的结果，涵盖室外、室内在不同阶段的烟雾。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可以看到（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无法估计半透明的轻烟，这些区域在图像上的红色框显示。 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）可以进一步调整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参数，尤其是增加半径，以便可以在一定程度上捕获烟雾成分和混合参数中的轻烟。但是会导致背景结构在烟雾成分中将变得可见。（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）但是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速度更快优势，处理百万像素的图像，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GIF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需要大约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秒钟，而本文单帧烟雾分割要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秒钟。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34238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35652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349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>
            <a:fillRect/>
          </a:stretch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01415" y="1254308"/>
            <a:ext cx="84691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rgbClr val="00B050"/>
                </a:solidFill>
                <a:latin typeface="Rockwell" panose="02060603020205020403" pitchFamily="18" charset="0"/>
              </a:rPr>
              <a:t>文献汇报</a:t>
            </a:r>
            <a:endParaRPr lang="en-US" altLang="zh-CN" sz="5400" b="1" dirty="0">
              <a:solidFill>
                <a:srgbClr val="00B05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25915" y="4754245"/>
            <a:ext cx="25742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  </a:t>
            </a:r>
            <a:r>
              <a:rPr lang="zh-CN" altLang="en-US" sz="3200" b="1" dirty="0">
                <a:latin typeface="+mn-ea"/>
              </a:rPr>
              <a:t>陶翔翔</a:t>
            </a:r>
            <a:endParaRPr lang="en-US" altLang="zh-CN" sz="3200" b="1" dirty="0">
              <a:latin typeface="+mn-ea"/>
            </a:endParaRPr>
          </a:p>
          <a:p>
            <a:r>
              <a:rPr lang="en-US" altLang="zh-CN" sz="3200" b="1" dirty="0">
                <a:latin typeface="+mn-ea"/>
              </a:rPr>
              <a:t>2020.3.5</a:t>
            </a:r>
            <a:endParaRPr lang="zh-CN" altLang="en-US" sz="32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ieeexplore.ieee.org/mediastore_new/IEEE/content/media/8359997/8363198/8363717/8363717-fig-2-source-large.gi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473444" y="258370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文献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010025" y="21574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41237" y="1443841"/>
            <a:ext cx="950952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altLang="zh-C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Tian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Hongda,Li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Wanqing,Ogunbona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Philip </a:t>
            </a:r>
            <a:r>
              <a:rPr lang="en-US" altLang="zh-CN" sz="3600" dirty="0" err="1">
                <a:latin typeface="Arial" panose="020B0604020202020204" pitchFamily="34" charset="0"/>
                <a:cs typeface="Arial" panose="020B0604020202020204" pitchFamily="34" charset="0"/>
              </a:rPr>
              <a:t>O,Wang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 Lei. 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Separation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 of Smoke From </a:t>
            </a:r>
            <a:r>
              <a:rPr lang="en-US" altLang="zh-CN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 Image Frames</a:t>
            </a:r>
            <a:r>
              <a:rPr lang="en-US" altLang="zh-CN" sz="3600" dirty="0">
                <a:latin typeface="Arial" panose="020B0604020202020204" pitchFamily="34" charset="0"/>
                <a:cs typeface="Arial" panose="020B0604020202020204" pitchFamily="34" charset="0"/>
              </a:rPr>
              <a:t>.[J]. IEEE transactions on image processing: a publication of the IEEE Signal Processing Society,2018,27(3).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摘要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880A5E-E455-4B4C-B544-B7C5CB2D1217}"/>
              </a:ext>
            </a:extLst>
          </p:cNvPr>
          <p:cNvSpPr/>
          <p:nvPr/>
        </p:nvSpPr>
        <p:spPr>
          <a:xfrm>
            <a:off x="1293021" y="1488169"/>
            <a:ext cx="959209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从</a:t>
            </a:r>
            <a:r>
              <a:rPr lang="zh-CN" altLang="en-US" sz="2800" b="1" dirty="0"/>
              <a:t>单个图像帧</a:t>
            </a:r>
            <a:r>
              <a:rPr lang="zh-CN" altLang="en-US" sz="2800" dirty="0"/>
              <a:t>中检测和分离烟雾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方法：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从</a:t>
            </a:r>
            <a:r>
              <a:rPr lang="en-US" altLang="zh-CN" sz="2800" dirty="0"/>
              <a:t>atmospheric scattering models</a:t>
            </a:r>
            <a:r>
              <a:rPr lang="zh-CN" altLang="en-US" sz="2800" dirty="0"/>
              <a:t>导出烟雾形成模型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将图像帧分为准烟雾和准背景分量，用烟和背景的双字典进行</a:t>
            </a:r>
            <a:r>
              <a:rPr lang="zh-CN" altLang="en-US" sz="2800" b="1" dirty="0"/>
              <a:t>稀疏表示</a:t>
            </a:r>
            <a:endParaRPr lang="en-US" altLang="zh-CN" sz="2800" b="1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用稀疏表示后的烟雾和背景的</a:t>
            </a:r>
            <a:r>
              <a:rPr lang="zh-CN" altLang="en-US" sz="2800" b="1" dirty="0"/>
              <a:t>级联</a:t>
            </a:r>
            <a:r>
              <a:rPr lang="zh-CN" altLang="en-US" sz="2800" dirty="0"/>
              <a:t>作为提取的特征进行烟雾检测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基于</a:t>
            </a:r>
            <a:r>
              <a:rPr lang="zh-CN" altLang="en-US" sz="2800" b="1" dirty="0"/>
              <a:t>图像消光</a:t>
            </a:r>
            <a:r>
              <a:rPr lang="zh-CN" altLang="en-US" sz="2800" dirty="0"/>
              <a:t>将烟雾与背景分离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创新点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880A5E-E455-4B4C-B544-B7C5CB2D1217}"/>
              </a:ext>
            </a:extLst>
          </p:cNvPr>
          <p:cNvSpPr/>
          <p:nvPr/>
        </p:nvSpPr>
        <p:spPr>
          <a:xfrm>
            <a:off x="1293021" y="1488169"/>
            <a:ext cx="959209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b="1" dirty="0"/>
              <a:t>级联</a:t>
            </a:r>
            <a:r>
              <a:rPr lang="zh-CN" altLang="en-US" sz="2800" dirty="0"/>
              <a:t>多个分类器，可将烟雾与灰度图像帧中有相似外观的物体区别（雾</a:t>
            </a:r>
            <a:r>
              <a:rPr lang="en-US" altLang="zh-CN" sz="2800" dirty="0"/>
              <a:t>/</a:t>
            </a:r>
            <a:r>
              <a:rPr lang="zh-CN" altLang="en-US" sz="2800" dirty="0"/>
              <a:t>霾，云，蒸汽，天空，阴影，玻璃等）。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可进行烟雾与背景的</a:t>
            </a:r>
            <a:r>
              <a:rPr lang="zh-CN" altLang="en-US" sz="2800" b="1" dirty="0"/>
              <a:t>分割</a:t>
            </a:r>
            <a:endParaRPr lang="en-US" altLang="zh-CN" sz="2800" b="1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对检测和分割方法进行了系统和广泛的评价。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将图像分为准烟雾和准背景分量的</a:t>
            </a:r>
            <a:r>
              <a:rPr lang="zh-CN" altLang="en-US" sz="2800" b="1" dirty="0"/>
              <a:t>双字典</a:t>
            </a:r>
            <a:r>
              <a:rPr lang="zh-CN" altLang="en-US" sz="2800" dirty="0"/>
              <a:t>方法，使用估计的</a:t>
            </a:r>
            <a:r>
              <a:rPr lang="zh-CN" altLang="en-US" sz="2800" b="1" dirty="0"/>
              <a:t>稀疏系数</a:t>
            </a:r>
            <a:r>
              <a:rPr lang="zh-CN" altLang="en-US" sz="2800" dirty="0"/>
              <a:t>进行检测的方法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所提出的</a:t>
            </a:r>
            <a:r>
              <a:rPr lang="zh-CN" altLang="en-US" sz="2800" b="1" dirty="0"/>
              <a:t>单帧</a:t>
            </a:r>
            <a:r>
              <a:rPr lang="zh-CN" altLang="en-US" sz="2800" dirty="0"/>
              <a:t>烟雾检测方法基于烟雾形成物理学的新特征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637743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Introduction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3508EE-EA28-4849-8EB8-5D135CF1704E}"/>
              </a:ext>
            </a:extLst>
          </p:cNvPr>
          <p:cNvSpPr/>
          <p:nvPr/>
        </p:nvSpPr>
        <p:spPr>
          <a:xfrm>
            <a:off x="1318055" y="1530032"/>
            <a:ext cx="955589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传统烟雾检测：基于</a:t>
            </a:r>
            <a:r>
              <a:rPr lang="zh-CN" altLang="en-US" sz="2800" dirty="0">
                <a:solidFill>
                  <a:srgbClr val="FF0000"/>
                </a:solidFill>
              </a:rPr>
              <a:t>光电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现有的基于</a:t>
            </a:r>
            <a:r>
              <a:rPr lang="zh-CN" altLang="en-US" sz="2800" dirty="0">
                <a:solidFill>
                  <a:srgbClr val="FF0000"/>
                </a:solidFill>
              </a:rPr>
              <a:t>视觉</a:t>
            </a:r>
            <a:r>
              <a:rPr lang="zh-CN" altLang="en-US" sz="2800" dirty="0"/>
              <a:t>的烟雾检测（主要基于视频）：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适用于封闭空间和开放空间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提供烟雾的位置和强度信息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缺点是图像需要由</a:t>
            </a:r>
            <a:r>
              <a:rPr lang="zh-CN" altLang="en-US" sz="2800" dirty="0">
                <a:solidFill>
                  <a:srgbClr val="FF0000"/>
                </a:solidFill>
              </a:rPr>
              <a:t>固定</a:t>
            </a:r>
            <a:r>
              <a:rPr lang="zh-CN" altLang="en-US" sz="2800" dirty="0"/>
              <a:t>位置的摄像头捕获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FF0000"/>
                </a:solidFill>
              </a:rPr>
              <a:t>非固定</a:t>
            </a:r>
            <a:r>
              <a:rPr lang="zh-CN" altLang="en-US" sz="2800" dirty="0"/>
              <a:t>式相机：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通常安装在无人机（如林区火灾监视）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监视图像通常在资源受限的基础架构（如传感器网络）中流式传输。在这些应用中，从</a:t>
            </a:r>
            <a:r>
              <a:rPr lang="zh-CN" altLang="en-US" sz="2800" dirty="0">
                <a:solidFill>
                  <a:srgbClr val="FF0000"/>
                </a:solidFill>
              </a:rPr>
              <a:t>单个框架</a:t>
            </a:r>
            <a:r>
              <a:rPr lang="zh-CN" altLang="en-US" sz="2800" dirty="0"/>
              <a:t>检测烟雾变得势在必行。</a:t>
            </a:r>
            <a:endParaRPr lang="en-US" altLang="zh-CN" sz="2800" dirty="0"/>
          </a:p>
          <a:p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206693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9" y="275515"/>
            <a:ext cx="479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Related work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3508EE-EA28-4849-8EB8-5D135CF1704E}"/>
              </a:ext>
            </a:extLst>
          </p:cNvPr>
          <p:cNvSpPr/>
          <p:nvPr/>
        </p:nvSpPr>
        <p:spPr>
          <a:xfrm>
            <a:off x="1318055" y="1191830"/>
            <a:ext cx="955589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现有基于</a:t>
            </a:r>
            <a:r>
              <a:rPr lang="zh-CN" altLang="en-US" sz="2800" b="1" dirty="0"/>
              <a:t>视频</a:t>
            </a:r>
            <a:r>
              <a:rPr lang="zh-CN" altLang="en-US" sz="2800" dirty="0"/>
              <a:t>的烟雾检测方法的成功在于识别强大的视觉特征以表征烟雾。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特征：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b="1" dirty="0"/>
              <a:t>运动</a:t>
            </a:r>
            <a:r>
              <a:rPr lang="zh-CN" altLang="en-US" sz="2800" dirty="0"/>
              <a:t>：烟雾通常通过热气流不断向上漂移，基于光流提取运动特征，有风无效，并且单个图像无运动特征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b="1" dirty="0"/>
              <a:t>颜色</a:t>
            </a:r>
            <a:r>
              <a:rPr lang="zh-CN" altLang="en-US" sz="2800" dirty="0"/>
              <a:t>：测量当前像素颜色与烟雾的参考颜色模型的偏差，受燃烧材料类型和照明条件影响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b="1" dirty="0"/>
              <a:t>边缘</a:t>
            </a:r>
            <a:r>
              <a:rPr lang="zh-CN" altLang="en-US" sz="2800" dirty="0"/>
              <a:t>：烟雾本身边缘特征，烟雾对被覆盖的对象边缘的影响。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b="1" dirty="0"/>
              <a:t>纹理</a:t>
            </a:r>
            <a:r>
              <a:rPr lang="zh-CN" altLang="en-US" sz="2800" dirty="0"/>
              <a:t>：</a:t>
            </a:r>
            <a:r>
              <a:rPr lang="en-US" altLang="zh-CN" sz="2800" dirty="0"/>
              <a:t>LBP</a:t>
            </a:r>
            <a:r>
              <a:rPr lang="zh-CN" altLang="en-US" sz="2800" dirty="0"/>
              <a:t>提取图像局部纹理特征，较可靠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b="1" dirty="0"/>
              <a:t>融合</a:t>
            </a:r>
            <a:r>
              <a:rPr lang="zh-CN" altLang="en-US" sz="2800" dirty="0"/>
              <a:t>特征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本文将烟雾与背景分离，提取分离后的纹理特征来检测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655146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Physics-Based Image Formation Model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3508EE-EA28-4849-8EB8-5D135CF1704E}"/>
              </a:ext>
            </a:extLst>
          </p:cNvPr>
          <p:cNvSpPr/>
          <p:nvPr/>
        </p:nvSpPr>
        <p:spPr>
          <a:xfrm>
            <a:off x="1318055" y="1191830"/>
            <a:ext cx="955589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基于针对恶劣天气条件（如雾</a:t>
            </a:r>
            <a:r>
              <a:rPr lang="en-US" altLang="zh-CN" sz="2800" dirty="0"/>
              <a:t>/</a:t>
            </a:r>
            <a:r>
              <a:rPr lang="zh-CN" altLang="en-US" sz="2800" dirty="0"/>
              <a:t>霾）开发的</a:t>
            </a:r>
            <a:r>
              <a:rPr lang="zh-CN" altLang="en-US" sz="2800" b="1" dirty="0"/>
              <a:t>大气散射模型</a:t>
            </a:r>
            <a:r>
              <a:rPr lang="zh-CN" altLang="en-US" sz="2800" dirty="0"/>
              <a:t>，烟雾将像雾</a:t>
            </a:r>
            <a:r>
              <a:rPr lang="en-US" altLang="zh-CN" sz="2800" dirty="0"/>
              <a:t>/</a:t>
            </a:r>
            <a:r>
              <a:rPr lang="zh-CN" altLang="en-US" sz="2800" dirty="0"/>
              <a:t>霾一样充当散射介质。但是，与雾</a:t>
            </a:r>
            <a:r>
              <a:rPr lang="en-US" altLang="zh-CN" sz="2800" dirty="0"/>
              <a:t>/</a:t>
            </a:r>
            <a:r>
              <a:rPr lang="zh-CN" altLang="en-US" sz="2800" dirty="0"/>
              <a:t>霾不同，烟雾通常不会占据场景的整个空间。我们从大气散射模型导出下面的</a:t>
            </a:r>
            <a:r>
              <a:rPr lang="zh-CN" altLang="en-US" sz="2800" b="1" dirty="0"/>
              <a:t>烟雾形成模型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在上式中，</a:t>
            </a:r>
            <a:r>
              <a:rPr lang="en-US" altLang="zh-CN" sz="2800" dirty="0"/>
              <a:t>B(x)</a:t>
            </a:r>
            <a:r>
              <a:rPr lang="zh-CN" altLang="en-US" sz="2800" dirty="0"/>
              <a:t>表示</a:t>
            </a:r>
            <a:r>
              <a:rPr lang="zh-CN" altLang="en-US" sz="2800" b="1" dirty="0"/>
              <a:t>背景</a:t>
            </a:r>
            <a:r>
              <a:rPr lang="zh-CN" altLang="en-US" sz="2800" dirty="0"/>
              <a:t>成分或非烟雾成分；</a:t>
            </a:r>
            <a:r>
              <a:rPr lang="el-GR" altLang="zh-CN" sz="2800" dirty="0"/>
              <a:t>Ω</a:t>
            </a:r>
            <a:r>
              <a:rPr lang="en-US" altLang="zh-CN" sz="2800" dirty="0"/>
              <a:t>(</a:t>
            </a:r>
            <a:r>
              <a:rPr lang="el-GR" altLang="zh-CN" sz="2800" dirty="0"/>
              <a:t>∆</a:t>
            </a:r>
            <a:r>
              <a:rPr lang="en-US" altLang="zh-CN" sz="2800" dirty="0" err="1"/>
              <a:t>z,x</a:t>
            </a:r>
            <a:r>
              <a:rPr lang="en-US" altLang="zh-CN" sz="2800" dirty="0"/>
              <a:t>)</a:t>
            </a:r>
            <a:r>
              <a:rPr lang="zh-CN" altLang="en-US" sz="2800" dirty="0"/>
              <a:t>在</a:t>
            </a:r>
            <a:r>
              <a:rPr lang="en-US" altLang="zh-CN" sz="2800" dirty="0"/>
              <a:t>[0,1]</a:t>
            </a:r>
            <a:r>
              <a:rPr lang="zh-CN" altLang="en-US" sz="2800" dirty="0"/>
              <a:t>的范围内，并且被称为</a:t>
            </a:r>
            <a:r>
              <a:rPr lang="zh-CN" altLang="en-US" sz="2800" b="1" dirty="0"/>
              <a:t>混合参数</a:t>
            </a:r>
            <a:r>
              <a:rPr lang="zh-CN" altLang="en-US" sz="2800" dirty="0"/>
              <a:t>；</a:t>
            </a:r>
            <a:r>
              <a:rPr lang="en-US" altLang="zh-CN" sz="2800" dirty="0"/>
              <a:t>S(</a:t>
            </a:r>
            <a:r>
              <a:rPr lang="en-US" altLang="zh-CN" sz="2800" dirty="0" err="1"/>
              <a:t>z</a:t>
            </a:r>
            <a:r>
              <a:rPr lang="en-US" altLang="zh-CN" sz="2800" baseline="-25000" dirty="0" err="1"/>
              <a:t>s,</a:t>
            </a:r>
            <a:r>
              <a:rPr lang="en-US" altLang="zh-CN" sz="2800" dirty="0" err="1"/>
              <a:t>x</a:t>
            </a:r>
            <a:r>
              <a:rPr lang="en-US" altLang="zh-CN" sz="2800" dirty="0"/>
              <a:t>)</a:t>
            </a:r>
            <a:r>
              <a:rPr lang="zh-CN" altLang="en-US" sz="2800" dirty="0"/>
              <a:t>表示距观察者 </a:t>
            </a:r>
            <a:r>
              <a:rPr lang="en-US" altLang="zh-CN" sz="2800" dirty="0" err="1"/>
              <a:t>z</a:t>
            </a:r>
            <a:r>
              <a:rPr lang="en-US" altLang="zh-CN" sz="2800" baseline="-25000" dirty="0" err="1"/>
              <a:t>s</a:t>
            </a:r>
            <a:r>
              <a:rPr lang="en-US" altLang="zh-CN" sz="2800" baseline="-25000" dirty="0"/>
              <a:t> </a:t>
            </a:r>
            <a:r>
              <a:rPr lang="zh-CN" altLang="en-US" sz="2800" dirty="0"/>
              <a:t>处的纯烟，称为</a:t>
            </a:r>
            <a:r>
              <a:rPr lang="zh-CN" altLang="en-US" sz="2800" b="1" dirty="0"/>
              <a:t>烟雾</a:t>
            </a:r>
            <a:r>
              <a:rPr lang="zh-CN" altLang="en-US" sz="2800" dirty="0"/>
              <a:t>成分；</a:t>
            </a:r>
            <a:r>
              <a:rPr lang="el-GR" altLang="zh-CN" sz="2800" dirty="0"/>
              <a:t>∆</a:t>
            </a:r>
            <a:r>
              <a:rPr lang="en-US" altLang="zh-CN" sz="2800" dirty="0"/>
              <a:t>z</a:t>
            </a:r>
            <a:r>
              <a:rPr lang="zh-CN" altLang="en-US" sz="2800" dirty="0"/>
              <a:t>是像素</a:t>
            </a:r>
            <a:r>
              <a:rPr lang="en-US" altLang="zh-CN" sz="2800" dirty="0"/>
              <a:t>x</a:t>
            </a:r>
            <a:r>
              <a:rPr lang="zh-CN" altLang="en-US" sz="2800" dirty="0"/>
              <a:t>处的烟雾厚度； 当像素不被烟雾覆盖时，公式简化为</a:t>
            </a:r>
            <a:r>
              <a:rPr lang="en-US" altLang="zh-CN" sz="2800" dirty="0"/>
              <a:t>F(x)= B(x)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endParaRPr lang="en-US" altLang="zh-CN" sz="28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CD9EE77-9CFF-46D7-98C2-4B6CF401C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983" y="3064000"/>
            <a:ext cx="8062034" cy="63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58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基于块的烟雾形成模型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3508EE-EA28-4849-8EB8-5D135CF1704E}"/>
              </a:ext>
            </a:extLst>
          </p:cNvPr>
          <p:cNvSpPr/>
          <p:nvPr/>
        </p:nvSpPr>
        <p:spPr>
          <a:xfrm>
            <a:off x="1318055" y="1191830"/>
            <a:ext cx="955589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将整个图像按照块进行建模。假定块内的烟雾厚度</a:t>
            </a:r>
            <a:r>
              <a:rPr lang="el-GR" altLang="zh-CN" sz="2800" dirty="0"/>
              <a:t>∆</a:t>
            </a:r>
            <a:r>
              <a:rPr lang="en-US" altLang="zh-CN" sz="2800" dirty="0"/>
              <a:t>z</a:t>
            </a:r>
            <a:r>
              <a:rPr lang="zh-CN" altLang="en-US" sz="2800" dirty="0"/>
              <a:t>恒定，采用</a:t>
            </a:r>
            <a:r>
              <a:rPr lang="zh-CN" altLang="en-US" sz="2800" b="1" dirty="0"/>
              <a:t>稀疏表示</a:t>
            </a:r>
            <a:r>
              <a:rPr lang="zh-CN" altLang="en-US" sz="2800" dirty="0"/>
              <a:t>来表示每个块内的烟雾。基于块的模型如下。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上式中 </a:t>
            </a:r>
            <a:r>
              <a:rPr lang="en-US" altLang="zh-CN" sz="2800" dirty="0"/>
              <a:t>f </a:t>
            </a:r>
            <a:r>
              <a:rPr lang="zh-CN" altLang="en-US" sz="2800" dirty="0"/>
              <a:t>为具有</a:t>
            </a:r>
            <a:r>
              <a:rPr lang="en-US" altLang="zh-CN" sz="2800" dirty="0"/>
              <a:t>N</a:t>
            </a:r>
            <a:r>
              <a:rPr lang="zh-CN" altLang="en-US" sz="2800" dirty="0"/>
              <a:t>个像素的给定图像块，</a:t>
            </a:r>
            <a:r>
              <a:rPr lang="en-US" altLang="zh-CN" sz="2800" dirty="0"/>
              <a:t>b </a:t>
            </a:r>
            <a:r>
              <a:rPr lang="zh-CN" altLang="en-US" sz="2800" dirty="0"/>
              <a:t>和 </a:t>
            </a:r>
            <a:r>
              <a:rPr lang="en-US" altLang="zh-CN" sz="2800" dirty="0"/>
              <a:t>s </a:t>
            </a:r>
            <a:r>
              <a:rPr lang="zh-CN" altLang="en-US" sz="2800" dirty="0"/>
              <a:t>为对应的背景和烟雾分量。其中 </a:t>
            </a:r>
            <a:r>
              <a:rPr lang="en-US" altLang="zh-CN" sz="2800" dirty="0"/>
              <a:t>n </a:t>
            </a:r>
            <a:r>
              <a:rPr lang="zh-CN" altLang="en-US" sz="2800" dirty="0"/>
              <a:t>代表建模噪声，</a:t>
            </a:r>
            <a:r>
              <a:rPr lang="en-US" altLang="zh-CN" sz="2800" dirty="0"/>
              <a:t>ω</a:t>
            </a:r>
            <a:r>
              <a:rPr lang="zh-CN" altLang="en-US" sz="2800" dirty="0"/>
              <a:t>是块 </a:t>
            </a:r>
            <a:r>
              <a:rPr lang="en-US" altLang="zh-CN" sz="2800" dirty="0"/>
              <a:t>f </a:t>
            </a:r>
            <a:r>
              <a:rPr lang="zh-CN" altLang="en-US" sz="2800" dirty="0"/>
              <a:t>内的混合参数。</a:t>
            </a:r>
            <a:endParaRPr lang="en-US" altLang="zh-CN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0C673B-1241-4304-A60F-3FE7AEE96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294" y="2591697"/>
            <a:ext cx="3621412" cy="57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384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基于块的烟雾形成模型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3508EE-EA28-4849-8EB8-5D135CF1704E}"/>
              </a:ext>
            </a:extLst>
          </p:cNvPr>
          <p:cNvSpPr/>
          <p:nvPr/>
        </p:nvSpPr>
        <p:spPr>
          <a:xfrm>
            <a:off x="1318055" y="1191830"/>
            <a:ext cx="955589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为了从单个图像块 </a:t>
            </a:r>
            <a:r>
              <a:rPr lang="en-US" altLang="zh-CN" sz="2800" dirty="0"/>
              <a:t>f </a:t>
            </a:r>
            <a:r>
              <a:rPr lang="zh-CN" altLang="en-US" sz="2800" dirty="0"/>
              <a:t>中提取可靠的烟雾检测特征，应将背景成分 </a:t>
            </a:r>
            <a:r>
              <a:rPr lang="en-US" altLang="zh-CN" sz="2800" dirty="0"/>
              <a:t>b </a:t>
            </a:r>
            <a:r>
              <a:rPr lang="zh-CN" altLang="en-US" sz="2800" dirty="0"/>
              <a:t>与烟雾成分 </a:t>
            </a:r>
            <a:r>
              <a:rPr lang="en-US" altLang="zh-CN" sz="2800" dirty="0"/>
              <a:t>s </a:t>
            </a:r>
            <a:r>
              <a:rPr lang="zh-CN" altLang="en-US" sz="2800" dirty="0"/>
              <a:t>分开。该问题可以表述为残留噪声的最小化：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仅给定单个输入图像块</a:t>
            </a:r>
            <a:r>
              <a:rPr lang="en-US" altLang="zh-CN" sz="2800" dirty="0"/>
              <a:t>f</a:t>
            </a:r>
            <a:r>
              <a:rPr lang="zh-CN" altLang="en-US" sz="2800" dirty="0"/>
              <a:t>，由于存在</a:t>
            </a:r>
            <a:r>
              <a:rPr lang="en-US" altLang="zh-CN" sz="2800" dirty="0"/>
              <a:t>N</a:t>
            </a:r>
            <a:r>
              <a:rPr lang="zh-CN" altLang="en-US" sz="2800" dirty="0"/>
              <a:t>个等式但对于灰度图像有</a:t>
            </a:r>
            <a:r>
              <a:rPr lang="en-US" altLang="zh-CN" sz="2800" dirty="0"/>
              <a:t>2N+1</a:t>
            </a:r>
            <a:r>
              <a:rPr lang="zh-CN" altLang="en-US" sz="2800" dirty="0"/>
              <a:t>个自由变量（ ？），因此方程式不确定。为了获得方程式上式的唯一且可靠的解决方案，还需要进一步的约束。根据非烟雾和纯烟的视觉特性对 </a:t>
            </a:r>
            <a:r>
              <a:rPr lang="en-US" altLang="zh-CN" sz="2800" dirty="0"/>
              <a:t>b </a:t>
            </a:r>
            <a:r>
              <a:rPr lang="zh-CN" altLang="en-US" sz="2800" dirty="0"/>
              <a:t>和 </a:t>
            </a:r>
            <a:r>
              <a:rPr lang="en-US" altLang="zh-CN" sz="2800" dirty="0"/>
              <a:t>s </a:t>
            </a:r>
            <a:r>
              <a:rPr lang="zh-CN" altLang="en-US" sz="2800" dirty="0"/>
              <a:t>进一步建模（</a:t>
            </a:r>
            <a:r>
              <a:rPr lang="en-US" altLang="zh-CN" sz="2800" dirty="0"/>
              <a:t>w</a:t>
            </a:r>
            <a:r>
              <a:rPr lang="zh-CN" altLang="en-US" sz="2800" dirty="0"/>
              <a:t>看成标量）。</a:t>
            </a:r>
            <a:endParaRPr lang="en-US" altLang="zh-CN" sz="28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A3E890E-8265-4F20-BA1B-4C521F785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382" y="2620680"/>
            <a:ext cx="6895235" cy="69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096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稀疏表示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3508EE-EA28-4849-8EB8-5D135CF1704E}"/>
              </a:ext>
            </a:extLst>
          </p:cNvPr>
          <p:cNvSpPr/>
          <p:nvPr/>
        </p:nvSpPr>
        <p:spPr>
          <a:xfrm>
            <a:off x="1318055" y="1191830"/>
            <a:ext cx="922225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稀疏表示就是用字典中的元素的线性组合尽可能的描述测试样本，要用尽可能少的字典中的元素去描述测试样本。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如果收集或生成烟雾图像以捕获空间中纯烟雾的分布，则可以预期任何特定的纯烟雾图像都将具有稀疏表示。背景成分的稀疏表示同理可得。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13490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稀疏表示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3508EE-EA28-4849-8EB8-5D135CF1704E}"/>
              </a:ext>
            </a:extLst>
          </p:cNvPr>
          <p:cNvSpPr/>
          <p:nvPr/>
        </p:nvSpPr>
        <p:spPr>
          <a:xfrm>
            <a:off x="1318055" y="1191830"/>
            <a:ext cx="955589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我们设计两种字典，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s</a:t>
            </a:r>
            <a:r>
              <a:rPr lang="zh-CN" altLang="en-US" sz="2800" dirty="0"/>
              <a:t>用于纯烟，</a:t>
            </a:r>
            <a:r>
              <a:rPr lang="en-US" altLang="zh-CN" sz="2800" dirty="0"/>
              <a:t>D</a:t>
            </a:r>
            <a:r>
              <a:rPr lang="en-US" altLang="zh-CN" sz="2800" baseline="-25000" dirty="0"/>
              <a:t>b</a:t>
            </a:r>
            <a:r>
              <a:rPr lang="zh-CN" altLang="en-US" sz="2800" dirty="0"/>
              <a:t>用于非烟，使用真实样本对每本词典进行独立训练，以适应特定类型的图像内容。纯烟和无烟的模型如下。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上式</a:t>
            </a:r>
            <a:r>
              <a:rPr lang="en-US" altLang="zh-CN" sz="2800" dirty="0" err="1"/>
              <a:t>M</a:t>
            </a:r>
            <a:r>
              <a:rPr lang="en-US" altLang="zh-CN" sz="2800" baseline="-25000" dirty="0" err="1"/>
              <a:t>s</a:t>
            </a:r>
            <a:r>
              <a:rPr lang="en-US" altLang="zh-CN" sz="2800" dirty="0" err="1"/>
              <a:t>,M</a:t>
            </a:r>
            <a:r>
              <a:rPr lang="en-US" altLang="zh-CN" sz="2800" baseline="-25000" dirty="0" err="1"/>
              <a:t>b</a:t>
            </a:r>
            <a:r>
              <a:rPr lang="zh-CN" altLang="en-US" sz="2800" dirty="0"/>
              <a:t>分别是稀疏系数</a:t>
            </a:r>
            <a:r>
              <a:rPr lang="en-US" altLang="zh-CN" sz="2800" dirty="0" err="1"/>
              <a:t>x</a:t>
            </a:r>
            <a:r>
              <a:rPr lang="en-US" altLang="zh-CN" sz="2800" baseline="-25000" dirty="0" err="1"/>
              <a:t>s</a:t>
            </a:r>
            <a:r>
              <a:rPr lang="zh-CN" altLang="en-US" sz="2800" dirty="0"/>
              <a:t>和</a:t>
            </a:r>
            <a:r>
              <a:rPr lang="en-US" altLang="zh-CN" sz="2800" dirty="0" err="1"/>
              <a:t>x</a:t>
            </a:r>
            <a:r>
              <a:rPr lang="en-US" altLang="zh-CN" sz="2800" baseline="-25000" dirty="0" err="1"/>
              <a:t>b</a:t>
            </a:r>
            <a:r>
              <a:rPr lang="zh-CN" altLang="en-US" sz="2800" dirty="0"/>
              <a:t>非零元素的上限。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两个字典采用离线学习，因此，检测中的大部分计算时间都花费在特征提取的步骤中，即获得表示准烟雾和准背景分量的稀疏系数。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endParaRPr lang="zh-CN" altLang="en-US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endParaRPr lang="zh-CN" altLang="en-US" sz="28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000E1B4-0E2F-4824-9406-438E75A88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832" y="2495691"/>
            <a:ext cx="3688335" cy="54748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6B3C1E2-D719-47B3-9EC8-E672EBEF1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4190" y="2947588"/>
            <a:ext cx="3545282" cy="36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554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稀疏表示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3508EE-EA28-4849-8EB8-5D135CF1704E}"/>
              </a:ext>
            </a:extLst>
          </p:cNvPr>
          <p:cNvSpPr/>
          <p:nvPr/>
        </p:nvSpPr>
        <p:spPr>
          <a:xfrm>
            <a:off x="1318055" y="1191830"/>
            <a:ext cx="955589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代入稀疏系数可以得到优化目标。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其中</a:t>
            </a:r>
            <a:r>
              <a:rPr lang="en-US" altLang="zh-CN" sz="2800" dirty="0"/>
              <a:t>η</a:t>
            </a:r>
            <a:r>
              <a:rPr lang="zh-CN" altLang="en-US" sz="2800" dirty="0"/>
              <a:t>和</a:t>
            </a:r>
            <a:r>
              <a:rPr lang="en-US" altLang="zh-CN" sz="2800" dirty="0"/>
              <a:t>γ</a:t>
            </a:r>
            <a:r>
              <a:rPr lang="zh-CN" altLang="en-US" sz="2800" dirty="0"/>
              <a:t>是正则化参数。使用曼哈顿范数，固定</a:t>
            </a:r>
            <a:r>
              <a:rPr lang="en-US" altLang="zh-CN" sz="2800" dirty="0" err="1"/>
              <a:t>xs,xb,w</a:t>
            </a:r>
            <a:r>
              <a:rPr lang="zh-CN" altLang="en-US" sz="2800" dirty="0"/>
              <a:t>的两个参数时，目标函数成为凸函数，这保证了目标函数的收敛性，并且局部最优即为全局最优。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由于最优的</a:t>
            </a:r>
            <a:r>
              <a:rPr lang="en-US" altLang="zh-CN" sz="2800" dirty="0"/>
              <a:t>ω</a:t>
            </a:r>
            <a:r>
              <a:rPr lang="zh-CN" altLang="en-US" sz="2800" dirty="0"/>
              <a:t>是一个标量，我们总是可以将</a:t>
            </a:r>
            <a:r>
              <a:rPr lang="en-US" altLang="zh-CN" sz="2800" dirty="0" err="1"/>
              <a:t>ωx</a:t>
            </a:r>
            <a:r>
              <a:rPr lang="en-US" altLang="zh-CN" sz="2800" baseline="-25000" dirty="0" err="1"/>
              <a:t>s</a:t>
            </a:r>
            <a:r>
              <a:rPr lang="zh-CN" altLang="en-US" sz="2800" dirty="0"/>
              <a:t>看成</a:t>
            </a:r>
            <a:r>
              <a:rPr lang="en-US" altLang="zh-CN" sz="2800" dirty="0" err="1"/>
              <a:t>y</a:t>
            </a:r>
            <a:r>
              <a:rPr lang="en-US" altLang="zh-CN" sz="2800" baseline="-25000" dirty="0" err="1"/>
              <a:t>s</a:t>
            </a:r>
            <a:r>
              <a:rPr lang="zh-CN" altLang="en-US" sz="2800" dirty="0"/>
              <a:t>，</a:t>
            </a:r>
            <a:r>
              <a:rPr lang="en-US" altLang="zh-CN" sz="2800" dirty="0"/>
              <a:t>(1-ω)</a:t>
            </a:r>
            <a:r>
              <a:rPr lang="en-US" altLang="zh-CN" sz="2800" dirty="0" err="1"/>
              <a:t>x</a:t>
            </a:r>
            <a:r>
              <a:rPr lang="en-US" altLang="zh-CN" sz="2800" baseline="-25000" dirty="0" err="1"/>
              <a:t>b</a:t>
            </a:r>
            <a:r>
              <a:rPr lang="zh-CN" altLang="en-US" sz="2800" dirty="0"/>
              <a:t>看成</a:t>
            </a:r>
            <a:r>
              <a:rPr lang="en-US" altLang="zh-CN" sz="2800" dirty="0" err="1"/>
              <a:t>y</a:t>
            </a:r>
            <a:r>
              <a:rPr lang="en-US" altLang="zh-CN" sz="2800" baseline="-25000" dirty="0" err="1"/>
              <a:t>b</a:t>
            </a:r>
            <a:r>
              <a:rPr lang="zh-CN" altLang="en-US" sz="2800" dirty="0"/>
              <a:t>。唯一的变化是分别将</a:t>
            </a:r>
            <a:r>
              <a:rPr lang="en-US" altLang="zh-CN" sz="2800" dirty="0"/>
              <a:t>γ</a:t>
            </a:r>
            <a:r>
              <a:rPr lang="zh-CN" altLang="en-US" sz="2800" dirty="0"/>
              <a:t>和</a:t>
            </a:r>
            <a:r>
              <a:rPr lang="en-US" altLang="zh-CN" sz="2800" dirty="0"/>
              <a:t>η</a:t>
            </a:r>
            <a:r>
              <a:rPr lang="zh-CN" altLang="en-US" sz="2800" dirty="0"/>
              <a:t>分别缩小</a:t>
            </a:r>
            <a:r>
              <a:rPr lang="en-US" altLang="zh-CN" sz="2800" dirty="0"/>
              <a:t>ω</a:t>
            </a:r>
            <a:r>
              <a:rPr lang="zh-CN" altLang="en-US" sz="2800" dirty="0"/>
              <a:t>和（</a:t>
            </a:r>
            <a:r>
              <a:rPr lang="en-US" altLang="zh-CN" sz="2800" dirty="0"/>
              <a:t>1-ω</a:t>
            </a:r>
            <a:r>
              <a:rPr lang="zh-CN" altLang="en-US" sz="2800" dirty="0"/>
              <a:t>）。这不会显着改变优化的本质，但有助于减小一个未知的</a:t>
            </a:r>
            <a:r>
              <a:rPr lang="en-US" altLang="zh-CN" sz="2800" dirty="0"/>
              <a:t>ω</a:t>
            </a:r>
            <a:r>
              <a:rPr lang="zh-CN" altLang="en-US" sz="2800" dirty="0"/>
              <a:t>，我们交替优化两个参数，由此得到最优解。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endParaRPr lang="zh-CN" altLang="en-US" sz="2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4CC829A-FA46-47B2-A9EE-0B6E777CF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223" y="1766658"/>
            <a:ext cx="7627554" cy="108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720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A847C66-FCA0-4D09-A9C4-22018584C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355" y="561839"/>
            <a:ext cx="5033290" cy="614551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1DB9518-0AE1-4861-818A-3BA36709AC59}"/>
              </a:ext>
            </a:extLst>
          </p:cNvPr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算法流程</a:t>
            </a:r>
          </a:p>
        </p:txBody>
      </p:sp>
    </p:spTree>
    <p:extLst>
      <p:ext uri="{BB962C8B-B14F-4D97-AF65-F5344CB8AC3E}">
        <p14:creationId xmlns:p14="http://schemas.microsoft.com/office/powerpoint/2010/main" val="1565199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烟雾检测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FE7F84-64BD-4783-8E46-9C28E69A544A}"/>
              </a:ext>
            </a:extLst>
          </p:cNvPr>
          <p:cNvSpPr/>
          <p:nvPr/>
        </p:nvSpPr>
        <p:spPr>
          <a:xfrm>
            <a:off x="1206844" y="1995020"/>
            <a:ext cx="955589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给定一个单一图像，以</a:t>
            </a:r>
            <a:r>
              <a:rPr lang="zh-CN" altLang="en-US" sz="2800" b="1" dirty="0"/>
              <a:t>滑动窗口</a:t>
            </a:r>
            <a:r>
              <a:rPr lang="zh-CN" altLang="en-US" sz="2800" dirty="0"/>
              <a:t>方式执行基于块的烟雾检测。根据基于块的检测结果，可以将图像中的每个像素分为烟雾或非烟雾。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此外，通过为</a:t>
            </a:r>
            <a:r>
              <a:rPr lang="en-US" altLang="zh-CN" sz="2800" dirty="0"/>
              <a:t>SVM</a:t>
            </a:r>
            <a:r>
              <a:rPr lang="zh-CN" altLang="en-US" sz="2800" dirty="0"/>
              <a:t>分类器的输出得分设置阈值，可以将每个像素进一步分为三类：可靠烟雾，可靠无烟和不确定。</a:t>
            </a:r>
          </a:p>
        </p:txBody>
      </p:sp>
    </p:spTree>
    <p:extLst>
      <p:ext uri="{BB962C8B-B14F-4D97-AF65-F5344CB8AC3E}">
        <p14:creationId xmlns:p14="http://schemas.microsoft.com/office/powerpoint/2010/main" val="3018802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烟雾分割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FE7F84-64BD-4783-8E46-9C28E69A544A}"/>
              </a:ext>
            </a:extLst>
          </p:cNvPr>
          <p:cNvSpPr/>
          <p:nvPr/>
        </p:nvSpPr>
        <p:spPr>
          <a:xfrm>
            <a:off x="1318055" y="1191830"/>
            <a:ext cx="955589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尽管图像块准烟雾和准背景分量足以检测烟雾，还需要从背景中分离出真实烟雾分量以评估烟雾的强度。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但是无法通过双字典建模实现，因为双字典建模仅对烟雾和背景成分施加了约束，而没有约束与这两个成分耦合的混合参数，对混合参数的估计需要对其进行适当的约束。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考虑到整个图像上逐个像素</a:t>
            </a:r>
            <a:r>
              <a:rPr lang="zh-CN" altLang="en-US" sz="2800" b="1" dirty="0"/>
              <a:t>混合参数</a:t>
            </a:r>
            <a:r>
              <a:rPr lang="zh-CN" altLang="en-US" sz="2800" dirty="0"/>
              <a:t>应该是</a:t>
            </a:r>
            <a:r>
              <a:rPr lang="zh-CN" altLang="en-US" sz="2800" b="1" dirty="0"/>
              <a:t>平滑</a:t>
            </a:r>
            <a:r>
              <a:rPr lang="zh-CN" altLang="en-US" sz="2800" dirty="0"/>
              <a:t>的，从而施加某些</a:t>
            </a:r>
            <a:r>
              <a:rPr lang="zh-CN" altLang="en-US" sz="2800" b="1" dirty="0"/>
              <a:t>约束</a:t>
            </a:r>
            <a:r>
              <a:rPr lang="zh-CN" altLang="en-US" sz="2800" dirty="0"/>
              <a:t>。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316097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烟雾分割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FE7F84-64BD-4783-8E46-9C28E69A544A}"/>
              </a:ext>
            </a:extLst>
          </p:cNvPr>
          <p:cNvSpPr/>
          <p:nvPr/>
        </p:nvSpPr>
        <p:spPr>
          <a:xfrm>
            <a:off x="1318055" y="1191830"/>
            <a:ext cx="955589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对</a:t>
            </a:r>
            <a:r>
              <a:rPr lang="zh-CN" altLang="en-US" sz="2800" b="1" dirty="0"/>
              <a:t>可靠</a:t>
            </a:r>
            <a:r>
              <a:rPr lang="zh-CN" altLang="en-US" sz="2800" dirty="0"/>
              <a:t>的烟雾和非烟雾像素，其混合参数分别接近</a:t>
            </a:r>
            <a:r>
              <a:rPr lang="en-US" altLang="zh-CN" sz="2800" dirty="0"/>
              <a:t>1</a:t>
            </a:r>
            <a:r>
              <a:rPr lang="zh-CN" altLang="en-US" sz="2800" dirty="0"/>
              <a:t>和</a:t>
            </a:r>
            <a:r>
              <a:rPr lang="en-US" altLang="zh-CN" sz="2800" dirty="0"/>
              <a:t>0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对于</a:t>
            </a:r>
            <a:r>
              <a:rPr lang="zh-CN" altLang="en-US" sz="2800" b="1" dirty="0"/>
              <a:t>不确定</a:t>
            </a:r>
            <a:r>
              <a:rPr lang="zh-CN" altLang="en-US" sz="2800" dirty="0"/>
              <a:t>像素，其烟雾、背景成分和混合参数都是未知的。直觉上我们认为</a:t>
            </a:r>
            <a:r>
              <a:rPr lang="zh-CN" altLang="en-US" sz="2800" b="1" dirty="0"/>
              <a:t>空间上接近且视觉上相似的像素应具有相似的混合参数</a:t>
            </a:r>
            <a:r>
              <a:rPr lang="zh-CN" altLang="en-US" sz="2800" dirty="0"/>
              <a:t>，做出以下假设：像素的混合参数可以通过权重相似像素的参数的线性组合来近似，元素间的相似度由相似度函数 </a:t>
            </a:r>
            <a:r>
              <a:rPr lang="en-US" altLang="zh-CN" sz="2800" dirty="0"/>
              <a:t>K(</a:t>
            </a:r>
            <a:r>
              <a:rPr lang="en-US" altLang="zh-CN" sz="2800" dirty="0" err="1"/>
              <a:t>i,j</a:t>
            </a:r>
            <a:r>
              <a:rPr lang="en-US" altLang="zh-CN" sz="2800" dirty="0"/>
              <a:t>) </a:t>
            </a:r>
            <a:r>
              <a:rPr lang="zh-CN" altLang="en-US" sz="2800" dirty="0"/>
              <a:t>给出。</a:t>
            </a:r>
            <a:endParaRPr lang="en-US" altLang="zh-CN" sz="28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C11754C-28C7-414D-8C99-4DF09F2A7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999" y="3954850"/>
            <a:ext cx="6586001" cy="64208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7EABF6A-EDC8-4181-9541-048369206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1452" y="4896864"/>
            <a:ext cx="4129095" cy="131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4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烟雾分割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FE7F84-64BD-4783-8E46-9C28E69A544A}"/>
              </a:ext>
            </a:extLst>
          </p:cNvPr>
          <p:cNvSpPr/>
          <p:nvPr/>
        </p:nvSpPr>
        <p:spPr>
          <a:xfrm>
            <a:off x="1318055" y="1191830"/>
            <a:ext cx="955589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由于可靠烟雾，可靠非烟雾和未知像素之间存在一些</a:t>
            </a:r>
            <a:r>
              <a:rPr lang="zh-CN" altLang="en-US" sz="2800" b="1" dirty="0"/>
              <a:t>误分类</a:t>
            </a:r>
            <a:r>
              <a:rPr lang="zh-CN" altLang="en-US" sz="2800" dirty="0"/>
              <a:t>，为了减少或消除错误分类的像素对相似像素选择过程的不利影响，使用</a:t>
            </a:r>
            <a:r>
              <a:rPr lang="zh-CN" altLang="en-US" sz="2800" b="1" dirty="0"/>
              <a:t>高斯混合模型</a:t>
            </a:r>
            <a:r>
              <a:rPr lang="zh-CN" altLang="en-US" sz="2800" dirty="0"/>
              <a:t>对可靠的烟雾和非烟雾像素进行</a:t>
            </a:r>
            <a:r>
              <a:rPr lang="zh-CN" altLang="en-US" sz="2800" b="1" dirty="0"/>
              <a:t>聚类</a:t>
            </a:r>
            <a:r>
              <a:rPr lang="zh-CN" altLang="en-US" sz="2800" dirty="0"/>
              <a:t>。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像素之间的相似性测量包括</a:t>
            </a:r>
            <a:r>
              <a:rPr lang="zh-CN" altLang="en-US" sz="2800" b="1" dirty="0"/>
              <a:t>光度</a:t>
            </a:r>
            <a:r>
              <a:rPr lang="zh-CN" altLang="en-US" sz="2800" dirty="0"/>
              <a:t>信息和</a:t>
            </a:r>
            <a:r>
              <a:rPr lang="zh-CN" altLang="en-US" sz="2800" b="1" dirty="0"/>
              <a:t>几何</a:t>
            </a:r>
            <a:r>
              <a:rPr lang="zh-CN" altLang="en-US" sz="2800" dirty="0"/>
              <a:t>信息。从像素的灰度值捕获光度信息，像素的空间坐标被视为几何信息。光度和几何信息形成特征向量，并且将在特征空间中执行使用高斯混合模型的聚类。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一旦通过求解方程估计了混合参数和烟气成分，就将它们代入图像形成模型并可以计算背景成分。</a:t>
            </a:r>
          </a:p>
        </p:txBody>
      </p:sp>
    </p:spTree>
    <p:extLst>
      <p:ext uri="{BB962C8B-B14F-4D97-AF65-F5344CB8AC3E}">
        <p14:creationId xmlns:p14="http://schemas.microsoft.com/office/powerpoint/2010/main" val="3663970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Experimental results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FE7F84-64BD-4783-8E46-9C28E69A544A}"/>
              </a:ext>
            </a:extLst>
          </p:cNvPr>
          <p:cNvSpPr/>
          <p:nvPr/>
        </p:nvSpPr>
        <p:spPr>
          <a:xfrm>
            <a:off x="1318055" y="1191830"/>
            <a:ext cx="955589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本文进行了以下实验：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目测评估准烟和准背景成分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对烟雾和非烟雾图像块进行二元分类，以评估新特征的有效性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根据新特征对重烟，轻烟和无烟进行分类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对具有挑战性的图像（例如雾）进行评估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烟雾分割</a:t>
            </a:r>
          </a:p>
        </p:txBody>
      </p:sp>
    </p:spTree>
    <p:extLst>
      <p:ext uri="{BB962C8B-B14F-4D97-AF65-F5344CB8AC3E}">
        <p14:creationId xmlns:p14="http://schemas.microsoft.com/office/powerpoint/2010/main" val="1930467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4B11BF"/>
                </a:solidFill>
              </a:rPr>
              <a:t>Data sets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FE7F84-64BD-4783-8E46-9C28E69A544A}"/>
              </a:ext>
            </a:extLst>
          </p:cNvPr>
          <p:cNvSpPr/>
          <p:nvPr/>
        </p:nvSpPr>
        <p:spPr>
          <a:xfrm>
            <a:off x="1318055" y="1191830"/>
            <a:ext cx="955589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为上述实验构建了</a:t>
            </a:r>
            <a:r>
              <a:rPr lang="zh-CN" altLang="en-US" sz="2800" b="1" dirty="0"/>
              <a:t>五个数据集</a:t>
            </a:r>
            <a:r>
              <a:rPr lang="en-US" altLang="zh-CN" sz="2800" dirty="0"/>
              <a:t>: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dirty="0"/>
              <a:t>DS1</a:t>
            </a:r>
            <a:r>
              <a:rPr lang="zh-CN" altLang="en-US" sz="2800" dirty="0"/>
              <a:t>：</a:t>
            </a:r>
            <a:r>
              <a:rPr lang="en-US" altLang="zh-CN" sz="2800" dirty="0"/>
              <a:t>1000</a:t>
            </a:r>
            <a:r>
              <a:rPr lang="zh-CN" altLang="en-US" sz="2800" dirty="0"/>
              <a:t>张</a:t>
            </a:r>
            <a:r>
              <a:rPr lang="zh-CN" altLang="en-US" sz="2800" b="1" dirty="0"/>
              <a:t>纯烟雾</a:t>
            </a:r>
            <a:r>
              <a:rPr lang="zh-CN" altLang="en-US" sz="2800" dirty="0"/>
              <a:t>图像组成，用于学习</a:t>
            </a:r>
            <a:r>
              <a:rPr lang="en-US" altLang="zh-CN" sz="2800" dirty="0"/>
              <a:t>Ds</a:t>
            </a:r>
            <a:r>
              <a:rPr lang="zh-CN" altLang="en-US" sz="2800" dirty="0"/>
              <a:t>，用</a:t>
            </a:r>
            <a:r>
              <a:rPr lang="en-US" altLang="zh-CN" sz="2800" dirty="0"/>
              <a:t>K-SVD </a:t>
            </a:r>
            <a:r>
              <a:rPr lang="zh-CN" altLang="en-US" sz="2800" dirty="0"/>
              <a:t>进行字典学习。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dirty="0"/>
              <a:t>DS2</a:t>
            </a:r>
            <a:r>
              <a:rPr lang="zh-CN" altLang="en-US" sz="2800" dirty="0"/>
              <a:t>：从</a:t>
            </a:r>
            <a:r>
              <a:rPr lang="en-US" altLang="zh-CN" sz="2800" dirty="0"/>
              <a:t>CIFAR-100</a:t>
            </a:r>
            <a:r>
              <a:rPr lang="zh-CN" altLang="en-US" sz="2800" dirty="0"/>
              <a:t>数据集随机裁剪</a:t>
            </a:r>
            <a:r>
              <a:rPr lang="en-US" altLang="zh-CN" sz="2800" dirty="0"/>
              <a:t>60000</a:t>
            </a:r>
            <a:r>
              <a:rPr lang="zh-CN" altLang="en-US" sz="2800" dirty="0"/>
              <a:t>个</a:t>
            </a:r>
            <a:r>
              <a:rPr lang="zh-CN" altLang="en-US" sz="2800" b="1" dirty="0"/>
              <a:t>非烟雾</a:t>
            </a:r>
            <a:r>
              <a:rPr lang="zh-CN" altLang="en-US" sz="2800" dirty="0"/>
              <a:t>图像组成，用于学习</a:t>
            </a:r>
            <a:r>
              <a:rPr lang="en-US" altLang="zh-CN" sz="2800" dirty="0"/>
              <a:t>Db</a:t>
            </a:r>
            <a:r>
              <a:rPr lang="zh-CN" altLang="en-US" sz="2800" dirty="0"/>
              <a:t>。 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dirty="0"/>
              <a:t>DS3</a:t>
            </a:r>
            <a:r>
              <a:rPr lang="zh-CN" altLang="en-US" sz="2800" dirty="0"/>
              <a:t>：</a:t>
            </a:r>
            <a:r>
              <a:rPr lang="zh-CN" altLang="en-US" sz="2800" b="1" dirty="0"/>
              <a:t>常规烟雾</a:t>
            </a:r>
            <a:r>
              <a:rPr lang="zh-CN" altLang="en-US" sz="2800" dirty="0"/>
              <a:t>图像，测试检测算法。包含</a:t>
            </a:r>
            <a:r>
              <a:rPr lang="en-US" altLang="zh-CN" sz="2800" dirty="0"/>
              <a:t>5000</a:t>
            </a:r>
            <a:r>
              <a:rPr lang="zh-CN" altLang="en-US" sz="2800" dirty="0"/>
              <a:t>个图像，对</a:t>
            </a:r>
            <a:r>
              <a:rPr lang="en-US" altLang="zh-CN" sz="2800" dirty="0"/>
              <a:t>25</a:t>
            </a:r>
            <a:r>
              <a:rPr lang="zh-CN" altLang="en-US" sz="2800" dirty="0"/>
              <a:t>个公开烟雾视频手动裁剪获得，涵盖室内室外、长短距离。一半是浓烟，另一半是轻烟。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dirty="0"/>
              <a:t>DS4</a:t>
            </a:r>
            <a:r>
              <a:rPr lang="zh-CN" altLang="en-US" sz="2800" dirty="0"/>
              <a:t>：</a:t>
            </a:r>
            <a:r>
              <a:rPr lang="zh-CN" altLang="en-US" sz="2800" b="1" dirty="0"/>
              <a:t>常规非烟雾</a:t>
            </a:r>
            <a:r>
              <a:rPr lang="zh-CN" altLang="en-US" sz="2800" dirty="0"/>
              <a:t>图像，测试检测算法。从</a:t>
            </a:r>
            <a:r>
              <a:rPr lang="en-US" altLang="zh-CN" sz="2800" dirty="0"/>
              <a:t>15</a:t>
            </a:r>
            <a:r>
              <a:rPr lang="zh-CN" altLang="en-US" sz="2800" dirty="0"/>
              <a:t>个场景数据集随机裁剪得到</a:t>
            </a:r>
            <a:r>
              <a:rPr lang="en-US" altLang="zh-CN" sz="2800" dirty="0"/>
              <a:t>5000</a:t>
            </a:r>
            <a:r>
              <a:rPr lang="zh-CN" altLang="en-US" sz="2800" dirty="0"/>
              <a:t>张图像。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dirty="0"/>
              <a:t>DS5</a:t>
            </a:r>
            <a:r>
              <a:rPr lang="zh-CN" altLang="en-US" sz="2800" dirty="0"/>
              <a:t>：</a:t>
            </a:r>
            <a:r>
              <a:rPr lang="zh-CN" altLang="en-US" sz="2800" b="1" dirty="0"/>
              <a:t>有挑战性的非烟雾图像</a:t>
            </a:r>
            <a:r>
              <a:rPr lang="zh-CN" altLang="en-US" sz="2800" dirty="0"/>
              <a:t>，挑战来自烟雾形成过程（雾</a:t>
            </a:r>
            <a:r>
              <a:rPr lang="en-US" altLang="zh-CN" sz="2800" dirty="0"/>
              <a:t>/</a:t>
            </a:r>
            <a:r>
              <a:rPr lang="zh-CN" altLang="en-US" sz="2800" dirty="0"/>
              <a:t>霾），透明度（阴影</a:t>
            </a:r>
            <a:r>
              <a:rPr lang="en-US" altLang="zh-CN" sz="2800" dirty="0"/>
              <a:t>/</a:t>
            </a:r>
            <a:r>
              <a:rPr lang="zh-CN" altLang="en-US" sz="2800" dirty="0"/>
              <a:t>玻璃）和同质性（天空</a:t>
            </a:r>
            <a:r>
              <a:rPr lang="en-US" altLang="zh-CN" sz="2800" dirty="0"/>
              <a:t>/</a:t>
            </a:r>
            <a:r>
              <a:rPr lang="zh-CN" altLang="en-US" sz="2800" dirty="0"/>
              <a:t>墙）。</a:t>
            </a:r>
          </a:p>
        </p:txBody>
      </p:sp>
    </p:spTree>
    <p:extLst>
      <p:ext uri="{BB962C8B-B14F-4D97-AF65-F5344CB8AC3E}">
        <p14:creationId xmlns:p14="http://schemas.microsoft.com/office/powerpoint/2010/main" val="1187059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准烟雾和准背景的分离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F820B07-A321-4A2C-A070-B243A250F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64" y="1888097"/>
            <a:ext cx="10579071" cy="347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041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精度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FB77CB3-8143-4500-9BF8-58B1DD34C3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2629"/>
          <a:stretch/>
        </p:blipFill>
        <p:spPr>
          <a:xfrm>
            <a:off x="1389034" y="1396313"/>
            <a:ext cx="9413932" cy="88968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704B1F0-9C2A-4120-BD25-8C9BA9E48B0D}"/>
              </a:ext>
            </a:extLst>
          </p:cNvPr>
          <p:cNvSpPr/>
          <p:nvPr/>
        </p:nvSpPr>
        <p:spPr>
          <a:xfrm>
            <a:off x="1318053" y="2625214"/>
            <a:ext cx="955589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dirty="0"/>
              <a:t>LBP</a:t>
            </a:r>
            <a:r>
              <a:rPr lang="zh-CN" altLang="en-US" sz="2800" dirty="0"/>
              <a:t>：从原始图像块 </a:t>
            </a:r>
            <a:r>
              <a:rPr lang="en-US" altLang="zh-CN" sz="2800" dirty="0"/>
              <a:t>f </a:t>
            </a:r>
            <a:r>
              <a:rPr lang="zh-CN" altLang="en-US" sz="2800" dirty="0"/>
              <a:t>中提取的纹理特征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dirty="0"/>
              <a:t>LBPS</a:t>
            </a:r>
            <a:r>
              <a:rPr lang="zh-CN" altLang="en-US" sz="2800" dirty="0"/>
              <a:t>：准烟雾提取的纹理特征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dirty="0"/>
              <a:t>LBPC</a:t>
            </a:r>
            <a:r>
              <a:rPr lang="zh-CN" altLang="en-US" sz="2800" dirty="0"/>
              <a:t>：将分别从准烟雾和准背景提取的</a:t>
            </a:r>
            <a:r>
              <a:rPr lang="en-US" altLang="zh-CN" sz="2800" dirty="0"/>
              <a:t>LBP</a:t>
            </a:r>
            <a:r>
              <a:rPr lang="zh-CN" altLang="en-US" sz="2800" dirty="0"/>
              <a:t>特征级联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zh-CN" sz="2800" dirty="0"/>
              <a:t>SC</a:t>
            </a:r>
            <a:r>
              <a:rPr lang="zh-CN" altLang="en-US" sz="2800" dirty="0"/>
              <a:t>：新特征（级联的稀疏系数</a:t>
            </a:r>
            <a:r>
              <a:rPr lang="en-US" altLang="zh-CN" sz="2800" dirty="0" err="1"/>
              <a:t>yb</a:t>
            </a:r>
            <a:r>
              <a:rPr lang="zh-CN" altLang="en-US" sz="2800" dirty="0"/>
              <a:t>和</a:t>
            </a:r>
            <a:r>
              <a:rPr lang="en-US" altLang="zh-CN" sz="2800" dirty="0" err="1"/>
              <a:t>ys</a:t>
            </a:r>
            <a:r>
              <a:rPr lang="zh-CN" altLang="en-US" sz="2800" dirty="0"/>
              <a:t>）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155248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E940575-5CA7-4EB1-B851-1011FF352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863" y="3002694"/>
            <a:ext cx="7538274" cy="384647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混淆矩阵和</a:t>
            </a:r>
            <a:r>
              <a:rPr lang="en-US" altLang="zh-CN" sz="2800" dirty="0">
                <a:solidFill>
                  <a:srgbClr val="4B11BF"/>
                </a:solidFill>
              </a:rPr>
              <a:t>ROC</a:t>
            </a:r>
            <a:r>
              <a:rPr lang="zh-CN" altLang="en-US" sz="2800" dirty="0">
                <a:solidFill>
                  <a:srgbClr val="4B11BF"/>
                </a:solidFill>
              </a:rPr>
              <a:t>曲线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26B1F31-B723-4B11-AB2A-A825FEA486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2124"/>
          <a:stretch/>
        </p:blipFill>
        <p:spPr>
          <a:xfrm>
            <a:off x="2996712" y="1156768"/>
            <a:ext cx="6188446" cy="196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471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有烟、无烟二元分类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11B3A7A-9C9C-4802-B688-F950A4E4D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954" y="1054224"/>
            <a:ext cx="6057655" cy="447661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971A3F3-E7BC-486F-AE5D-DF6C5F7FE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6834" y="5600855"/>
            <a:ext cx="7958332" cy="88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373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3A8219E-07DD-4736-A92D-34236C18E68F}"/>
              </a:ext>
            </a:extLst>
          </p:cNvPr>
          <p:cNvSpPr/>
          <p:nvPr/>
        </p:nvSpPr>
        <p:spPr>
          <a:xfrm>
            <a:off x="1318053" y="1253615"/>
            <a:ext cx="955589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常规烟雾数据集包括</a:t>
            </a:r>
            <a:r>
              <a:rPr lang="en-US" altLang="zh-CN" sz="2800" dirty="0"/>
              <a:t>4000</a:t>
            </a:r>
            <a:r>
              <a:rPr lang="zh-CN" altLang="en-US" sz="2800" dirty="0"/>
              <a:t>个图像块，一半为烟雾（重或轻），其余非烟雾。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同样进行</a:t>
            </a:r>
            <a:r>
              <a:rPr lang="en-US" altLang="zh-CN" sz="2800" dirty="0"/>
              <a:t>5</a:t>
            </a:r>
            <a:r>
              <a:rPr lang="zh-CN" altLang="en-US" sz="2800" dirty="0"/>
              <a:t>次交叉验证，常规视频检测算法准确性为</a:t>
            </a:r>
            <a:r>
              <a:rPr lang="en-US" altLang="zh-CN" sz="2800" dirty="0"/>
              <a:t>92.8</a:t>
            </a:r>
            <a:r>
              <a:rPr lang="zh-CN" altLang="en-US" sz="2800" dirty="0"/>
              <a:t>％，基于图像帧的检测算法准确性为</a:t>
            </a:r>
            <a:r>
              <a:rPr lang="en-US" altLang="zh-CN" sz="2800" dirty="0"/>
              <a:t>86.3</a:t>
            </a:r>
            <a:r>
              <a:rPr lang="zh-CN" altLang="en-US" sz="2800" dirty="0"/>
              <a:t>％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由于视频是由固定摄像机捕获的，通过背景建模使用时间信息来估计背景分量，因此视频检测的方法效果会更好。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对于相机的小抖动。对于运行时间，常规视频检测的方法需要</a:t>
            </a:r>
            <a:r>
              <a:rPr lang="en-US" altLang="zh-CN" sz="2800" dirty="0"/>
              <a:t>0.75</a:t>
            </a:r>
            <a:r>
              <a:rPr lang="zh-CN" altLang="en-US" sz="2800" dirty="0"/>
              <a:t>秒来处理图像，基于帧的检测方法需要</a:t>
            </a:r>
            <a:r>
              <a:rPr lang="en-US" altLang="zh-CN" sz="2800" dirty="0"/>
              <a:t>0.3</a:t>
            </a:r>
            <a:r>
              <a:rPr lang="zh-CN" altLang="en-US" sz="2800" dirty="0"/>
              <a:t>处理相同大小的图像。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4893FD-41FC-4F56-9D67-09EF92D27E8D}"/>
              </a:ext>
            </a:extLst>
          </p:cNvPr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有烟、无烟二元分类</a:t>
            </a:r>
          </a:p>
        </p:txBody>
      </p:sp>
    </p:spTree>
    <p:extLst>
      <p:ext uri="{BB962C8B-B14F-4D97-AF65-F5344CB8AC3E}">
        <p14:creationId xmlns:p14="http://schemas.microsoft.com/office/powerpoint/2010/main" val="2866752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重烟、轻烟和无烟三元分类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B9CBD87-3E17-41E1-842B-9BB173E7C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790" y="1489580"/>
            <a:ext cx="9206419" cy="425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038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83D27AE-8712-4143-9DD3-99982A24A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86" y="1722824"/>
            <a:ext cx="10422827" cy="36029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6449912-DF64-403A-A8C1-5B8284829C3E}"/>
              </a:ext>
            </a:extLst>
          </p:cNvPr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重烟、轻烟和无烟三元分类</a:t>
            </a:r>
          </a:p>
        </p:txBody>
      </p:sp>
    </p:spTree>
    <p:extLst>
      <p:ext uri="{BB962C8B-B14F-4D97-AF65-F5344CB8AC3E}">
        <p14:creationId xmlns:p14="http://schemas.microsoft.com/office/powerpoint/2010/main" val="3457998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6449912-DF64-403A-A8C1-5B8284829C3E}"/>
              </a:ext>
            </a:extLst>
          </p:cNvPr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区分有挑战的非烟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51752F0-79E1-40F7-8423-A02F72272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362" y="1071166"/>
            <a:ext cx="8059275" cy="551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239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6449912-DF64-403A-A8C1-5B8284829C3E}"/>
              </a:ext>
            </a:extLst>
          </p:cNvPr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分类器设计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22D78D-6210-4B41-805D-3711A4461E0A}"/>
              </a:ext>
            </a:extLst>
          </p:cNvPr>
          <p:cNvSpPr/>
          <p:nvPr/>
        </p:nvSpPr>
        <p:spPr>
          <a:xfrm>
            <a:off x="1318053" y="1253615"/>
            <a:ext cx="955589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到目前为止，我们验证了</a:t>
            </a:r>
            <a:r>
              <a:rPr lang="en-US" altLang="zh-CN" sz="2800" b="1" dirty="0"/>
              <a:t>SC</a:t>
            </a:r>
            <a:r>
              <a:rPr lang="zh-CN" altLang="en-US" sz="2800" dirty="0"/>
              <a:t>特征可以有效地区分有烟无烟二元分类，重轻无烟三元分类，以及有挑战性的非烟雾类别。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我们知道一个能够很好地将烟雾与普通非烟雾区分开的分类器，可能无法有效地将烟雾与挑战性非烟雾进行分类，也就是说烟雾分类存在着所谓的专业壁垒。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因此考虑优先在第一阶段滤除常见的非烟雾，然后在第二阶段进一步区分烟雾和具有挑战性的非烟雾。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23371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922D78D-6210-4B41-805D-3711A4461E0A}"/>
              </a:ext>
            </a:extLst>
          </p:cNvPr>
          <p:cNvSpPr/>
          <p:nvPr/>
        </p:nvSpPr>
        <p:spPr>
          <a:xfrm>
            <a:off x="811426" y="1253615"/>
            <a:ext cx="1056914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使用</a:t>
            </a:r>
            <a:r>
              <a:rPr lang="en-US" altLang="zh-CN" sz="2800" dirty="0"/>
              <a:t>SC</a:t>
            </a:r>
            <a:r>
              <a:rPr lang="zh-CN" altLang="en-US" sz="2800" dirty="0"/>
              <a:t>特征训练了五个</a:t>
            </a:r>
            <a:r>
              <a:rPr lang="en-US" altLang="zh-CN" sz="2800" dirty="0"/>
              <a:t>SVM</a:t>
            </a:r>
            <a:r>
              <a:rPr lang="zh-CN" altLang="en-US" sz="2800" dirty="0"/>
              <a:t>（下面列出）：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分类器</a:t>
            </a:r>
            <a:r>
              <a:rPr lang="en-US" altLang="zh-CN" sz="2800" dirty="0"/>
              <a:t>1</a:t>
            </a:r>
            <a:r>
              <a:rPr lang="zh-CN" altLang="en-US" sz="2800" dirty="0"/>
              <a:t>：有烟、无烟二元分类器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分类器</a:t>
            </a:r>
            <a:r>
              <a:rPr lang="en-US" altLang="zh-CN" sz="2800" dirty="0"/>
              <a:t>2</a:t>
            </a:r>
            <a:r>
              <a:rPr lang="zh-CN" altLang="en-US" sz="2800" dirty="0"/>
              <a:t>：有烟、挑战性非烟二元分类器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分类器</a:t>
            </a:r>
            <a:r>
              <a:rPr lang="en-US" altLang="zh-CN" sz="2800" dirty="0"/>
              <a:t>3</a:t>
            </a:r>
            <a:r>
              <a:rPr lang="zh-CN" altLang="en-US" sz="2800" dirty="0"/>
              <a:t>：有烟、无烟（常规无烟，挑战性非烟）二元分类器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分类器</a:t>
            </a:r>
            <a:r>
              <a:rPr lang="en-US" altLang="zh-CN" sz="2800" dirty="0"/>
              <a:t>4</a:t>
            </a:r>
            <a:r>
              <a:rPr lang="zh-CN" altLang="en-US" sz="2800" dirty="0"/>
              <a:t>：有烟、常规无烟、挑战性非烟三元分类器</a:t>
            </a:r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分类器</a:t>
            </a:r>
            <a:r>
              <a:rPr lang="en-US" altLang="zh-CN" sz="2800" dirty="0"/>
              <a:t>5</a:t>
            </a:r>
            <a:r>
              <a:rPr lang="zh-CN" altLang="en-US" sz="2800" dirty="0"/>
              <a:t>：（有烟，挑战性非烟）、常规无烟二元分类器（有烟和挑战性非烟被视为来自同一类别）？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分类器</a:t>
            </a:r>
            <a:r>
              <a:rPr lang="en-US" altLang="zh-CN" sz="2800" dirty="0"/>
              <a:t>6</a:t>
            </a:r>
            <a:r>
              <a:rPr lang="zh-CN" altLang="en-US" sz="2800" dirty="0"/>
              <a:t>：分类器</a:t>
            </a:r>
            <a:r>
              <a:rPr lang="en-US" altLang="zh-CN" sz="2800" dirty="0"/>
              <a:t>1</a:t>
            </a:r>
            <a:r>
              <a:rPr lang="zh-CN" altLang="en-US" sz="2800" dirty="0"/>
              <a:t>、</a:t>
            </a:r>
            <a:r>
              <a:rPr lang="en-US" altLang="zh-CN" sz="2800" dirty="0"/>
              <a:t>2</a:t>
            </a:r>
            <a:r>
              <a:rPr lang="zh-CN" altLang="en-US" sz="2800" dirty="0"/>
              <a:t>的串联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分类器</a:t>
            </a:r>
            <a:r>
              <a:rPr lang="en-US" altLang="zh-CN" sz="2800" dirty="0"/>
              <a:t>7</a:t>
            </a:r>
            <a:r>
              <a:rPr lang="zh-CN" altLang="en-US" sz="2800" dirty="0"/>
              <a:t>：分类器</a:t>
            </a:r>
            <a:r>
              <a:rPr lang="en-US" altLang="zh-CN" sz="2800" dirty="0"/>
              <a:t>5</a:t>
            </a:r>
            <a:r>
              <a:rPr lang="zh-CN" altLang="en-US" sz="2800" dirty="0"/>
              <a:t>、</a:t>
            </a:r>
            <a:r>
              <a:rPr lang="en-US" altLang="zh-CN" sz="2800" dirty="0"/>
              <a:t>2</a:t>
            </a:r>
            <a:r>
              <a:rPr lang="zh-CN" altLang="en-US" sz="2800" dirty="0"/>
              <a:t>的串联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299E0F-0E71-433C-94D0-F4FB59681DCC}"/>
              </a:ext>
            </a:extLst>
          </p:cNvPr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分类器设计</a:t>
            </a:r>
          </a:p>
        </p:txBody>
      </p:sp>
    </p:spTree>
    <p:extLst>
      <p:ext uri="{BB962C8B-B14F-4D97-AF65-F5344CB8AC3E}">
        <p14:creationId xmlns:p14="http://schemas.microsoft.com/office/powerpoint/2010/main" val="1780335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97BB884-7F1B-4459-A7D6-00107A167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651" y="2748222"/>
            <a:ext cx="7860698" cy="402463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922D78D-6210-4B41-805D-3711A4461E0A}"/>
              </a:ext>
            </a:extLst>
          </p:cNvPr>
          <p:cNvSpPr/>
          <p:nvPr/>
        </p:nvSpPr>
        <p:spPr>
          <a:xfrm>
            <a:off x="1256269" y="1044114"/>
            <a:ext cx="1056914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七个分类器的</a:t>
            </a:r>
            <a:r>
              <a:rPr lang="en-US" altLang="zh-CN" sz="2800" dirty="0"/>
              <a:t>ROC</a:t>
            </a:r>
            <a:r>
              <a:rPr lang="zh-CN" altLang="en-US" sz="2800" dirty="0"/>
              <a:t>曲线如图</a:t>
            </a:r>
            <a:r>
              <a:rPr lang="en-US" altLang="zh-CN" sz="2800" dirty="0"/>
              <a:t>8</a:t>
            </a:r>
            <a:r>
              <a:rPr lang="zh-CN" altLang="en-US" sz="2800" dirty="0"/>
              <a:t>所示。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树结构分类器</a:t>
            </a:r>
            <a:r>
              <a:rPr lang="en-US" altLang="zh-CN" sz="2800" dirty="0"/>
              <a:t>6</a:t>
            </a:r>
            <a:r>
              <a:rPr lang="zh-CN" altLang="en-US" sz="2800" dirty="0"/>
              <a:t>和</a:t>
            </a:r>
            <a:r>
              <a:rPr lang="en-US" altLang="zh-CN" sz="2800" dirty="0"/>
              <a:t>7</a:t>
            </a:r>
            <a:r>
              <a:rPr lang="zh-CN" altLang="en-US" sz="2800" dirty="0"/>
              <a:t>优于单个分类器，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分类器</a:t>
            </a:r>
            <a:r>
              <a:rPr lang="en-US" altLang="zh-CN" sz="2800" dirty="0"/>
              <a:t>7</a:t>
            </a:r>
            <a:r>
              <a:rPr lang="zh-CN" altLang="en-US" sz="2800" dirty="0"/>
              <a:t>性能最佳，分类器</a:t>
            </a:r>
            <a:r>
              <a:rPr lang="en-US" altLang="zh-CN" sz="2800" dirty="0"/>
              <a:t>2</a:t>
            </a:r>
            <a:r>
              <a:rPr lang="zh-CN" altLang="en-US" sz="2800" dirty="0"/>
              <a:t>性能最差。？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分类器</a:t>
            </a:r>
            <a:r>
              <a:rPr lang="en-US" altLang="zh-CN" sz="2800" dirty="0"/>
              <a:t>7</a:t>
            </a:r>
            <a:r>
              <a:rPr lang="zh-CN" altLang="en-US" sz="2800" dirty="0"/>
              <a:t>最佳表明</a:t>
            </a:r>
            <a:r>
              <a:rPr lang="en-US" altLang="zh-CN" sz="2800" dirty="0"/>
              <a:t>SC</a:t>
            </a:r>
            <a:r>
              <a:rPr lang="zh-CN" altLang="en-US" sz="2800" dirty="0"/>
              <a:t>特征对于单图像烟雾检测的有效性。？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641FDF-2CAA-4376-A765-8ED83A70AE9F}"/>
              </a:ext>
            </a:extLst>
          </p:cNvPr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分类器设计</a:t>
            </a:r>
          </a:p>
        </p:txBody>
      </p:sp>
    </p:spTree>
    <p:extLst>
      <p:ext uri="{BB962C8B-B14F-4D97-AF65-F5344CB8AC3E}">
        <p14:creationId xmlns:p14="http://schemas.microsoft.com/office/powerpoint/2010/main" val="17808493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9641FDF-2CAA-4376-A765-8ED83A70AE9F}"/>
              </a:ext>
            </a:extLst>
          </p:cNvPr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单帧烟雾检测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0898B5-F2C4-4C3F-AB24-561552C21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084" y="98857"/>
            <a:ext cx="8047748" cy="672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9451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9641FDF-2CAA-4376-A765-8ED83A70AE9F}"/>
              </a:ext>
            </a:extLst>
          </p:cNvPr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单帧烟雾分割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74D7384-73C7-4B68-885E-4BAA0E645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365" y="275515"/>
            <a:ext cx="5137279" cy="657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1302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9641FDF-2CAA-4376-A765-8ED83A70AE9F}"/>
              </a:ext>
            </a:extLst>
          </p:cNvPr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单帧烟雾分割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B20789-FD23-4A2C-8434-C29E2851E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58" y="1037967"/>
            <a:ext cx="10812684" cy="568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1598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9641FDF-2CAA-4376-A765-8ED83A70AE9F}"/>
              </a:ext>
            </a:extLst>
          </p:cNvPr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单帧烟雾分割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A217847-EA82-4380-8800-EFCAA9B74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060" y="956095"/>
            <a:ext cx="9311879" cy="586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2443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9641FDF-2CAA-4376-A765-8ED83A70AE9F}"/>
              </a:ext>
            </a:extLst>
          </p:cNvPr>
          <p:cNvSpPr txBox="1"/>
          <p:nvPr/>
        </p:nvSpPr>
        <p:spPr>
          <a:xfrm>
            <a:off x="1456298" y="275515"/>
            <a:ext cx="6538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总结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F205CE-F6BA-495F-BA81-2EBE421854DF}"/>
              </a:ext>
            </a:extLst>
          </p:cNvPr>
          <p:cNvSpPr/>
          <p:nvPr/>
        </p:nvSpPr>
        <p:spPr>
          <a:xfrm>
            <a:off x="1256270" y="1377185"/>
            <a:ext cx="967946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目的：从单个图像帧中检测和分离烟雾。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成果：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基于成像模型，使用双字典构造准烟雾和准背景成分，新特征构造为烟雾和背景的稀疏系数的级联，实现烟雾检测；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基于图像消光概念，实现烟雾分割；</a:t>
            </a:r>
            <a:endParaRPr lang="en-US" altLang="zh-CN" sz="2800" dirty="0"/>
          </a:p>
          <a:p>
            <a:pPr marL="914400" lvl="1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区分了烟雾和有挑战性的非烟。</a:t>
            </a:r>
            <a:endParaRPr lang="en-US" altLang="zh-CN" sz="28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zh-CN" altLang="en-US" sz="2800" dirty="0"/>
              <a:t>扩展：可用于检测和分离透明或半透明和可变形的物体。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335369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4225</TotalTime>
  <Words>3705</Words>
  <Application>Microsoft Office PowerPoint</Application>
  <PresentationFormat>宽屏</PresentationFormat>
  <Paragraphs>196</Paragraphs>
  <Slides>36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Wingdings</vt:lpstr>
      <vt:lpstr>等线</vt:lpstr>
      <vt:lpstr>Arial</vt:lpstr>
      <vt:lpstr>Segoe UI</vt:lpstr>
      <vt:lpstr>Rockwell</vt:lpstr>
      <vt:lpstr>微软雅黑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t xx</cp:lastModifiedBy>
  <cp:revision>2107</cp:revision>
  <dcterms:created xsi:type="dcterms:W3CDTF">2015-08-18T02:51:00Z</dcterms:created>
  <dcterms:modified xsi:type="dcterms:W3CDTF">2020-03-05T05:53:49Z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2052-10.8.2.6949</vt:lpwstr>
  </property>
</Properties>
</file>