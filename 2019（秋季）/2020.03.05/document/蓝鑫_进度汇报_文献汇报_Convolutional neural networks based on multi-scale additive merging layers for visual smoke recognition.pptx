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304" r:id="rId3"/>
    <p:sldId id="323" r:id="rId4"/>
    <p:sldId id="324" r:id="rId5"/>
    <p:sldId id="325" r:id="rId6"/>
    <p:sldId id="327" r:id="rId7"/>
    <p:sldId id="326" r:id="rId8"/>
  </p:sldIdLst>
  <p:sldSz cx="12192000" cy="6858000"/>
  <p:notesSz cx="7104063" cy="10234613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39">
          <p15:clr>
            <a:srgbClr val="A4A3A4"/>
          </p15:clr>
        </p15:guide>
        <p15:guide id="2" pos="29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/>
    <p:restoredTop sz="94660"/>
  </p:normalViewPr>
  <p:slideViewPr>
    <p:cSldViewPr snapToGrid="0" showGuides="1">
      <p:cViewPr varScale="1">
        <p:scale>
          <a:sx n="87" d="100"/>
          <a:sy n="87" d="100"/>
        </p:scale>
        <p:origin x="480" y="106"/>
      </p:cViewPr>
      <p:guideLst>
        <p:guide orient="horz" pos="2139"/>
        <p:guide pos="297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D2A48B96-639E-45A3-A0BA-2464DFDB1FAA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pPr fontAlgn="auto"/>
              <a:t>2020/3/5</a:t>
            </a:fld>
            <a:endParaRPr lang="zh-CN" altLang="en-US" strike="noStrike" noProof="1"/>
          </a:p>
        </p:txBody>
      </p:sp>
      <p:sp>
        <p:nvSpPr>
          <p:cNvPr id="2052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53" name="备注占位符 4"/>
          <p:cNvSpPr>
            <a:spLocks noGrp="1"/>
          </p:cNvSpPr>
          <p:nvPr>
            <p:ph type="body" sz="quarter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 indent="0"/>
            <a:r>
              <a:rPr lang="zh-CN" altLang="en-US"/>
              <a:t>第二级</a:t>
            </a:r>
          </a:p>
          <a:p>
            <a:pPr lvl="2" indent="0"/>
            <a:r>
              <a:rPr lang="zh-CN" altLang="en-US"/>
              <a:t>第三级</a:t>
            </a:r>
          </a:p>
          <a:p>
            <a:pPr lvl="3" indent="0"/>
            <a:r>
              <a:rPr lang="zh-CN" altLang="en-US"/>
              <a:t>第四级</a:t>
            </a:r>
          </a:p>
          <a:p>
            <a:pPr lvl="4" indent="0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A6837353-30EB-4A48-80EB-173D804AEFBD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pPr fontAlgn="auto"/>
              <a:t>‹#›</a:t>
            </a:fld>
            <a:endParaRPr lang="zh-CN" altLang="en-US" strike="noStrike" noProof="1"/>
          </a:p>
        </p:txBody>
      </p:sp>
    </p:spTree>
    <p:extLst>
      <p:ext uri="{BB962C8B-B14F-4D97-AF65-F5344CB8AC3E}">
        <p14:creationId xmlns:p14="http://schemas.microsoft.com/office/powerpoint/2010/main" val="336982007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 userDrawn="1"/>
        </p:nvSpPr>
        <p:spPr>
          <a:xfrm>
            <a:off x="-25082" y="383589"/>
            <a:ext cx="678815" cy="704906"/>
          </a:xfrm>
          <a:prstGeom prst="ellipse">
            <a:avLst/>
          </a:prstGeom>
          <a:solidFill>
            <a:srgbClr val="D9D9D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8" name="Oval 58"/>
          <p:cNvSpPr/>
          <p:nvPr userDrawn="1"/>
        </p:nvSpPr>
        <p:spPr>
          <a:xfrm>
            <a:off x="-571817" y="-238125"/>
            <a:ext cx="1083945" cy="1084031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en-US" strike="noStrike" noProof="1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6_Image Lay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icture Placeholder 7"/>
          <p:cNvSpPr>
            <a:spLocks noGrp="1"/>
          </p:cNvSpPr>
          <p:nvPr>
            <p:ph type="pic" sz="quarter" idx="19" hasCustomPrompt="1"/>
          </p:nvPr>
        </p:nvSpPr>
        <p:spPr>
          <a:xfrm>
            <a:off x="545431" y="1498600"/>
            <a:ext cx="2666200" cy="45332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Image Holder</a:t>
            </a:r>
          </a:p>
        </p:txBody>
      </p:sp>
      <p:sp>
        <p:nvSpPr>
          <p:cNvPr id="75" name="Picture Placeholder 7"/>
          <p:cNvSpPr>
            <a:spLocks noGrp="1"/>
          </p:cNvSpPr>
          <p:nvPr>
            <p:ph type="pic" sz="quarter" idx="30" hasCustomPrompt="1"/>
          </p:nvPr>
        </p:nvSpPr>
        <p:spPr>
          <a:xfrm>
            <a:off x="3355717" y="1498600"/>
            <a:ext cx="2666200" cy="45332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Image Holder</a:t>
            </a:r>
          </a:p>
        </p:txBody>
      </p:sp>
      <p:sp>
        <p:nvSpPr>
          <p:cNvPr id="89" name="Picture Placeholder 7"/>
          <p:cNvSpPr>
            <a:spLocks noGrp="1"/>
          </p:cNvSpPr>
          <p:nvPr>
            <p:ph type="pic" sz="quarter" idx="34" hasCustomPrompt="1"/>
          </p:nvPr>
        </p:nvSpPr>
        <p:spPr>
          <a:xfrm>
            <a:off x="6166004" y="1498600"/>
            <a:ext cx="2666200" cy="45332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Image Holder</a:t>
            </a:r>
          </a:p>
        </p:txBody>
      </p:sp>
      <p:sp>
        <p:nvSpPr>
          <p:cNvPr id="94" name="Picture Placeholder 7"/>
          <p:cNvSpPr>
            <a:spLocks noGrp="1"/>
          </p:cNvSpPr>
          <p:nvPr>
            <p:ph type="pic" sz="quarter" idx="38" hasCustomPrompt="1"/>
          </p:nvPr>
        </p:nvSpPr>
        <p:spPr>
          <a:xfrm>
            <a:off x="8976289" y="1498600"/>
            <a:ext cx="2666200" cy="45332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Image Holder</a:t>
            </a:r>
          </a:p>
        </p:txBody>
      </p:sp>
      <p:sp>
        <p:nvSpPr>
          <p:cNvPr id="7" name="椭圆 6"/>
          <p:cNvSpPr/>
          <p:nvPr userDrawn="1"/>
        </p:nvSpPr>
        <p:spPr>
          <a:xfrm>
            <a:off x="-25082" y="383589"/>
            <a:ext cx="678815" cy="704906"/>
          </a:xfrm>
          <a:prstGeom prst="ellipse">
            <a:avLst/>
          </a:prstGeom>
          <a:solidFill>
            <a:srgbClr val="D9D9D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8" name="Oval 58"/>
          <p:cNvSpPr/>
          <p:nvPr userDrawn="1"/>
        </p:nvSpPr>
        <p:spPr>
          <a:xfrm>
            <a:off x="-571817" y="-238125"/>
            <a:ext cx="1083945" cy="1084031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en-US" strike="noStrike" noProof="1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8699373" y="5147305"/>
            <a:ext cx="20044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/>
            <a:r>
              <a:rPr lang="zh-CN" altLang="en-US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蓝 鑫</a:t>
            </a:r>
            <a:endParaRPr lang="en-US" altLang="zh-CN" sz="2000" noProof="1">
              <a:solidFill>
                <a:schemeClr val="tx1">
                  <a:lumMod val="75000"/>
                  <a:lumOff val="25000"/>
                </a:schemeClr>
              </a:solidFill>
              <a:latin typeface="宋体" pitchFamily="2" charset="-122"/>
            </a:endParaRPr>
          </a:p>
          <a:p>
            <a:pPr algn="ctr" fontAlgn="auto"/>
            <a:r>
              <a:rPr lang="en-US" altLang="zh-CN" sz="200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2020</a:t>
            </a:r>
            <a:r>
              <a:rPr lang="zh-CN" altLang="en-US" sz="200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年</a:t>
            </a:r>
            <a:r>
              <a:rPr lang="en-US" altLang="zh-CN" sz="200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3</a:t>
            </a:r>
            <a:r>
              <a:rPr lang="zh-CN" altLang="en-US" sz="200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月</a:t>
            </a:r>
            <a:r>
              <a:rPr lang="en-US" altLang="zh-CN" sz="200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5</a:t>
            </a:r>
            <a:r>
              <a:rPr lang="zh-CN" altLang="en-US" sz="200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日</a:t>
            </a:r>
            <a:endParaRPr lang="zh-CN" altLang="en-US" sz="2000" noProof="1">
              <a:solidFill>
                <a:schemeClr val="tx1">
                  <a:lumMod val="75000"/>
                  <a:lumOff val="25000"/>
                </a:schemeClr>
              </a:solidFill>
              <a:latin typeface="宋体" pitchFamily="2" charset="-122"/>
            </a:endParaRPr>
          </a:p>
          <a:p>
            <a:pPr fontAlgn="auto"/>
            <a:endParaRPr lang="zh-CN" altLang="en-US" sz="2000" noProof="1">
              <a:solidFill>
                <a:schemeClr val="tx1">
                  <a:lumMod val="75000"/>
                  <a:lumOff val="25000"/>
                </a:schemeClr>
              </a:solidFill>
              <a:latin typeface="宋体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70636" y="2426894"/>
            <a:ext cx="39453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组 会 报 告</a:t>
            </a:r>
            <a:endParaRPr lang="en-US" altLang="zh-CN" sz="6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5" y="360680"/>
            <a:ext cx="16055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Motivation</a:t>
            </a:r>
            <a:endParaRPr 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637693" y="268347"/>
            <a:ext cx="8690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Convolutional neural networks based on multi-scale additive merging layers for visual smoke recognition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36E661-E9C5-454B-A89F-FA9EECA3BB6E}"/>
              </a:ext>
            </a:extLst>
          </p:cNvPr>
          <p:cNvSpPr txBox="1"/>
          <p:nvPr/>
        </p:nvSpPr>
        <p:spPr>
          <a:xfrm>
            <a:off x="1550792" y="1702100"/>
            <a:ext cx="9282999" cy="2751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/>
              <a:t>火有两种可以被检测的可视目标：火焰和烟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>
              <a:lnSpc>
                <a:spcPct val="125000"/>
              </a:lnSpc>
            </a:pPr>
            <a:endParaRPr lang="en-US" altLang="zh-CN" sz="2000" dirty="0"/>
          </a:p>
          <a:p>
            <a:pPr>
              <a:lnSpc>
                <a:spcPct val="125000"/>
              </a:lnSpc>
            </a:pPr>
            <a:r>
              <a:rPr lang="zh-CN" altLang="en-US" sz="2000" dirty="0" smtClean="0"/>
              <a:t>火灾</a:t>
            </a:r>
            <a:r>
              <a:rPr lang="zh-CN" altLang="en-US" sz="2000" dirty="0"/>
              <a:t>检测方法通常分为两类：可见火焰检测，可见烟雾检测。</a:t>
            </a:r>
          </a:p>
          <a:p>
            <a:pPr>
              <a:lnSpc>
                <a:spcPct val="125000"/>
              </a:lnSpc>
            </a:pPr>
            <a:endParaRPr lang="zh-CN" altLang="en-US" sz="2000" dirty="0"/>
          </a:p>
          <a:p>
            <a:pPr>
              <a:lnSpc>
                <a:spcPct val="125000"/>
              </a:lnSpc>
            </a:pPr>
            <a:r>
              <a:rPr lang="zh-CN" altLang="en-US" sz="2000" dirty="0"/>
              <a:t>传统烟雾检测手动提取特征，送入分类器。特征提取极大影响最后的分类结果。</a:t>
            </a:r>
          </a:p>
          <a:p>
            <a:pPr>
              <a:lnSpc>
                <a:spcPct val="125000"/>
              </a:lnSpc>
            </a:pPr>
            <a:endParaRPr lang="zh-CN" altLang="en-US" sz="2000" dirty="0"/>
          </a:p>
          <a:p>
            <a:pPr>
              <a:lnSpc>
                <a:spcPct val="125000"/>
              </a:lnSpc>
            </a:pPr>
            <a:r>
              <a:rPr lang="zh-CN" altLang="en-US" sz="2000" dirty="0"/>
              <a:t>传统方法具有高检测率，也有高误检率。</a:t>
            </a:r>
            <a:endParaRPr lang="en-US" altLang="zh-CN" sz="2000" dirty="0" smtClean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5" y="360680"/>
            <a:ext cx="17743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Architecture</a:t>
            </a:r>
            <a:endParaRPr lang="en-US" altLang="zh-CN" sz="20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637693" y="268347"/>
            <a:ext cx="8690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Convolutional neural networks based on multi-scale additive merging layers for visual smoke recognition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649" y="1395118"/>
            <a:ext cx="6837851" cy="2705512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403904" y="3833446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整体架构</a:t>
            </a:r>
            <a:endParaRPr lang="zh-CN" altLang="en-US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6365" y="1670816"/>
            <a:ext cx="4256626" cy="366639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068008" y="5337208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/>
              <a:t>Block </a:t>
            </a:r>
            <a:r>
              <a:rPr lang="zh-CN" altLang="en-US" b="1" dirty="0" smtClean="0"/>
              <a:t>结构</a:t>
            </a:r>
            <a:endParaRPr lang="zh-CN" altLang="en-US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864235" y="4202778"/>
            <a:ext cx="656526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卷积网络具有平移不变性，但是还需要尺度、旋转和光照不变性。因此提出多尺度卷积块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/>
              <a:t>选择相加有两个原因：</a:t>
            </a:r>
            <a:r>
              <a:rPr lang="en-US" altLang="zh-CN" dirty="0"/>
              <a:t>1. </a:t>
            </a:r>
            <a:r>
              <a:rPr lang="zh-CN" altLang="en-US" dirty="0"/>
              <a:t>可以减少维度。</a:t>
            </a:r>
            <a:r>
              <a:rPr lang="en-US" altLang="zh-CN" dirty="0"/>
              <a:t>2. </a:t>
            </a:r>
            <a:r>
              <a:rPr lang="zh-CN" altLang="en-US" dirty="0"/>
              <a:t>烟雾图像有不同特征，例如纹理、颜色和形状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/>
              <a:t>在块和块之间没有使用任何卷积核池化层。</a:t>
            </a:r>
            <a:r>
              <a:rPr lang="en-US" altLang="zh-CN" dirty="0"/>
              <a:t>1. </a:t>
            </a:r>
            <a:r>
              <a:rPr lang="zh-CN" altLang="en-US" dirty="0"/>
              <a:t>使用相加融合特征图，所以需要所有层尺寸相同。</a:t>
            </a:r>
            <a:r>
              <a:rPr lang="en-US" altLang="zh-CN" dirty="0"/>
              <a:t>2. </a:t>
            </a:r>
            <a:r>
              <a:rPr lang="zh-CN" altLang="en-US" dirty="0"/>
              <a:t>池化不是必要的，因为可以用卷积层替换。</a:t>
            </a:r>
          </a:p>
        </p:txBody>
      </p:sp>
    </p:spTree>
    <p:extLst>
      <p:ext uri="{BB962C8B-B14F-4D97-AF65-F5344CB8AC3E}">
        <p14:creationId xmlns:p14="http://schemas.microsoft.com/office/powerpoint/2010/main" val="219356321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5" y="360680"/>
            <a:ext cx="129867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Data</a:t>
            </a:r>
            <a:endParaRPr 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24"/>
          <p:cNvSpPr txBox="1"/>
          <p:nvPr/>
        </p:nvSpPr>
        <p:spPr>
          <a:xfrm>
            <a:off x="2637693" y="268347"/>
            <a:ext cx="8690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Convolutional neural networks based on multi-scale additive merging layers for visual smoke recognition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880" y="1310054"/>
            <a:ext cx="5498490" cy="433985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5184" y="1310054"/>
            <a:ext cx="5524249" cy="43172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998177" y="5741377"/>
            <a:ext cx="1415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烟雾图像</a:t>
            </a:r>
            <a:endParaRPr lang="zh-CN" altLang="en-US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8575431" y="5741377"/>
            <a:ext cx="1415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非烟雾图像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62363249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4" y="360680"/>
            <a:ext cx="20636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Performance</a:t>
            </a:r>
            <a:endParaRPr 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24"/>
          <p:cNvSpPr txBox="1"/>
          <p:nvPr/>
        </p:nvSpPr>
        <p:spPr>
          <a:xfrm>
            <a:off x="2637693" y="268347"/>
            <a:ext cx="8690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Convolutional neural networks based on multi-scale additive merging layers for visual smoke recognition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46" y="1162201"/>
            <a:ext cx="7662741" cy="32251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4287" y="1272579"/>
            <a:ext cx="4173071" cy="300440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165231" y="4202695"/>
            <a:ext cx="1811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模型性能对比</a:t>
            </a:r>
            <a:endParaRPr lang="zh-CN" altLang="en-US" b="1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31"/>
          <a:stretch/>
        </p:blipFill>
        <p:spPr>
          <a:xfrm>
            <a:off x="2637693" y="4788772"/>
            <a:ext cx="6195473" cy="1335194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457700" y="6156045"/>
            <a:ext cx="2901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/>
              <a:t>Block </a:t>
            </a:r>
            <a:r>
              <a:rPr lang="zh-CN" altLang="en-US" b="1" dirty="0" smtClean="0"/>
              <a:t>相加级联性能对比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61848352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4" y="360680"/>
            <a:ext cx="20636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Performance</a:t>
            </a:r>
            <a:endParaRPr 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24"/>
          <p:cNvSpPr txBox="1"/>
          <p:nvPr/>
        </p:nvSpPr>
        <p:spPr>
          <a:xfrm>
            <a:off x="2637693" y="268347"/>
            <a:ext cx="8690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Convolutional neural networks based on multi-scale additive merging layers for visual smoke recognition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365131" y="5048214"/>
            <a:ext cx="2901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/>
              <a:t>Block </a:t>
            </a:r>
            <a:r>
              <a:rPr lang="zh-CN" altLang="en-US" b="1" dirty="0" smtClean="0"/>
              <a:t>多尺度性能对比</a:t>
            </a:r>
            <a:endParaRPr lang="zh-CN" altLang="en-US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42" y="1715354"/>
            <a:ext cx="6045811" cy="318899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2729" y="1785844"/>
            <a:ext cx="4771652" cy="326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85796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4" y="360680"/>
            <a:ext cx="206360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Feature</a:t>
            </a:r>
          </a:p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maps</a:t>
            </a:r>
            <a:endParaRPr 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24"/>
          <p:cNvSpPr txBox="1"/>
          <p:nvPr/>
        </p:nvSpPr>
        <p:spPr>
          <a:xfrm>
            <a:off x="2637693" y="268347"/>
            <a:ext cx="8690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Convolutional neural networks based on multi-scale additive merging layers for visual smoke recognition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676" y="1160899"/>
            <a:ext cx="9182547" cy="468215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178669" y="5935391"/>
            <a:ext cx="2488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浅层纹理，深层语义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4846964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更多作品请在稻壳儿搜索艺随风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2134</TotalTime>
  <Words>283</Words>
  <Application>Microsoft Office PowerPoint</Application>
  <PresentationFormat>宽屏</PresentationFormat>
  <Paragraphs>36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宋体</vt:lpstr>
      <vt:lpstr>微软雅黑</vt:lpstr>
      <vt:lpstr>Arial</vt:lpstr>
      <vt:lpstr>Calibri</vt:lpstr>
      <vt:lpstr>更多作品请在稻壳儿搜索艺随风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cp:keywords>http:/www.ypppt.com</cp:keywords>
  <cp:lastModifiedBy>xin lan</cp:lastModifiedBy>
  <cp:revision>234</cp:revision>
  <dcterms:created xsi:type="dcterms:W3CDTF">2017-03-07T08:54:00Z</dcterms:created>
  <dcterms:modified xsi:type="dcterms:W3CDTF">2020-03-05T02:16:13Z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2052-10.1.0.6260</vt:lpwstr>
  </property>
</Properties>
</file>