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304" r:id="rId3"/>
    <p:sldId id="323" r:id="rId4"/>
    <p:sldId id="324" r:id="rId5"/>
    <p:sldId id="325" r:id="rId6"/>
    <p:sldId id="326" r:id="rId7"/>
    <p:sldId id="327" r:id="rId8"/>
    <p:sldId id="328" r:id="rId9"/>
    <p:sldId id="330" r:id="rId10"/>
    <p:sldId id="332" r:id="rId11"/>
    <p:sldId id="334" r:id="rId12"/>
    <p:sldId id="333" r:id="rId13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2020/1/16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1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1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6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6055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Motivation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550792" y="1702100"/>
            <a:ext cx="9282999" cy="390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视频火灾</a:t>
            </a:r>
            <a:r>
              <a:rPr lang="zh-CN" altLang="en-US" sz="2000" dirty="0" smtClean="0"/>
              <a:t>检测器（</a:t>
            </a:r>
            <a:r>
              <a:rPr lang="en-US" altLang="zh-CN" sz="2000" dirty="0" smtClean="0"/>
              <a:t>VFD</a:t>
            </a:r>
            <a:r>
              <a:rPr lang="zh-CN" altLang="en-US" sz="2000" dirty="0" smtClean="0"/>
              <a:t>）通过</a:t>
            </a:r>
            <a:r>
              <a:rPr lang="zh-CN" altLang="en-US" sz="2000" dirty="0"/>
              <a:t>分析图像信号来检测火焰和</a:t>
            </a:r>
            <a:r>
              <a:rPr lang="zh-CN" altLang="en-US" sz="2000" dirty="0" smtClean="0"/>
              <a:t>烟雾。</a:t>
            </a:r>
            <a:endParaRPr lang="zh-CN" altLang="en-US" sz="2000" dirty="0"/>
          </a:p>
          <a:p>
            <a:pPr>
              <a:lnSpc>
                <a:spcPct val="125000"/>
              </a:lnSpc>
            </a:pPr>
            <a:endParaRPr lang="zh-CN" altLang="en-US" sz="2000" dirty="0"/>
          </a:p>
          <a:p>
            <a:pPr>
              <a:lnSpc>
                <a:spcPct val="125000"/>
              </a:lnSpc>
            </a:pPr>
            <a:r>
              <a:rPr lang="zh-CN" altLang="en-US" sz="2000" dirty="0"/>
              <a:t>早期 </a:t>
            </a:r>
            <a:r>
              <a:rPr lang="en-US" altLang="zh-CN" sz="2000" dirty="0"/>
              <a:t>VFD </a:t>
            </a:r>
            <a:r>
              <a:rPr lang="zh-CN" altLang="en-US" sz="2000" dirty="0"/>
              <a:t>主要关注火焰检测，火灾通常经过</a:t>
            </a:r>
            <a:r>
              <a:rPr lang="zh-CN" altLang="en-US" sz="2000" dirty="0">
                <a:solidFill>
                  <a:srgbClr val="FF0000"/>
                </a:solidFill>
              </a:rPr>
              <a:t>有烟无明火阶段</a:t>
            </a:r>
            <a:r>
              <a:rPr lang="zh-CN" altLang="en-US" sz="2000" dirty="0"/>
              <a:t>，出现火焰后将迅速蔓延。如果能尽早检测烟雾，火灾就可以及时被控制。</a:t>
            </a:r>
          </a:p>
          <a:p>
            <a:pPr>
              <a:lnSpc>
                <a:spcPct val="125000"/>
              </a:lnSpc>
            </a:pPr>
            <a:endParaRPr lang="zh-CN" altLang="en-US" sz="2000" dirty="0"/>
          </a:p>
          <a:p>
            <a:pPr>
              <a:lnSpc>
                <a:spcPct val="125000"/>
              </a:lnSpc>
            </a:pPr>
            <a:r>
              <a:rPr lang="zh-CN" altLang="en-US" sz="2000" dirty="0"/>
              <a:t>当前 </a:t>
            </a:r>
            <a:r>
              <a:rPr lang="en-US" altLang="zh-CN" sz="2000" dirty="0"/>
              <a:t>VFD </a:t>
            </a:r>
            <a:r>
              <a:rPr lang="zh-CN" altLang="en-US" sz="2000" dirty="0"/>
              <a:t>主要基于规则推理，通过颜色、速度、透明度、移动方向等浅层视觉特征来描述烟雾图像。缺乏高层特征。</a:t>
            </a:r>
          </a:p>
          <a:p>
            <a:pPr>
              <a:lnSpc>
                <a:spcPct val="125000"/>
              </a:lnSpc>
            </a:pPr>
            <a:endParaRPr lang="zh-CN" altLang="en-US" sz="2000" dirty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本文提出</a:t>
            </a:r>
            <a:r>
              <a:rPr lang="zh-CN" altLang="en-US" sz="2000" dirty="0"/>
              <a:t>使用条件 </a:t>
            </a:r>
            <a:r>
              <a:rPr lang="en-US" altLang="zh-CN" sz="2000" dirty="0"/>
              <a:t>GAN </a:t>
            </a:r>
            <a:r>
              <a:rPr lang="zh-CN" altLang="en-US" sz="2000" dirty="0"/>
              <a:t>和 </a:t>
            </a:r>
            <a:r>
              <a:rPr lang="en-US" altLang="zh-CN" sz="2000" dirty="0"/>
              <a:t>U-Net </a:t>
            </a:r>
            <a:r>
              <a:rPr lang="zh-CN" altLang="en-US" sz="2000" dirty="0"/>
              <a:t>来找前景目标像素（生成模型）并计算生成的烟雾分布和真实数据分布之间更高维的差异（判别模型）。</a:t>
            </a:r>
            <a:endParaRPr lang="en-US" altLang="zh-CN" sz="2000" dirty="0" smtClean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4560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Flowchart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37693" y="268347"/>
            <a:ext cx="869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33" y="1108109"/>
            <a:ext cx="7324675" cy="536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632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Preprocessing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44361" y="268347"/>
            <a:ext cx="808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使用计算机辅助半自动标注方法标注图像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1. </a:t>
            </a:r>
            <a:r>
              <a:rPr lang="zh-CN" altLang="en-US" sz="2000" dirty="0" smtClean="0"/>
              <a:t>读取</a:t>
            </a:r>
            <a:r>
              <a:rPr lang="zh-CN" altLang="en-US" sz="2000" dirty="0"/>
              <a:t>烟雾视频的第一帧，使用鼠标选择 </a:t>
            </a:r>
            <a:r>
              <a:rPr lang="en-US" altLang="zh-CN" sz="2000" dirty="0" err="1"/>
              <a:t>RoI</a:t>
            </a:r>
            <a:r>
              <a:rPr lang="zh-CN" altLang="en-US" sz="2000" dirty="0"/>
              <a:t>，保存为 </a:t>
            </a:r>
            <a:r>
              <a:rPr lang="en-US" altLang="zh-CN" sz="2000" dirty="0" err="1"/>
              <a:t>RoI</a:t>
            </a:r>
            <a:r>
              <a:rPr lang="en-US" altLang="zh-CN" sz="2000" dirty="0"/>
              <a:t> </a:t>
            </a:r>
            <a:r>
              <a:rPr lang="zh-CN" altLang="en-US" sz="2000" dirty="0"/>
              <a:t>模板（</a:t>
            </a:r>
            <a:r>
              <a:rPr lang="en-US" altLang="zh-CN" sz="2000" dirty="0" err="1"/>
              <a:t>RoI</a:t>
            </a:r>
            <a:r>
              <a:rPr lang="en-US" altLang="zh-CN" sz="2000" dirty="0"/>
              <a:t> </a:t>
            </a:r>
            <a:r>
              <a:rPr lang="zh-CN" altLang="en-US" sz="2000" dirty="0"/>
              <a:t>区域中的像素设为 </a:t>
            </a:r>
            <a:r>
              <a:rPr lang="en-US" altLang="zh-CN" sz="2000" dirty="0"/>
              <a:t>1</a:t>
            </a:r>
            <a:r>
              <a:rPr lang="zh-CN" altLang="en-US" sz="2000" dirty="0"/>
              <a:t>，其余设为 </a:t>
            </a:r>
            <a:r>
              <a:rPr lang="en-US" altLang="zh-CN" sz="2000" dirty="0"/>
              <a:t>0</a:t>
            </a:r>
            <a:r>
              <a:rPr lang="zh-CN" altLang="en-US" sz="2000" dirty="0"/>
              <a:t>）。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4" r="63510" b="22133"/>
          <a:stretch/>
        </p:blipFill>
        <p:spPr>
          <a:xfrm>
            <a:off x="3587260" y="2645771"/>
            <a:ext cx="4528039" cy="356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324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Preprocessing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44361" y="268347"/>
            <a:ext cx="808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使用计算机辅助半自动标注方法标注图像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2. </a:t>
            </a:r>
            <a:r>
              <a:rPr lang="zh-CN" altLang="en-US" sz="2000" dirty="0" smtClean="0"/>
              <a:t>读取</a:t>
            </a:r>
            <a:r>
              <a:rPr lang="zh-CN" altLang="en-US" sz="2000" dirty="0"/>
              <a:t>下一帧，记录为 </a:t>
            </a:r>
            <a:r>
              <a:rPr lang="en-US" altLang="zh-CN" sz="2000" dirty="0" err="1" smtClean="0"/>
              <a:t>data_i</a:t>
            </a:r>
            <a:r>
              <a:rPr lang="en-US" altLang="zh-CN" sz="2000" dirty="0" smtClean="0"/>
              <a:t> (N x </a:t>
            </a:r>
            <a:r>
              <a:rPr lang="en-US" altLang="zh-CN" sz="2000" dirty="0"/>
              <a:t>M</a:t>
            </a:r>
            <a:r>
              <a:rPr lang="en-US" altLang="zh-CN" sz="2000" dirty="0" smtClean="0"/>
              <a:t>)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是样本图像的数量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3.</a:t>
            </a:r>
            <a:r>
              <a:rPr lang="zh-CN" altLang="en-US" sz="2000" dirty="0"/>
              <a:t>载入 </a:t>
            </a:r>
            <a:r>
              <a:rPr lang="en-US" altLang="zh-CN" sz="2000" dirty="0" err="1"/>
              <a:t>RoI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RoI</a:t>
            </a:r>
            <a:r>
              <a:rPr lang="en-US" altLang="zh-CN" sz="2000" dirty="0"/>
              <a:t> </a:t>
            </a:r>
            <a:r>
              <a:rPr lang="zh-CN" altLang="en-US" sz="2000" dirty="0"/>
              <a:t>之外的所有像素为 </a:t>
            </a:r>
            <a:r>
              <a:rPr lang="en-US" altLang="zh-CN" sz="2000" dirty="0"/>
              <a:t>0</a:t>
            </a:r>
            <a:r>
              <a:rPr lang="zh-CN" altLang="en-US" sz="2000" dirty="0"/>
              <a:t>。</a:t>
            </a:r>
            <a:r>
              <a:rPr lang="en-US" altLang="zh-CN" sz="2000" dirty="0" err="1"/>
              <a:t>RoI</a:t>
            </a:r>
            <a:r>
              <a:rPr lang="en-US" altLang="zh-CN" sz="2000" dirty="0"/>
              <a:t> </a:t>
            </a:r>
            <a:r>
              <a:rPr lang="zh-CN" altLang="en-US" sz="2000" dirty="0"/>
              <a:t>中的烟雾区域使用阈值法分割，得到二值的烟雾图像。在灰度图中，烟雾的亮度比其他部分高，因此使用一个规则</a:t>
            </a:r>
            <a:r>
              <a:rPr lang="zh-CN" altLang="en-US" sz="2000" dirty="0" smtClean="0"/>
              <a:t>：</a:t>
            </a:r>
            <a:r>
              <a:rPr lang="en-US" altLang="zh-CN" sz="2000" dirty="0" smtClean="0"/>
              <a:t>L_1&lt;I&lt;L_2</a:t>
            </a:r>
            <a:r>
              <a:rPr lang="zh-CN" altLang="en-US" sz="2000" dirty="0" smtClean="0"/>
              <a:t>。</a:t>
            </a:r>
            <a:r>
              <a:rPr lang="en-US" altLang="zh-CN" sz="2000" dirty="0" smtClean="0"/>
              <a:t>I </a:t>
            </a:r>
            <a:r>
              <a:rPr lang="zh-CN" altLang="en-US" sz="2000" dirty="0"/>
              <a:t>是一个像素的亮度值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L_1 </a:t>
            </a:r>
            <a:r>
              <a:rPr lang="zh-CN" altLang="en-US" sz="2000" dirty="0"/>
              <a:t>和 </a:t>
            </a:r>
            <a:r>
              <a:rPr lang="en-US" altLang="zh-CN" sz="2000" dirty="0" smtClean="0"/>
              <a:t>L_2 </a:t>
            </a:r>
            <a:r>
              <a:rPr lang="zh-CN" altLang="en-US" sz="2000" dirty="0"/>
              <a:t>是视频中烟雾颜色上下限（典型值为 </a:t>
            </a:r>
            <a:r>
              <a:rPr lang="en-US" altLang="zh-CN" sz="2000" dirty="0"/>
              <a:t>150 </a:t>
            </a:r>
            <a:r>
              <a:rPr lang="zh-CN" altLang="en-US" sz="2000" dirty="0"/>
              <a:t>和 </a:t>
            </a:r>
            <a:r>
              <a:rPr lang="en-US" altLang="zh-CN" sz="2000" dirty="0"/>
              <a:t>220</a:t>
            </a:r>
            <a:r>
              <a:rPr lang="zh-CN" altLang="en-US" sz="2000" dirty="0"/>
              <a:t>）。在一个视频序列中，烟雾颜色分布不会变化太多，且有固定的阈值，可以通过一对阈值得到一系列烟雾标签。不同视频阈值可能不同。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6" r="54567" b="25066"/>
          <a:stretch/>
        </p:blipFill>
        <p:spPr>
          <a:xfrm>
            <a:off x="4844561" y="3863224"/>
            <a:ext cx="2368358" cy="291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835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Preprocessing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44361" y="268347"/>
            <a:ext cx="808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使用计算机辅助半自动标注方法标注图像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4. </a:t>
            </a:r>
            <a:r>
              <a:rPr lang="zh-CN" altLang="en-US" sz="2000" dirty="0" smtClean="0"/>
              <a:t>归一化</a:t>
            </a:r>
            <a:r>
              <a:rPr lang="zh-CN" altLang="en-US" sz="2000" dirty="0"/>
              <a:t>数据到正方形图像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N x N</a:t>
            </a:r>
            <a:r>
              <a:rPr lang="zh-CN" altLang="en-US" sz="2000" dirty="0" smtClean="0"/>
              <a:t>），</a:t>
            </a:r>
            <a:r>
              <a:rPr lang="zh-CN" altLang="en-US" sz="2000" dirty="0"/>
              <a:t>然后使用双三次样条插值缩放到 </a:t>
            </a:r>
            <a:r>
              <a:rPr lang="en-US" altLang="zh-CN" sz="2000" dirty="0"/>
              <a:t>512x512</a:t>
            </a:r>
            <a:r>
              <a:rPr lang="zh-CN" altLang="en-US" sz="2000" dirty="0"/>
              <a:t>。回到步骤</a:t>
            </a:r>
            <a:r>
              <a:rPr lang="en-US" altLang="zh-CN" sz="2000" dirty="0"/>
              <a:t>2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60" b="22621"/>
          <a:stretch/>
        </p:blipFill>
        <p:spPr>
          <a:xfrm>
            <a:off x="2189284" y="2645771"/>
            <a:ext cx="8363879" cy="33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964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443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使用条件 </a:t>
            </a:r>
            <a:r>
              <a:rPr lang="en-US" altLang="zh-CN" sz="2000" dirty="0"/>
              <a:t>GAN </a:t>
            </a:r>
            <a:r>
              <a:rPr lang="zh-CN" altLang="en-US" sz="2000" dirty="0"/>
              <a:t>作为烟雾分割网络，条件为烟雾标签。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837" y="1842859"/>
            <a:ext cx="6353175" cy="42190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132191" y="6117563"/>
            <a:ext cx="2328685" cy="37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生成器参数更新</a:t>
            </a:r>
            <a:endParaRPr lang="en-US" altLang="zh-CN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27353942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20636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443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判别器输入原始图像和生成的分割结果或原始图像和真实标签。</a:t>
            </a:r>
            <a:endParaRPr lang="en-US" altLang="zh-CN" sz="2000" dirty="0" smtClean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4771706" y="6179109"/>
            <a:ext cx="2328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判别器参数更新</a:t>
            </a:r>
            <a:endParaRPr lang="en-US" altLang="zh-CN" sz="1600" b="1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539" y="1996747"/>
            <a:ext cx="63150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117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1395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1156977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共 </a:t>
            </a:r>
            <a:r>
              <a:rPr lang="en-US" altLang="zh-CN" sz="2000" dirty="0"/>
              <a:t>9 </a:t>
            </a:r>
            <a:r>
              <a:rPr lang="zh-CN" altLang="en-US" sz="2000" dirty="0"/>
              <a:t>段视频，</a:t>
            </a:r>
            <a:r>
              <a:rPr lang="en-US" altLang="zh-CN" sz="2000" dirty="0"/>
              <a:t>5477 </a:t>
            </a:r>
            <a:r>
              <a:rPr lang="zh-CN" altLang="en-US" sz="2000" dirty="0"/>
              <a:t>张</a:t>
            </a:r>
            <a:r>
              <a:rPr lang="zh-CN" altLang="en-US" sz="2000" dirty="0" smtClean="0"/>
              <a:t>图像。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：同一视频作训练和测试。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：训练集合测试集为不同视频（</a:t>
            </a:r>
            <a:r>
              <a:rPr lang="en-US" altLang="zh-CN" sz="2000" dirty="0" smtClean="0"/>
              <a:t>10-</a:t>
            </a:r>
            <a:r>
              <a:rPr lang="zh-CN" altLang="en-US" sz="2000" dirty="0" smtClean="0"/>
              <a:t>折交叉验证）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1105"/>
            <a:ext cx="12192000" cy="175608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5070645" y="4834764"/>
            <a:ext cx="2328685" cy="37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 smtClean="0"/>
              <a:t>实验设计 </a:t>
            </a:r>
            <a:r>
              <a:rPr lang="en-US" altLang="zh-CN" sz="1600" b="1" dirty="0" smtClean="0"/>
              <a:t>1 </a:t>
            </a:r>
            <a:r>
              <a:rPr lang="zh-CN" altLang="en-US" sz="1600" b="1" dirty="0"/>
              <a:t>结果</a:t>
            </a:r>
            <a:endParaRPr lang="en-US" altLang="zh-CN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664442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1395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914678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共 </a:t>
            </a:r>
            <a:r>
              <a:rPr lang="en-US" altLang="zh-CN" sz="2000" dirty="0"/>
              <a:t>9 </a:t>
            </a:r>
            <a:r>
              <a:rPr lang="zh-CN" altLang="en-US" sz="2000" dirty="0"/>
              <a:t>段视频，</a:t>
            </a:r>
            <a:r>
              <a:rPr lang="en-US" altLang="zh-CN" sz="2000" dirty="0"/>
              <a:t>5477 </a:t>
            </a:r>
            <a:r>
              <a:rPr lang="zh-CN" altLang="en-US" sz="2000" dirty="0"/>
              <a:t>张</a:t>
            </a:r>
            <a:r>
              <a:rPr lang="zh-CN" altLang="en-US" sz="2000" dirty="0" smtClean="0"/>
              <a:t>图像。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：同一视频作训练和测试。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：训练集合测试集为不同视频（</a:t>
            </a:r>
            <a:r>
              <a:rPr lang="en-US" altLang="zh-CN" sz="2000" dirty="0" smtClean="0"/>
              <a:t>10-</a:t>
            </a:r>
            <a:r>
              <a:rPr lang="zh-CN" altLang="en-US" sz="2000" dirty="0" smtClean="0"/>
              <a:t>折交叉验证）</a:t>
            </a:r>
            <a:endParaRPr lang="en-US" altLang="zh-CN" sz="2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31" y="2420568"/>
            <a:ext cx="9635641" cy="37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5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1395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914678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共 </a:t>
            </a:r>
            <a:r>
              <a:rPr lang="en-US" altLang="zh-CN" sz="2000" dirty="0"/>
              <a:t>9 </a:t>
            </a:r>
            <a:r>
              <a:rPr lang="zh-CN" altLang="en-US" sz="2000" dirty="0"/>
              <a:t>段视频，</a:t>
            </a:r>
            <a:r>
              <a:rPr lang="en-US" altLang="zh-CN" sz="2000" dirty="0"/>
              <a:t>5477 </a:t>
            </a:r>
            <a:r>
              <a:rPr lang="zh-CN" altLang="en-US" sz="2000" dirty="0"/>
              <a:t>张</a:t>
            </a:r>
            <a:r>
              <a:rPr lang="zh-CN" altLang="en-US" sz="2000" dirty="0" smtClean="0"/>
              <a:t>图像。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：同一视频作训练和测试。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：训练集合测试集为不同视频（</a:t>
            </a:r>
            <a:r>
              <a:rPr lang="en-US" altLang="zh-CN" sz="2000" dirty="0" smtClean="0"/>
              <a:t>10-</a:t>
            </a:r>
            <a:r>
              <a:rPr lang="zh-CN" altLang="en-US" sz="2000" dirty="0" smtClean="0"/>
              <a:t>折交叉验证）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77" y="2438768"/>
            <a:ext cx="9803423" cy="370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379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4" y="360680"/>
            <a:ext cx="1395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84939" y="268347"/>
            <a:ext cx="874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Yang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Jia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 al. (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2019)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Automatic Early Smoke Segmentation based on Conditional Generative Adversarial Networks. </a:t>
            </a:r>
            <a:r>
              <a:rPr lang="en-US" altLang="zh-CN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Optik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Volume 193, 2019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6E661-E9C5-454B-A89F-FA9EECA3BB6E}"/>
              </a:ext>
            </a:extLst>
          </p:cNvPr>
          <p:cNvSpPr txBox="1"/>
          <p:nvPr/>
        </p:nvSpPr>
        <p:spPr>
          <a:xfrm>
            <a:off x="1480453" y="914678"/>
            <a:ext cx="92829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/>
              <a:t>共 </a:t>
            </a:r>
            <a:r>
              <a:rPr lang="en-US" altLang="zh-CN" sz="2000" dirty="0"/>
              <a:t>9 </a:t>
            </a:r>
            <a:r>
              <a:rPr lang="zh-CN" altLang="en-US" sz="2000" dirty="0"/>
              <a:t>段视频，</a:t>
            </a:r>
            <a:r>
              <a:rPr lang="en-US" altLang="zh-CN" sz="2000" dirty="0"/>
              <a:t>5477 </a:t>
            </a:r>
            <a:r>
              <a:rPr lang="zh-CN" altLang="en-US" sz="2000" dirty="0"/>
              <a:t>张</a:t>
            </a:r>
            <a:r>
              <a:rPr lang="zh-CN" altLang="en-US" sz="2000" dirty="0" smtClean="0"/>
              <a:t>图像。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：同一视频作训练和测试。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zh-CN" altLang="en-US" sz="2000" dirty="0" smtClean="0"/>
              <a:t>实验设计 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：训练集合测试集为不同视频（</a:t>
            </a:r>
            <a:r>
              <a:rPr lang="en-US" altLang="zh-CN" sz="2000" dirty="0" smtClean="0"/>
              <a:t>10-</a:t>
            </a:r>
            <a:r>
              <a:rPr lang="zh-CN" altLang="en-US" sz="2000" dirty="0" smtClean="0"/>
              <a:t>折交叉验证）</a:t>
            </a:r>
            <a:endParaRPr lang="en-US" altLang="zh-CN" sz="20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37" y="2400651"/>
            <a:ext cx="9928372" cy="369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542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828</Words>
  <Application>Microsoft Office PowerPoint</Application>
  <PresentationFormat>宽屏</PresentationFormat>
  <Paragraphs>56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231</cp:revision>
  <dcterms:created xsi:type="dcterms:W3CDTF">2017-03-07T08:54:00Z</dcterms:created>
  <dcterms:modified xsi:type="dcterms:W3CDTF">2020-01-16T01:54:47Z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