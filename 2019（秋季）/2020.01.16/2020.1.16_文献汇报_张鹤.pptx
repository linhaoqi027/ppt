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3" r:id="rId2"/>
    <p:sldId id="367" r:id="rId3"/>
    <p:sldId id="374" r:id="rId4"/>
    <p:sldId id="434" r:id="rId5"/>
    <p:sldId id="435" r:id="rId6"/>
    <p:sldId id="419" r:id="rId7"/>
    <p:sldId id="418" r:id="rId8"/>
    <p:sldId id="431" r:id="rId9"/>
    <p:sldId id="428" r:id="rId10"/>
    <p:sldId id="437" r:id="rId11"/>
    <p:sldId id="429" r:id="rId12"/>
    <p:sldId id="436" r:id="rId13"/>
    <p:sldId id="353" r:id="rId14"/>
  </p:sldIdLst>
  <p:sldSz cx="12192000" cy="6858000"/>
  <p:notesSz cx="6858000" cy="9144000"/>
  <p:embeddedFontLst>
    <p:embeddedFont>
      <p:font typeface="Segoe UI" panose="020B0502040204020203" pitchFamily="34" charset="0"/>
      <p:regular r:id="rId17"/>
      <p:bold r:id="rId18"/>
      <p:italic r:id="rId19"/>
      <p:boldItalic r:id="rId20"/>
    </p:embeddedFont>
    <p:embeddedFont>
      <p:font typeface="微软雅黑" panose="020B0503020204020204" pitchFamily="34" charset="-122"/>
      <p:regular r:id="rId21"/>
      <p:bold r:id="rId22"/>
    </p:embeddedFont>
    <p:embeddedFont>
      <p:font typeface="等线" panose="02010600030101010101" pitchFamily="2" charset="-122"/>
      <p:regular r:id="rId23"/>
      <p:bold r:id="rId24"/>
    </p:embeddedFont>
    <p:embeddedFont>
      <p:font typeface="Rockwell" panose="02060603020205020403" pitchFamily="18" charset="0"/>
      <p:regular r:id="rId25"/>
      <p:bold r:id="rId26"/>
      <p:italic r:id="rId27"/>
      <p:boldItalic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 autoAdjust="0"/>
    <p:restoredTop sz="76355" autoAdjust="0"/>
  </p:normalViewPr>
  <p:slideViewPr>
    <p:cSldViewPr snapToGrid="0" snapToObjects="1">
      <p:cViewPr varScale="1">
        <p:scale>
          <a:sx n="67" d="100"/>
          <a:sy n="67" d="100"/>
        </p:scale>
        <p:origin x="883" y="48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多媒体交易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石油化工产品加工过程中产生一些气态的易燃物质，这些产品万一在加工过程中泄漏出去，就会在大气中弥漫开来，蔓延时会沉积在地面上，达到很高的浓度。一旦碰到火种，极易酿成火灾，甚至爆炸。为了消除这些恶果的产生，人们索性把它们集中起来烧掉，以防后患。火炬的诞生，就是为了完成这个使命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0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用于烟雾检测的深度归一化和卷积神经网络分类系统的体系结构。 每个以虚线绘制的长方体表示一堆特征图。 在第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层中表示一堆要素地图。 沿深度方向的红色数字表示要素图的数量。 所有要素图的形状均为正方形。 长方体下的绿色数字表示特征图的宽度和高度。归一化和卷积层缩写为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，同样，最大池化层缩写为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例如，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384 @ 3×3×64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表示这是第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个规范化和卷积层，其中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个大小为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3×3×64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的滤波器，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表示这是第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个最大池化层，内核大小为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 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FL11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表示这是具有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2048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个神经元的第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个完全连接层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600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通过三组卷积卷积最大池化，来提取特征。为了减轻过度拟合的问题并加快训练过程，我们引用</a:t>
            </a:r>
            <a:r>
              <a:rPr lang="en-US" altLang="zh-CN" dirty="0" smtClean="0"/>
              <a:t>BN</a:t>
            </a:r>
            <a:r>
              <a:rPr lang="zh-CN" altLang="en-US" dirty="0" smtClean="0"/>
              <a:t>操作。 因为发现</a:t>
            </a:r>
            <a:r>
              <a:rPr lang="en-US" altLang="zh-CN" dirty="0" smtClean="0"/>
              <a:t>BN</a:t>
            </a:r>
            <a:r>
              <a:rPr lang="zh-CN" altLang="en-US" dirty="0" smtClean="0"/>
              <a:t>层很可能会限制提取特征的自由度，所以我们有选择地将</a:t>
            </a:r>
            <a:r>
              <a:rPr lang="en-US" altLang="zh-CN" dirty="0" smtClean="0"/>
              <a:t>BN</a:t>
            </a:r>
            <a:r>
              <a:rPr lang="zh-CN" altLang="en-US" dirty="0" smtClean="0"/>
              <a:t>层附加到最后四个卷积层中的每一个上。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692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试错法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618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一种是跳跃连接，它有助于防止梯度消失和增强特征的传播；另一种是全局平均池化，它有利于减少参数数量，减轻过拟合问题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47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44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DCNN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的基本体系结构，包括用于特征提取的深层子网的双通道，用于特征融合的串联操作，以及用于分类的卷积层和全局池层。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SBNN0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的输出大小与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SCNN0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的输出大小不匹配。 因此，我们通过删除第三个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max-poolinglayerL9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进一步修改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SBNN0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00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网络包含的参数越少，泛化能力越强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23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xpl/RecentIssue.jsp?punumber=604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01415" y="1254308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00B050"/>
                </a:solidFill>
                <a:latin typeface="Rockwell" panose="02060603020205020403" pitchFamily="18" charset="0"/>
              </a:rPr>
              <a:t>文献</a:t>
            </a:r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</a:t>
            </a:r>
            <a:r>
              <a:rPr lang="zh-CN" altLang="en-US" sz="3200" b="1" dirty="0" smtClean="0">
                <a:latin typeface="+mn-ea"/>
              </a:rPr>
              <a:t>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dirty="0" smtClean="0">
                <a:latin typeface="+mn-ea"/>
              </a:rPr>
              <a:t>2020.1.16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文献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10025" y="2157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9112" y="1027366"/>
            <a:ext cx="9509525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Deep </a:t>
            </a:r>
            <a:r>
              <a:rPr lang="en-US" altLang="zh-CN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Dual-Channel Neural Network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for Image-Based Smoke Detection</a:t>
            </a:r>
          </a:p>
          <a:p>
            <a:endParaRPr lang="en-US" altLang="zh-CN" sz="2800" dirty="0"/>
          </a:p>
          <a:p>
            <a:pPr algn="just"/>
            <a:endParaRPr lang="en-US" altLang="zh-CN" dirty="0" smtClean="0"/>
          </a:p>
          <a:p>
            <a:pPr algn="just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Published in: 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IEEE Transactions on </a:t>
            </a:r>
            <a:r>
              <a:rPr lang="en-US" altLang="zh-CN" sz="2800" dirty="0" err="1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Multimedia</a:t>
            </a:r>
            <a:r>
              <a:rPr lang="en-US" altLang="zh-CN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en-US" altLang="zh-C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</a:p>
          <a:p>
            <a:pPr algn="just"/>
            <a:endParaRPr lang="en-US" altLang="zh-C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" y="3647228"/>
            <a:ext cx="11786091" cy="2709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背景</a:t>
            </a:r>
          </a:p>
        </p:txBody>
      </p:sp>
      <p:pic>
        <p:nvPicPr>
          <p:cNvPr id="1026" name="Picture 2" descr="https://timgsa.baidu.com/timg?image&amp;quality=80&amp;size=b9999_10000&amp;sec=1579072825&amp;di=2972005ae53b13f6087d9c7a31bf70f2&amp;imgtype=jpg&amp;er=1&amp;src=http%3A%2F%2Fwww.elgzx.com%2Ff%2F90298%2Ft014f281a622a01ecc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3" r="12773"/>
          <a:stretch/>
        </p:blipFill>
        <p:spPr bwMode="auto">
          <a:xfrm>
            <a:off x="6903694" y="2340430"/>
            <a:ext cx="4017278" cy="261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127630" y="1788671"/>
            <a:ext cx="57760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比如，针对石油化工</a:t>
            </a:r>
            <a:r>
              <a:rPr lang="zh-CN" altLang="en-US" sz="2400" u="sng" dirty="0" smtClean="0">
                <a:latin typeface="+mn-ea"/>
                <a:hlinkClick r:id="rId4" action="ppaction://hlinksldjump"/>
              </a:rPr>
              <a:t>火炬</a:t>
            </a:r>
            <a:r>
              <a:rPr lang="zh-CN" altLang="en-US" sz="2400" dirty="0" smtClean="0">
                <a:latin typeface="+mn-ea"/>
              </a:rPr>
              <a:t>黑烟检测：</a:t>
            </a:r>
            <a:endParaRPr lang="en-US" altLang="zh-CN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现有方法：人工观察和传感器</a:t>
            </a:r>
            <a:endParaRPr lang="en-US" altLang="zh-CN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出现问题：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	</a:t>
            </a:r>
            <a:r>
              <a:rPr lang="en-US" altLang="zh-CN" sz="2400" dirty="0" smtClean="0">
                <a:latin typeface="+mn-ea"/>
              </a:rPr>
              <a:t>1.</a:t>
            </a:r>
            <a:r>
              <a:rPr lang="zh-CN" altLang="en-US" sz="2400" dirty="0" smtClean="0">
                <a:latin typeface="+mn-ea"/>
              </a:rPr>
              <a:t>人力资源</a:t>
            </a:r>
            <a:r>
              <a:rPr lang="zh-CN" altLang="en-US" sz="2400" dirty="0">
                <a:latin typeface="+mn-ea"/>
              </a:rPr>
              <a:t>有限</a:t>
            </a:r>
            <a:r>
              <a:rPr lang="zh-CN" altLang="en-US" dirty="0" smtClean="0"/>
              <a:t>，</a:t>
            </a:r>
            <a:r>
              <a:rPr lang="zh-CN" altLang="en-US" sz="2400" dirty="0">
                <a:latin typeface="+mn-ea"/>
              </a:rPr>
              <a:t>不能快速有效</a:t>
            </a:r>
            <a:r>
              <a:rPr lang="zh-CN" altLang="en-US" sz="2400" dirty="0" smtClean="0">
                <a:latin typeface="+mn-ea"/>
              </a:rPr>
              <a:t>地</a:t>
            </a:r>
            <a:r>
              <a:rPr lang="en-US" altLang="zh-CN" sz="2400" dirty="0" smtClean="0">
                <a:latin typeface="+mn-ea"/>
              </a:rPr>
              <a:t>	</a:t>
            </a:r>
            <a:r>
              <a:rPr lang="zh-CN" altLang="en-US" sz="2400" dirty="0" smtClean="0">
                <a:latin typeface="+mn-ea"/>
              </a:rPr>
              <a:t>监视烟雾。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	</a:t>
            </a:r>
            <a:r>
              <a:rPr lang="en-US" altLang="zh-CN" sz="2400" dirty="0" smtClean="0">
                <a:latin typeface="+mn-ea"/>
              </a:rPr>
              <a:t>2.</a:t>
            </a:r>
            <a:r>
              <a:rPr lang="zh-CN" altLang="en-US" sz="2400" dirty="0" smtClean="0">
                <a:latin typeface="+mn-ea"/>
              </a:rPr>
              <a:t>时间延迟，范围不一定完全覆盖</a:t>
            </a:r>
            <a:endParaRPr lang="en-US" altLang="zh-CN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期望：实现</a:t>
            </a:r>
            <a:r>
              <a:rPr lang="en-US" altLang="zh-CN" sz="2400" dirty="0" smtClean="0">
                <a:latin typeface="+mn-ea"/>
              </a:rPr>
              <a:t>100%</a:t>
            </a:r>
            <a:r>
              <a:rPr lang="zh-CN" altLang="en-US" sz="2400" dirty="0" smtClean="0">
                <a:latin typeface="+mn-ea"/>
              </a:rPr>
              <a:t>准确检测烟雾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化工厂的烟种类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050" name="Picture 2" descr="http://5b0988e595225.cdn.sohucs.com/images/20171011/a07b776712cf4a008b0e6308b7aa9c51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541" y="974412"/>
            <a:ext cx="3528631" cy="220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5b0988e595225.cdn.sohucs.com/images/20171011/76ae927a4df341c5bffdb5f7951af2aa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99" y="3581248"/>
            <a:ext cx="3642449" cy="238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5b0988e595225.cdn.sohucs.com/images/20171011/2beb328780df4e60850eaefdd6f9ef77.jpe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9" r="6122"/>
          <a:stretch/>
        </p:blipFill>
        <p:spPr bwMode="auto">
          <a:xfrm>
            <a:off x="6825137" y="3581248"/>
            <a:ext cx="3307282" cy="226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456299" y="3028368"/>
            <a:ext cx="383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白烟：</a:t>
            </a:r>
            <a:r>
              <a:rPr lang="zh-CN" altLang="en-US" sz="2400" dirty="0" smtClean="0">
                <a:latin typeface="+mn-ea"/>
              </a:rPr>
              <a:t>水蒸气，无毒无害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43242" y="3028367"/>
            <a:ext cx="5271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黑烟：</a:t>
            </a:r>
            <a:r>
              <a:rPr lang="zh-CN" altLang="en-US" sz="2400" dirty="0">
                <a:latin typeface="+mn-ea"/>
              </a:rPr>
              <a:t>燃烧不充分</a:t>
            </a:r>
            <a:r>
              <a:rPr lang="zh-CN" altLang="en-US" sz="2400" dirty="0" smtClean="0">
                <a:latin typeface="+mn-ea"/>
              </a:rPr>
              <a:t>，对人体危害很大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62921" y="5904332"/>
            <a:ext cx="482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黄烟：大量的硫化物</a:t>
            </a:r>
            <a:r>
              <a:rPr lang="zh-CN" altLang="en-US" sz="2400" dirty="0" smtClean="0">
                <a:latin typeface="+mn-ea"/>
              </a:rPr>
              <a:t>，环境污染大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95642" y="5849970"/>
            <a:ext cx="4776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“火烟”：</a:t>
            </a:r>
            <a:r>
              <a:rPr lang="zh-CN" altLang="en-US" sz="2400" dirty="0" smtClean="0"/>
              <a:t>将易燃</a:t>
            </a:r>
            <a:r>
              <a:rPr lang="zh-CN" altLang="en-US" sz="2400" dirty="0"/>
              <a:t>、易爆、有毒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有腐蚀性的气体燃烧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6" name="Picture 18" descr="https://timgsa.baidu.com/timg?image&amp;quality=80&amp;size=b9999_10000&amp;sec=1578480669710&amp;di=b241195dd4acfa2edb47acd66cb59966&amp;imgtype=0&amp;src=http%3A%2F%2Fimg1.cache.netease.com%2Fcatchpic%2F8%2F8C%2F8C546F1A1A5C9CDAF10BD53DBB56FEE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138" y="965177"/>
            <a:ext cx="3307282" cy="220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15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研究历程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0714" y="1006147"/>
            <a:ext cx="86214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 smtClean="0">
                <a:latin typeface="+mn-ea"/>
              </a:rPr>
              <a:t>手动提取特征 来识别烟雾，算法：空间</a:t>
            </a:r>
            <a:r>
              <a:rPr lang="zh-CN" altLang="en-US" sz="2000" dirty="0">
                <a:latin typeface="+mn-ea"/>
              </a:rPr>
              <a:t>小波变换</a:t>
            </a:r>
            <a:r>
              <a:rPr lang="en-US" altLang="zh-CN" sz="2000" dirty="0">
                <a:latin typeface="+mn-ea"/>
              </a:rPr>
              <a:t>+</a:t>
            </a:r>
            <a:r>
              <a:rPr lang="zh-CN" altLang="en-US" sz="2000" dirty="0">
                <a:latin typeface="+mn-ea"/>
              </a:rPr>
              <a:t>高频</a:t>
            </a:r>
            <a:r>
              <a:rPr lang="zh-CN" altLang="en-US" sz="2000" dirty="0" smtClean="0">
                <a:latin typeface="+mn-ea"/>
              </a:rPr>
              <a:t>能量损失</a:t>
            </a:r>
            <a:endParaRPr lang="en-US" altLang="zh-CN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 smtClean="0">
                <a:latin typeface="+mn-ea"/>
              </a:rPr>
              <a:t>使用深度学习，算法：</a:t>
            </a:r>
            <a:r>
              <a:rPr lang="en-US" altLang="zh-CN" sz="2000" dirty="0" smtClean="0">
                <a:latin typeface="+mn-ea"/>
              </a:rPr>
              <a:t>deep </a:t>
            </a:r>
            <a:r>
              <a:rPr lang="en-US" altLang="zh-CN" sz="2000" dirty="0">
                <a:latin typeface="+mn-ea"/>
              </a:rPr>
              <a:t>normalized </a:t>
            </a:r>
            <a:r>
              <a:rPr lang="en-US" altLang="zh-CN" sz="2000" dirty="0" smtClean="0">
                <a:latin typeface="+mn-ea"/>
              </a:rPr>
              <a:t>convolutional </a:t>
            </a:r>
            <a:r>
              <a:rPr lang="en-US" altLang="zh-CN" sz="2000" dirty="0">
                <a:latin typeface="+mn-ea"/>
              </a:rPr>
              <a:t>neural network</a:t>
            </a:r>
            <a:r>
              <a:rPr lang="en-US" altLang="zh-CN" sz="2000" baseline="30000" dirty="0">
                <a:solidFill>
                  <a:srgbClr val="FF0000"/>
                </a:solidFill>
                <a:latin typeface="+mn-ea"/>
              </a:rPr>
              <a:t>[1]</a:t>
            </a:r>
            <a:r>
              <a:rPr lang="zh-CN" altLang="en-US" sz="2000" dirty="0" smtClean="0">
                <a:latin typeface="+mn-ea"/>
              </a:rPr>
              <a:t>（</a:t>
            </a:r>
            <a:r>
              <a:rPr lang="en-US" altLang="zh-CN" sz="2000" dirty="0" smtClean="0">
                <a:latin typeface="+mn-ea"/>
              </a:rPr>
              <a:t>DNCNN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en-US" sz="2000" dirty="0">
                <a:latin typeface="+mn-ea"/>
              </a:rPr>
              <a:t>深度归一化卷积</a:t>
            </a:r>
            <a:r>
              <a:rPr lang="zh-CN" altLang="en-US" sz="2000" dirty="0" smtClean="0">
                <a:latin typeface="+mn-ea"/>
              </a:rPr>
              <a:t>神经网络）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5" y="2906463"/>
            <a:ext cx="12107301" cy="30831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666303" y="2467727"/>
            <a:ext cx="19960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+mn-ea"/>
              </a:rPr>
              <a:t>检测</a:t>
            </a:r>
            <a:r>
              <a:rPr lang="zh-CN" altLang="en-US" sz="2000" dirty="0" smtClean="0">
                <a:latin typeface="+mn-ea"/>
              </a:rPr>
              <a:t>精度：</a:t>
            </a:r>
            <a:r>
              <a:rPr lang="en-US" altLang="zh-CN" sz="2000" dirty="0" smtClean="0">
                <a:latin typeface="+mn-ea"/>
              </a:rPr>
              <a:t>97%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0714" y="5989643"/>
            <a:ext cx="105934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Arial" panose="020B0604020202020204" pitchFamily="34" charset="0"/>
              </a:rPr>
              <a:t>[1] </a:t>
            </a:r>
            <a:r>
              <a:rPr lang="en-US" altLang="zh-CN" dirty="0">
                <a:latin typeface="Arial" panose="020B0604020202020204" pitchFamily="34" charset="0"/>
              </a:rPr>
              <a:t>Yin, B. Wan, F. Yuan, X. Xia, and J. Shi, “A deep normalization </a:t>
            </a:r>
            <a:r>
              <a:rPr lang="en-US" altLang="zh-CN" dirty="0" err="1">
                <a:latin typeface="Arial" panose="020B0604020202020204" pitchFamily="34" charset="0"/>
              </a:rPr>
              <a:t>andconvolutional</a:t>
            </a:r>
            <a:r>
              <a:rPr lang="en-US" altLang="zh-CN" dirty="0">
                <a:latin typeface="Arial" panose="020B0604020202020204" pitchFamily="34" charset="0"/>
              </a:rPr>
              <a:t> neural network for image smoke </a:t>
            </a:r>
            <a:r>
              <a:rPr lang="en-US" altLang="zh-CN" dirty="0" err="1">
                <a:latin typeface="Arial" panose="020B0604020202020204" pitchFamily="34" charset="0"/>
              </a:rPr>
              <a:t>detection,”IEEE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Access,vol</a:t>
            </a:r>
            <a:r>
              <a:rPr lang="en-US" altLang="zh-CN" dirty="0">
                <a:latin typeface="Arial" panose="020B0604020202020204" pitchFamily="34" charset="0"/>
              </a:rPr>
              <a:t>. 5, pp. 18429-18438, Aug. 2017.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4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主要工作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5395" y="1372870"/>
            <a:ext cx="96031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双</a:t>
            </a:r>
            <a:r>
              <a:rPr lang="zh-CN" altLang="en-US" sz="2800" dirty="0" smtClean="0"/>
              <a:t>通道</a:t>
            </a:r>
            <a:endParaRPr lang="en-US" altLang="zh-CN" sz="28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子网一</a:t>
            </a:r>
            <a:r>
              <a:rPr lang="zh-CN" altLang="en-US" sz="2800" dirty="0"/>
              <a:t>擅长提取烟雾的详细信息（例如纹理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子网二</a:t>
            </a:r>
            <a:r>
              <a:rPr lang="zh-CN" altLang="en-US" sz="2800" dirty="0"/>
              <a:t>可以捕获烟雾的基本</a:t>
            </a:r>
            <a:r>
              <a:rPr lang="zh-CN" altLang="en-US" sz="2800" dirty="0" smtClean="0"/>
              <a:t>信息（例如轮廓）</a:t>
            </a:r>
            <a:endParaRPr lang="en-US" altLang="zh-CN" sz="2800" dirty="0" smtClean="0"/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800" dirty="0" smtClean="0"/>
              <a:t>子网一顺序连接</a:t>
            </a:r>
            <a:r>
              <a:rPr lang="zh-CN" altLang="en-US" sz="2800" dirty="0"/>
              <a:t>多个卷积层和最大池化</a:t>
            </a:r>
            <a:r>
              <a:rPr lang="zh-CN" altLang="en-US" sz="2800" dirty="0" smtClean="0"/>
              <a:t>层</a:t>
            </a:r>
            <a:endParaRPr lang="en-US" altLang="zh-CN" sz="2800" dirty="0" smtClean="0"/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子网</a:t>
            </a:r>
            <a:r>
              <a:rPr lang="zh-CN" altLang="en-US" sz="2800" dirty="0" smtClean="0"/>
              <a:t>二使用跳跃连接和全局平均池化</a:t>
            </a:r>
            <a:endParaRPr lang="en-US" altLang="zh-CN" sz="2800" dirty="0" smtClean="0"/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通过旋转训练图像获得的增强数据</a:t>
            </a:r>
            <a:endParaRPr lang="en-US" altLang="zh-CN" sz="2800" dirty="0" smtClean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altLang="zh-CN" sz="2800" dirty="0"/>
          </a:p>
          <a:p>
            <a:pPr marL="514350" lvl="0" indent="-514350">
              <a:buFont typeface="Arial" panose="020B0604020202020204" pitchFamily="34" charset="0"/>
              <a:buNone/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56298" y="275515"/>
            <a:ext cx="8202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通道一（</a:t>
            </a:r>
            <a:r>
              <a:rPr lang="en-US" altLang="zh-CN" sz="2800" dirty="0" smtClean="0">
                <a:solidFill>
                  <a:srgbClr val="4B11BF"/>
                </a:solidFill>
              </a:rPr>
              <a:t>SBNN——</a:t>
            </a:r>
            <a:r>
              <a:rPr lang="zh-CN" altLang="en-US" sz="2800" dirty="0">
                <a:solidFill>
                  <a:srgbClr val="4B11BF"/>
                </a:solidFill>
              </a:rPr>
              <a:t>基于选择的批处理规范化网络）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b="50967"/>
          <a:stretch/>
        </p:blipFill>
        <p:spPr>
          <a:xfrm>
            <a:off x="645318" y="986554"/>
            <a:ext cx="10838498" cy="283334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9081" y="4007715"/>
            <a:ext cx="37642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SBNN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的基本体系结构，包括六个卷积层，三个最大池化层，四个归一化层和三层连接层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卷积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MaxP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最大池化“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归一化和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卷积 “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完全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连接操作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t="2939"/>
          <a:stretch/>
        </p:blipFill>
        <p:spPr>
          <a:xfrm>
            <a:off x="4023359" y="3728720"/>
            <a:ext cx="4219575" cy="3041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/>
          <a:srcRect t="1495"/>
          <a:stretch/>
        </p:blipFill>
        <p:spPr>
          <a:xfrm>
            <a:off x="8105775" y="3738880"/>
            <a:ext cx="4086225" cy="3158165"/>
          </a:xfrm>
          <a:prstGeom prst="rect">
            <a:avLst/>
          </a:prstGeom>
        </p:spPr>
      </p:pic>
      <p:sp>
        <p:nvSpPr>
          <p:cNvPr id="2" name="动作按钮: 上一张 1">
            <a:hlinkClick r:id="rId6" action="ppaction://hlinksldjump" highlightClick="1"/>
          </p:cNvPr>
          <p:cNvSpPr/>
          <p:nvPr/>
        </p:nvSpPr>
        <p:spPr>
          <a:xfrm>
            <a:off x="1005840" y="6316039"/>
            <a:ext cx="450458" cy="454315"/>
          </a:xfrm>
          <a:prstGeom prst="actionButtonReturn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" y="1807646"/>
            <a:ext cx="11232833" cy="270434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539010" y="463625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池化区域大小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425864" y="463625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填充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04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56298" y="275515"/>
            <a:ext cx="735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通道二（</a:t>
            </a:r>
            <a:r>
              <a:rPr lang="en-US" altLang="zh-CN" sz="2800" dirty="0" smtClean="0">
                <a:solidFill>
                  <a:srgbClr val="4B11BF"/>
                </a:solidFill>
              </a:rPr>
              <a:t>SCNN——</a:t>
            </a:r>
            <a:r>
              <a:rPr lang="zh-CN" altLang="en-US" sz="2800" dirty="0" smtClean="0">
                <a:solidFill>
                  <a:srgbClr val="4B11BF"/>
                </a:solidFill>
              </a:rPr>
              <a:t>基于跳跃连接</a:t>
            </a:r>
            <a:r>
              <a:rPr lang="zh-CN" altLang="en-US" sz="2800" dirty="0">
                <a:solidFill>
                  <a:srgbClr val="4B11BF"/>
                </a:solidFill>
              </a:rPr>
              <a:t>的神经网络）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48835"/>
          <a:stretch/>
        </p:blipFill>
        <p:spPr>
          <a:xfrm>
            <a:off x="820103" y="1019028"/>
            <a:ext cx="10838498" cy="295656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60510" y="4195881"/>
            <a:ext cx="36371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SCNN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的基本体系结构，包括十一个卷积层，三个最大池化层，七个归一化层和一个全局平均池化层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dirty="0" err="1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卷积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MaxP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最大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池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化“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 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归一化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卷积 “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全局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平均池化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操作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t="3482"/>
          <a:stretch/>
        </p:blipFill>
        <p:spPr>
          <a:xfrm>
            <a:off x="3983832" y="3820160"/>
            <a:ext cx="4219575" cy="288034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t="1052" b="-1"/>
          <a:stretch/>
        </p:blipFill>
        <p:spPr>
          <a:xfrm>
            <a:off x="8105775" y="3799840"/>
            <a:ext cx="4086225" cy="302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4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" y="1497965"/>
            <a:ext cx="12018963" cy="317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6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" y="1074269"/>
            <a:ext cx="11184255" cy="5568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6298" y="275515"/>
            <a:ext cx="735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DCNN</a:t>
            </a:r>
            <a:r>
              <a:rPr lang="zh-CN" altLang="en-US" sz="2800" dirty="0" smtClean="0">
                <a:solidFill>
                  <a:srgbClr val="4B11BF"/>
                </a:solidFill>
              </a:rPr>
              <a:t>网络结构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09360" y="2948940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rId4" action="ppaction://hlinksldjump"/>
              </a:rPr>
              <a:t>没有完全连接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096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968010"/>
            <a:ext cx="12077700" cy="3143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6298" y="275515"/>
            <a:ext cx="735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实验结果对比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535"/>
            <a:ext cx="12035790" cy="17567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4300" y="4024569"/>
            <a:ext cx="1208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准确性：</a:t>
            </a:r>
            <a:r>
              <a:rPr lang="en-US" altLang="zh-CN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DCNN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Dense-Net&gt;DNCNN&gt; 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Xception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Res-Net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，速度：</a:t>
            </a: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VGG-Net&gt;Alex-Net&gt;DNCNN&gt;</a:t>
            </a:r>
            <a:r>
              <a:rPr lang="en-US" altLang="zh-CN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DCNN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&gt;Dense-Net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27200" y="2113332"/>
            <a:ext cx="995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</a:rPr>
              <a:t>准确率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27200" y="2353663"/>
            <a:ext cx="995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</a:rPr>
              <a:t>识别率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27200" y="2600697"/>
            <a:ext cx="995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</a:rPr>
              <a:t>误报率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45925" y="5852613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48×48×3</a:t>
            </a:r>
            <a:endParaRPr lang="zh-CN" altLang="en-US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6080" y="3616960"/>
            <a:ext cx="1869440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224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1328</TotalTime>
  <Words>808</Words>
  <Application>Microsoft Office PowerPoint</Application>
  <PresentationFormat>宽屏</PresentationFormat>
  <Paragraphs>71</Paragraphs>
  <Slides>13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Segoe UI</vt:lpstr>
      <vt:lpstr>微软雅黑</vt:lpstr>
      <vt:lpstr>宋体</vt:lpstr>
      <vt:lpstr>Arial</vt:lpstr>
      <vt:lpstr>等线</vt:lpstr>
      <vt:lpstr>Times New Roman</vt:lpstr>
      <vt:lpstr>Rockwell</vt:lpstr>
      <vt:lpstr>Helvetica Neue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1366</cp:revision>
  <dcterms:created xsi:type="dcterms:W3CDTF">2015-08-18T02:51:00Z</dcterms:created>
  <dcterms:modified xsi:type="dcterms:W3CDTF">2020-01-15T09:50:03Z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