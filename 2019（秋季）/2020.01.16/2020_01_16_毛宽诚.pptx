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8" r:id="rId2"/>
  </p:sldMasterIdLst>
  <p:notesMasterIdLst>
    <p:notesMasterId r:id="rId15"/>
  </p:notesMasterIdLst>
  <p:sldIdLst>
    <p:sldId id="256" r:id="rId3"/>
    <p:sldId id="336" r:id="rId4"/>
    <p:sldId id="340" r:id="rId5"/>
    <p:sldId id="339" r:id="rId6"/>
    <p:sldId id="338" r:id="rId7"/>
    <p:sldId id="337" r:id="rId8"/>
    <p:sldId id="341" r:id="rId9"/>
    <p:sldId id="344" r:id="rId10"/>
    <p:sldId id="272" r:id="rId11"/>
    <p:sldId id="322" r:id="rId12"/>
    <p:sldId id="343" r:id="rId13"/>
    <p:sldId id="34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1CC5F-6ECF-4CDD-B11B-5617F99534B4}">
          <p14:sldIdLst>
            <p14:sldId id="256"/>
            <p14:sldId id="336"/>
            <p14:sldId id="340"/>
            <p14:sldId id="339"/>
            <p14:sldId id="338"/>
            <p14:sldId id="337"/>
            <p14:sldId id="341"/>
            <p14:sldId id="344"/>
            <p14:sldId id="272"/>
            <p14:sldId id="322"/>
            <p14:sldId id="343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o Kuancheng" initials="MK" lastIdx="1" clrIdx="0">
    <p:extLst>
      <p:ext uri="{19B8F6BF-5375-455C-9EA6-DF929625EA0E}">
        <p15:presenceInfo xmlns:p15="http://schemas.microsoft.com/office/powerpoint/2012/main" userId="606f4ec063d87e8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27" autoAdjust="0"/>
    <p:restoredTop sz="94648"/>
  </p:normalViewPr>
  <p:slideViewPr>
    <p:cSldViewPr snapToGrid="0" snapToObjects="1">
      <p:cViewPr varScale="1">
        <p:scale>
          <a:sx n="99" d="100"/>
          <a:sy n="99" d="100"/>
        </p:scale>
        <p:origin x="8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422DA-9CC6-F24F-964E-83D03FBE0603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30524-D625-F045-93A7-563D3D834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84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969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22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900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5032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37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473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9093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0610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194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161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90708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0921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06941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95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235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1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  <a:latin typeface="Calibri Light" panose="020F030202020403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Calibri Light" panose="020F030202020403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868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1496" y="1970786"/>
            <a:ext cx="5031414" cy="1182687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总结汇报</a:t>
            </a:r>
            <a:endParaRPr lang="en-US" dirty="0">
              <a:solidFill>
                <a:schemeClr val="tx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毛宽诚</a:t>
            </a:r>
            <a:endParaRPr lang="en-US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</a:t>
            </a:r>
            <a:r>
              <a:rPr lang="en-US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en-US" altLang="zh-CN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01/16</a:t>
            </a:r>
            <a:endParaRPr lang="en-US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63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9304"/>
          </a:xfrm>
        </p:spPr>
        <p:txBody>
          <a:bodyPr/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2019-2020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学期总结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0514" y="2366031"/>
            <a:ext cx="4558843" cy="1471873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找工作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大论文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106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9304"/>
          </a:xfrm>
        </p:spPr>
        <p:txBody>
          <a:bodyPr/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2019-2020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学期总结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550" y="2277875"/>
            <a:ext cx="6464362" cy="177743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找工作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复习面试知识、刷题、笔试、面试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月初到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月底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646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9304"/>
          </a:xfrm>
        </p:spPr>
        <p:txBody>
          <a:bodyPr/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2019-2020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学期总结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33" y="1461600"/>
            <a:ext cx="6572471" cy="4735999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课题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论文阅读</a:t>
            </a:r>
            <a:endParaRPr lang="en-US" altLang="zh-CN" sz="1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写了一个双光谱行人检测的论文综述，总结了</a:t>
            </a:r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篇文章，其中</a:t>
            </a:r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篇新阅读的。</a:t>
            </a:r>
            <a:endParaRPr lang="en-US" altLang="zh-CN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阅读其他相关文献，包括</a:t>
            </a:r>
            <a:r>
              <a:rPr lang="en-US" altLang="zh-CN" sz="1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fpn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1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efficientdet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</a:t>
            </a:r>
            <a:endParaRPr lang="en-US" altLang="zh-CN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</a:t>
            </a:r>
            <a:endParaRPr lang="en-US" altLang="zh-CN" sz="1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deep mutual learning</a:t>
            </a:r>
          </a:p>
          <a:p>
            <a:pPr lvl="2"/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Cross-modality interactive attention</a:t>
            </a:r>
          </a:p>
          <a:p>
            <a:pPr lvl="2"/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多尺度多模态</a:t>
            </a:r>
            <a:r>
              <a:rPr lang="en-US" altLang="zh-CN" sz="1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</a:t>
            </a:r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align</a:t>
            </a:r>
          </a:p>
          <a:p>
            <a:pPr lvl="1"/>
            <a:r>
              <a:rPr lang="zh-CN" altLang="en-US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软著</a:t>
            </a:r>
            <a:endParaRPr lang="en-US" altLang="zh-CN" sz="1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可见光红外双波段行人检测系统</a:t>
            </a:r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V1.0</a:t>
            </a: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158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37" y="182570"/>
            <a:ext cx="4378092" cy="569373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2019-2020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学期总结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814" y="909379"/>
            <a:ext cx="9785737" cy="527892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双光谱行人检测论文综述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相关论文阅读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EB7812-ADBA-481B-B7EB-82DC03504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6" y="1360154"/>
            <a:ext cx="8017742" cy="26322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D4CFE0-A831-4362-990D-869A65C58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6" y="4643562"/>
            <a:ext cx="8017742" cy="67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93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272" y="117646"/>
            <a:ext cx="8596668" cy="829304"/>
          </a:xfrm>
        </p:spPr>
        <p:txBody>
          <a:bodyPr/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2019-2020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学期总结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72" y="726914"/>
            <a:ext cx="8525835" cy="6013440"/>
          </a:xfrm>
        </p:spPr>
        <p:txBody>
          <a:bodyPr>
            <a:normAutofit/>
          </a:bodyPr>
          <a:lstStyle/>
          <a:p>
            <a:pPr lvl="1"/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en-US" altLang="zh-CN" sz="18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Deep mutual learning</a:t>
            </a:r>
          </a:p>
          <a:p>
            <a:pPr lvl="3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发现有问题，无法应用到检测问题。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交互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attention</a:t>
            </a:r>
          </a:p>
          <a:p>
            <a:pPr lvl="3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Loss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降不下去，效果不好，放弃。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多尺度多模态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align</a:t>
            </a:r>
          </a:p>
          <a:p>
            <a:pPr lvl="3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Log average 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missrate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33.28%(18.77%)</a:t>
            </a: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3D4628-AF4D-4D84-9036-A47F09E22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022" y="2685275"/>
            <a:ext cx="4097727" cy="184785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2464E27-D130-4464-A9C2-E4EFA3CC1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13DF6D-F1F8-4C26-9BF2-1134FD39FC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360" r="15382"/>
          <a:stretch/>
        </p:blipFill>
        <p:spPr>
          <a:xfrm>
            <a:off x="5508301" y="616758"/>
            <a:ext cx="1990123" cy="20073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FA9C5D1-1449-4DFB-A849-5049A7DC7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778" y="4533125"/>
            <a:ext cx="4473322" cy="20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69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9304"/>
          </a:xfrm>
        </p:spPr>
        <p:txBody>
          <a:bodyPr/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2019-2020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学期总结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34" y="1871730"/>
            <a:ext cx="6464362" cy="1230084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大论文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列好框架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1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写了一些乱七八糟</a:t>
            </a:r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861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9304"/>
          </a:xfrm>
        </p:spPr>
        <p:txBody>
          <a:bodyPr/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实验汇报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34" y="1871730"/>
            <a:ext cx="6464362" cy="1230084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单模态多尺度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align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、多模态多尺度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align</a:t>
            </a:r>
          </a:p>
          <a:p>
            <a:pPr marL="457200" lvl="1" indent="0">
              <a:buNone/>
            </a:pPr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/>
            <a:endParaRPr lang="en-US" altLang="zh-CN" sz="11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1665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FAA8486-D2BC-411C-AD29-8A06D4634D9D}"/>
              </a:ext>
            </a:extLst>
          </p:cNvPr>
          <p:cNvSpPr txBox="1"/>
          <p:nvPr/>
        </p:nvSpPr>
        <p:spPr>
          <a:xfrm>
            <a:off x="669730" y="1967325"/>
            <a:ext cx="82742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训练集：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train-all-02(set01-set05)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测试集：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test-all-20(set06-set11)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		2252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张图片。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标签：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person/people/people?/cyclist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	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训练：全部训练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	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测试：忽略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 people/people?/cyclist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       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 忽略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occlusion/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小尺寸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		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仅统计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person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72F9B4-7BBE-481B-8122-7B6340B4C7D3}"/>
              </a:ext>
            </a:extLst>
          </p:cNvPr>
          <p:cNvSpPr/>
          <p:nvPr/>
        </p:nvSpPr>
        <p:spPr>
          <a:xfrm>
            <a:off x="418607" y="507271"/>
            <a:ext cx="1165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rebuchet MS" panose="020B0603020202020204"/>
                <a:ea typeface="华文新魏" panose="02010800040101010101" pitchFamily="2" charset="-122"/>
                <a:cs typeface="+mn-cs"/>
              </a:rPr>
              <a:t>测试集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427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A2D9A-13A1-4096-BE06-E07535C0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16" y="217715"/>
            <a:ext cx="1926617" cy="55544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cs typeface="Calibri Light" panose="020F0302020204030204" pitchFamily="34" charset="0"/>
              </a:rPr>
              <a:t>实验结果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28F843-1334-43FC-88B5-B683BFF141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39"/>
          <a:stretch/>
        </p:blipFill>
        <p:spPr>
          <a:xfrm rot="16200000">
            <a:off x="1735591" y="-336936"/>
            <a:ext cx="2441088" cy="46612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758DCB-A65A-454F-A743-EBE14EC8C9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21" b="5237"/>
          <a:stretch/>
        </p:blipFill>
        <p:spPr>
          <a:xfrm rot="16200000">
            <a:off x="1626615" y="2427876"/>
            <a:ext cx="2659041" cy="466128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55215DE-C4FF-469F-9BAE-1DB6BB0158A2}"/>
              </a:ext>
            </a:extLst>
          </p:cNvPr>
          <p:cNvSpPr/>
          <p:nvPr/>
        </p:nvSpPr>
        <p:spPr>
          <a:xfrm>
            <a:off x="5286781" y="773163"/>
            <a:ext cx="72550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Calibri Light" panose="020F0302020204030204" pitchFamily="34" charset="0"/>
              </a:rPr>
              <a:t>多尺度双模态</a:t>
            </a:r>
            <a:r>
              <a:rPr lang="en-US" altLang="zh-CN" sz="1200" dirty="0" err="1">
                <a:latin typeface="微软雅黑 Light" panose="020B0502040204020203" pitchFamily="34" charset="-122"/>
                <a:ea typeface="微软雅黑 Light" panose="020B0502040204020203" pitchFamily="34" charset="-122"/>
                <a:cs typeface="Calibri Light" panose="020F0302020204030204" pitchFamily="34" charset="0"/>
              </a:rPr>
              <a:t>roi</a:t>
            </a:r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Calibri Light" panose="020F0302020204030204" pitchFamily="34" charset="0"/>
              </a:rPr>
              <a:t> align</a:t>
            </a:r>
            <a:r>
              <a:rPr lang="en-US" altLang="zh-CN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endParaRPr lang="en-US" altLang="zh-CN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Reasonable-all                          log-average miss rate = 38.15% (22.84%) recall = 83.76% (88.25%)</a:t>
            </a:r>
            <a:endParaRPr lang="en-US" altLang="zh-CN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Reasonable-day               </a:t>
            </a:r>
            <a:r>
              <a:rPr lang="en-US" altLang="zh-CN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   </a:t>
            </a:r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log-average miss rate = </a:t>
            </a:r>
            <a:r>
              <a:rPr lang="zh-CN" altLang="en-US" sz="1200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40.65% (24.12%)</a:t>
            </a:r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 recall = 83.23% (87.97%)</a:t>
            </a:r>
            <a:endParaRPr lang="en-US" altLang="zh-CN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Reasonable-night                     log-average miss rate = 33.04% (19.97%) recall = 85.07% (88.84%)</a:t>
            </a:r>
            <a:endParaRPr lang="en-US" altLang="zh-CN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Scale=near                                log-average miss rate = 17.94% (2.46%) recall = 94.96% (99.50%)</a:t>
            </a:r>
            <a:endParaRPr lang="en-US" altLang="zh-CN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Scale=medium                         log-average miss rate = 40.81% (29.21%) recall = 83.29% (85.50%)</a:t>
            </a:r>
            <a:endParaRPr lang="en-US" altLang="zh-CN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Scale=far                      	     log-average miss rate = </a:t>
            </a:r>
            <a:r>
              <a:rPr lang="zh-CN" altLang="en-US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7</a:t>
            </a:r>
            <a:r>
              <a:rPr lang="en-US" altLang="zh-CN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zh-CN" altLang="en-US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.75% (6</a:t>
            </a:r>
            <a:r>
              <a:rPr lang="en-US" altLang="zh-CN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4</a:t>
            </a:r>
            <a:r>
              <a:rPr lang="zh-CN" altLang="en-US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.75%) recall = </a:t>
            </a:r>
            <a:r>
              <a:rPr lang="en-US" altLang="zh-CN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66</a:t>
            </a:r>
            <a:r>
              <a:rPr lang="zh-CN" altLang="en-US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.38% (5</a:t>
            </a:r>
            <a:r>
              <a:rPr lang="en-US" altLang="zh-CN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7</a:t>
            </a:r>
            <a:r>
              <a:rPr lang="zh-CN" altLang="en-US" sz="1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.15%)</a:t>
            </a:r>
            <a:endParaRPr lang="en-US" altLang="zh-CN" sz="1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Occ=none                                 log-average miss rate = 42.63% (39.73%) recall = 81.48% (77.30%)</a:t>
            </a:r>
            <a:endParaRPr lang="en-US" altLang="zh-CN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Occ=partial                               log-average miss rate = 64.20% (52.66%) recall = 64.55% (68.49%)</a:t>
            </a:r>
            <a:endParaRPr lang="en-US" altLang="zh-CN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zh-CN" altLang="en-US" sz="1200" dirty="0">
                <a:latin typeface="Calibri Light" panose="020F0302020204030204" pitchFamily="34" charset="0"/>
                <a:cs typeface="Calibri Light" panose="020F0302020204030204" pitchFamily="34" charset="0"/>
              </a:rPr>
              <a:t>Occ=heavy                                log-average miss rate = 79.24% (69.13%) recall = 40.74% (48.23%)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284495-7939-4E87-B15B-8035AB3A9BEE}"/>
              </a:ext>
            </a:extLst>
          </p:cNvPr>
          <p:cNvSpPr/>
          <p:nvPr/>
        </p:nvSpPr>
        <p:spPr>
          <a:xfrm>
            <a:off x="5346879" y="3950606"/>
            <a:ext cx="6096000" cy="161582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1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Reasonable-all                 	 log-average miss rate = 47.32% (44.42%) recall = 76.49% (7.08%)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1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Reasonable-day                 	 log-average miss rate = 44.03% (37.07%) recall = 80.67% (83.23%)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1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Reasonable-night               	 log-average miss rate = 62.09% (59.46%) recall = 62.44% (65.45%)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1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Scale=near                     	 log-average miss rate = 22.32% (14.09%) recall = 90.76% (97.33%)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1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Scale=medium                   	 log-average miss rate = 53.41% (53.39%) recall = 72.78% (69.85%)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1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Scale=far                      	 log-average miss rate = 84.59% (83.32%) recall = 39.32% (35.66%)</a:t>
            </a:r>
            <a:endParaRPr lang="zh-CN" altLang="zh-CN" sz="1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1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Occ=none                       	 log-average miss rate = 54.50% (61.03%) recall = 70.62% (61.14%)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1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Occ=partial                    	 log-average miss rate = 79.66% (80.92%) recall = 52.12% (42.01%)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1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Occ=heavy                      	 log-average miss rate = 88.14% (83.60%) recall = 31.02% (34.07%)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783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A73D-6102-4114-81C5-F9EB82F3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272" y="117646"/>
            <a:ext cx="8596668" cy="829304"/>
          </a:xfrm>
        </p:spPr>
        <p:txBody>
          <a:bodyPr/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2019-2020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学期总结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4405A-71A7-4D87-9538-5790E468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05" y="844560"/>
            <a:ext cx="8525835" cy="6013440"/>
          </a:xfrm>
        </p:spPr>
        <p:txBody>
          <a:bodyPr>
            <a:normAutofit/>
          </a:bodyPr>
          <a:lstStyle/>
          <a:p>
            <a:pPr lvl="2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多尺度多模态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roi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align</a:t>
            </a:r>
          </a:p>
          <a:p>
            <a:pPr lvl="3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Log average 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missrate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33.28%%(18.77%)</a:t>
            </a: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3"/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464E27-D130-4464-A9C2-E4EFA3CC1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A64753-277B-4E75-BF8A-628DBAC815FB}"/>
              </a:ext>
            </a:extLst>
          </p:cNvPr>
          <p:cNvSpPr/>
          <p:nvPr/>
        </p:nvSpPr>
        <p:spPr>
          <a:xfrm>
            <a:off x="870551" y="4859663"/>
            <a:ext cx="6467857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Reasonable-all                 	 log-average miss rate = </a:t>
            </a:r>
            <a:r>
              <a:rPr lang="zh-CN" altLang="en-US" sz="1100" b="1" dirty="0">
                <a:latin typeface="等线 Light" panose="02010600030101010101" pitchFamily="2" charset="-122"/>
                <a:ea typeface="等线 Light" panose="02010600030101010101" pitchFamily="2" charset="-122"/>
              </a:rPr>
              <a:t>33.28% (18.77%) </a:t>
            </a:r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recall = 88.17% (91.85%)</a:t>
            </a:r>
            <a:endParaRPr lang="en-US" altLang="zh-CN" sz="11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Reasonable-day                 	 log-average miss rate = 34.62% (17.15%) recall = 88.07% (92.90%)</a:t>
            </a:r>
            <a:endParaRPr lang="en-US" altLang="zh-CN" sz="11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Reasonable-night               	 log-average miss rate = 32.32% (21.87%) recall = 87.31% (89.62%)</a:t>
            </a:r>
            <a:endParaRPr lang="en-US" altLang="zh-CN" sz="11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Scale=near                     	 log-average miss rate = 12.21% (0.00%) recall = 97.06% (100.00%)</a:t>
            </a:r>
            <a:endParaRPr lang="en-US" altLang="zh-CN" sz="11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Scale=medium                   	 log-average miss rate = 37.77% (25.54%) recall = 85.87% (88.41%)</a:t>
            </a:r>
            <a:endParaRPr lang="en-US" altLang="zh-CN" sz="11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Scale=far                      	          log-average miss rate = 62.54% (53.58%) recall = 71.22% (68.39%)</a:t>
            </a:r>
            <a:endParaRPr lang="en-US" altLang="zh-CN" sz="11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Occ=none                       	 log-average miss rate = 39.53% (37.12%) recall = 84.38% (79.71%)</a:t>
            </a:r>
            <a:endParaRPr lang="en-US" altLang="zh-CN" sz="11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Occ=partial                    	 log-average miss rate = 59.36% (50.63%) recall = 73.94% (71.00%)</a:t>
            </a:r>
            <a:endParaRPr lang="en-US" altLang="zh-CN" sz="11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Occ=heavy                      	 log-average miss rate = 76.97% (69.11%) recall = 42.59% (53.98%)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9B74FCF-F7CA-429B-8896-AF27B2135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465" y="4625102"/>
            <a:ext cx="2511241" cy="18503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16E264-2E73-4E29-ADF0-5239CEB2C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18" y="1451759"/>
            <a:ext cx="6885322" cy="317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40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B742C72-AE22-42BE-99BB-F602AC469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386056"/>
              </p:ext>
            </p:extLst>
          </p:nvPr>
        </p:nvGraphicFramePr>
        <p:xfrm>
          <a:off x="450473" y="2107369"/>
          <a:ext cx="9545031" cy="2295298"/>
        </p:xfrm>
        <a:graphic>
          <a:graphicData uri="http://schemas.openxmlformats.org/drawingml/2006/table">
            <a:tbl>
              <a:tblPr firstRow="1" firstCol="1" bandRow="1"/>
              <a:tblGrid>
                <a:gridCol w="936619">
                  <a:extLst>
                    <a:ext uri="{9D8B030D-6E8A-4147-A177-3AD203B41FA5}">
                      <a16:colId xmlns:a16="http://schemas.microsoft.com/office/drawing/2014/main" val="4252332996"/>
                    </a:ext>
                  </a:extLst>
                </a:gridCol>
                <a:gridCol w="1397110">
                  <a:extLst>
                    <a:ext uri="{9D8B030D-6E8A-4147-A177-3AD203B41FA5}">
                      <a16:colId xmlns:a16="http://schemas.microsoft.com/office/drawing/2014/main" val="4139909385"/>
                    </a:ext>
                  </a:extLst>
                </a:gridCol>
                <a:gridCol w="1341736">
                  <a:extLst>
                    <a:ext uri="{9D8B030D-6E8A-4147-A177-3AD203B41FA5}">
                      <a16:colId xmlns:a16="http://schemas.microsoft.com/office/drawing/2014/main" val="982013584"/>
                    </a:ext>
                  </a:extLst>
                </a:gridCol>
                <a:gridCol w="1435445">
                  <a:extLst>
                    <a:ext uri="{9D8B030D-6E8A-4147-A177-3AD203B41FA5}">
                      <a16:colId xmlns:a16="http://schemas.microsoft.com/office/drawing/2014/main" val="3410651824"/>
                    </a:ext>
                  </a:extLst>
                </a:gridCol>
                <a:gridCol w="1512117">
                  <a:extLst>
                    <a:ext uri="{9D8B030D-6E8A-4147-A177-3AD203B41FA5}">
                      <a16:colId xmlns:a16="http://schemas.microsoft.com/office/drawing/2014/main" val="3482383444"/>
                    </a:ext>
                  </a:extLst>
                </a:gridCol>
                <a:gridCol w="1461002">
                  <a:extLst>
                    <a:ext uri="{9D8B030D-6E8A-4147-A177-3AD203B41FA5}">
                      <a16:colId xmlns:a16="http://schemas.microsoft.com/office/drawing/2014/main" val="1539283773"/>
                    </a:ext>
                  </a:extLst>
                </a:gridCol>
                <a:gridCol w="1461002">
                  <a:extLst>
                    <a:ext uri="{9D8B030D-6E8A-4147-A177-3AD203B41FA5}">
                      <a16:colId xmlns:a16="http://schemas.microsoft.com/office/drawing/2014/main" val="1379537558"/>
                    </a:ext>
                  </a:extLst>
                </a:gridCol>
              </a:tblGrid>
              <a:tr h="807700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方法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      Half fusion</a:t>
                      </a:r>
                      <a:endParaRPr lang="zh-CN" sz="1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US" altLang="zh-CN" sz="1400" b="1" kern="100" dirty="0" err="1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rpn</a:t>
                      </a:r>
                      <a:r>
                        <a:rPr lang="en-US" altLang="zh-CN" sz="14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fusion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 err="1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nms</a:t>
                      </a:r>
                      <a:r>
                        <a:rPr lang="en-US" altLang="zh-CN" sz="14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fusion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多尺度</a:t>
                      </a:r>
                      <a:r>
                        <a:rPr lang="en-US" altLang="zh-CN" sz="14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rpn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098553"/>
                  </a:ext>
                </a:extLst>
              </a:tr>
              <a:tr h="67989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just" defTabSz="4572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Roi pooling</a:t>
                      </a:r>
                      <a:endParaRPr lang="zh-CN" alt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just" defTabSz="4572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Roi align</a:t>
                      </a:r>
                      <a:endParaRPr lang="zh-CN" alt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Roi pooling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Roi align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just" defTabSz="4572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Roi align</a:t>
                      </a:r>
                      <a:endParaRPr lang="zh-CN" alt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just" defTabSz="4572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Roi align</a:t>
                      </a:r>
                      <a:endParaRPr lang="zh-CN" alt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016200"/>
                  </a:ext>
                </a:extLst>
              </a:tr>
              <a:tr h="807700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All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40.44%(28.11%)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36.78%(22.91%)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40.26%(27.90%)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34.17%(19.17%)</a:t>
                      </a:r>
                      <a:endParaRPr lang="zh-CN" sz="14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7000" algn="just" defTabSz="457200" rtl="0" eaLnBrk="1" latinLnBrk="0" hangingPunct="1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39.03% 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(26.46%)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7000" algn="just" defTabSz="457200" rtl="0" eaLnBrk="1" latinLnBrk="0" hangingPunct="1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33.28% (18.77%) </a:t>
                      </a:r>
                      <a:endParaRPr lang="zh-CN" altLang="en-US" sz="14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751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2703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24209</TotalTime>
  <Words>1040</Words>
  <Application>Microsoft Office PowerPoint</Application>
  <PresentationFormat>宽屏</PresentationFormat>
  <Paragraphs>125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等线</vt:lpstr>
      <vt:lpstr>等线 Light</vt:lpstr>
      <vt:lpstr>微软雅黑 Light</vt:lpstr>
      <vt:lpstr>Arial</vt:lpstr>
      <vt:lpstr>Calibri</vt:lpstr>
      <vt:lpstr>Calibri Light</vt:lpstr>
      <vt:lpstr>Trebuchet MS</vt:lpstr>
      <vt:lpstr>Wingdings 3</vt:lpstr>
      <vt:lpstr>Facet</vt:lpstr>
      <vt:lpstr>1_Facet</vt:lpstr>
      <vt:lpstr>总结汇报</vt:lpstr>
      <vt:lpstr>2019-2020学期总结</vt:lpstr>
      <vt:lpstr>2019-2020学期总结</vt:lpstr>
      <vt:lpstr>2019-2020学期总结</vt:lpstr>
      <vt:lpstr>2019-2020学期总结</vt:lpstr>
      <vt:lpstr>2019-2020学期总结</vt:lpstr>
      <vt:lpstr>2019-2020学期总结</vt:lpstr>
      <vt:lpstr>实验汇报</vt:lpstr>
      <vt:lpstr>PowerPoint 演示文稿</vt:lpstr>
      <vt:lpstr>实验结果</vt:lpstr>
      <vt:lpstr>2019-2020学期总结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of an Inference Run with TensorRT</dc:title>
  <dc:creator>Brant Zhao</dc:creator>
  <cp:lastModifiedBy>Mao Kuancheng</cp:lastModifiedBy>
  <cp:revision>737</cp:revision>
  <dcterms:created xsi:type="dcterms:W3CDTF">2017-12-23T03:55:49Z</dcterms:created>
  <dcterms:modified xsi:type="dcterms:W3CDTF">2020-01-16T01:08:51Z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kmao@nvidia.com</vt:lpwstr>
  </property>
  <property fmtid="{D5CDD505-2E9C-101B-9397-08002B2CF9AE}" pid="5" name="MSIP_Label_6b558183-044c-4105-8d9c-cea02a2a3d86_SetDate">
    <vt:lpwstr>2018-10-15T14:09:33.6637402Z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Extended_MSFT_Method">
    <vt:lpwstr>Automatic</vt:lpwstr>
  </property>
  <property fmtid="{D5CDD505-2E9C-101B-9397-08002B2CF9AE}" pid="9" name="Sensitivity">
    <vt:lpwstr>Unrestricted</vt:lpwstr>
  </property>
</Properties>
</file>